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db0768a-0332-8264-867b-e1e15dc1f5eb}">
          <p14:sldIdLst/>
        </p14:section>
        <p14:section name="Default-1" id="{8d0c0ef9-bd29-142b-e086-29382703853c}">
          <p14:sldIdLst>
            <p14:sldId id="256"/>
          </p14:sldIdLst>
        </p14:section>
        <p14:section name="PROCESS" id="{c7182b6b-3a15-ffa0-f591-07d56c8a0a25}">
          <p14:sldIdLst/>
        </p14:section>
        <p14:section name="Default-2" id="{62859943-2575-36fb-9b3e-b75688997b50}">
          <p14:sldIdLst>
            <p14:sldId id="257"/>
            <p14:sldId id="258"/>
            <p14:sldId id="259"/>
            <p14:sldId id="260"/>
            <p14:sldId id="261"/>
            <p14:sldId id="262"/>
            <p14:sldId id="263"/>
            <p14:sldId id="264"/>
            <p14:sldId id="265"/>
            <p14:sldId id="266"/>
          </p14:sldIdLst>
        </p14:section>
        <p14:section name="Closing" id="{1ff79be8-7bcb-0b04-a244-77e5fef04f12}">
          <p14:sldIdLst/>
        </p14:section>
        <p14:section name="Default-3" id="{321f30f0-9725-1852-d904-abe059d83f33}">
          <p14:sldIdLst>
            <p14:sldId id="267"/>
          </p14:sldIdLst>
        </p14:section>
        <p14:section name="Appendix" id="{1135038d-ecbc-4726-d215-21f4ba2aefea}">
          <p14:sldIdLst/>
        </p14:section>
        <p14:section name="Default-4" id="{a6704684-1551-fa46-2196-75576f6a15a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LOBSTER STRATEGY</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MARKET ANALYSIS: THREE CLAWS TO CAPTURE OPPORTUNITY</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PROPRIETARY INDICATORS THAT IDENTIFY WHEN MARKETS ARE RETREATING TO SAFETY</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DEFENSIVE MIGRATION</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(Sector rotation into defensive assets)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VOLATILITY EXPANSION</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(VIX and realized vol relationships)</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CORRELATION CONVERGENCE</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(Asset correlations during stress)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DEFENSIVE MIGRATION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VOLATILITY EXPANSION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OUR COMPOSITES ARE DESIGNED TO IDENTIFY WHEN MARKETS RETREAT INTO THEIR SHELL</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SHELL SYSTEMS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Long-term defensive positioning that activates during market stress periods.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CLAW SYSTEMS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Opportunistic systems that capture rebounds when fear reaches extremes.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COMPOSITES</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Combined signal determines defensive vs opportunistic positioning.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REDUCING RISK BY KNOWING WHEN TO RETREAT</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SHELL</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Defensive migration exposure: Active 34% of the time</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CLAW</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Volatility spike exposure: Active 18% of the time</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CLAW</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Correlation extreme exposure: Active 12% of the time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COMPOSITE</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Combined defensive positioning reduces exposure to 28% of market cycles.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LOBSTER</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CRDTX 40%</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Core tactical fund with defensive rotation capabilities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CRVOX 25%</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Volatility-responsive fund for stress period navigation</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CRLBX 20%</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Low-beta defensive fund with treasury allocation</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CRRBX 15%</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Rebound capture fund for post-stress opportunities</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RETREAT AND ADVANCE</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Shell mode: Defensive assets and cash. Claw mode: Opportunistic equity exposure.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IF YOU WANT DEFENSIVE EXPOSURE, JUST BUY BONDS!</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1909572"/>
                <a:gridCol w="1909572"/>
                <a:gridCol w="1909572"/>
                <a:gridCol w="1909572"/>
                <a:gridCol w="1909572"/>
                <a:gridCol w="1909572"/>
              </a:tblGrid>
              <a:tr h="411480">
                <a:tc gridSpan="6">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FUND NAME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TICKER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iShares Core U.S. Aggregate Bond ETF</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AGG</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2.14%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2.89%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-17.45%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Vanguard Balanced Index Fund</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VBIAX</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12.45%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7.82%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8.94%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-32.18%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Lobster Strategy (Net 2.25%)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N/A</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14.67%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9.23%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9.78%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-18.92%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FastTrack as of 12/31/2024. Performance data is illustrative.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STRATEGY</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DEFENSIVE WITH OPPORTUNISTIC UPSIDE</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1636776"/>
                <a:gridCol w="1636776"/>
                <a:gridCol w="1636776"/>
                <a:gridCol w="1636776"/>
                <a:gridCol w="1636776"/>
                <a:gridCol w="1636776"/>
                <a:gridCol w="1636776"/>
              </a:tblGrid>
              <a:tr h="411480">
                <a:tc gridSpan="7">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RISK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10-YR</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CORRELATION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BETA</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17.88%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14.42%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14.82%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-50.95%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Potomac Lobster (Net 2.25%)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14.67%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9.23%</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9.78%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-18.92%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0.42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0.68</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Calculated since common inception (8/1/2003). Source: FastTrack. Data is illustrative.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STRATEGY</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LOBSTER?</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DEFENSIVE CORE</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Lower-risk allocation for conservative portfolios seeking equity participation.</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VOLATILITY REDUCER</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Replacing high-correlation equity exposure with tactical defensive positioning.</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RETIREMENT INCOME</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Capital preservation with opportunistic growth for income-focused clients.</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MARKET HEDGE</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Complementing aggressive growth positions with defensive counterbalance.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Beta: A measure of a security's volatility relative to the market. A beta of 1.0 indicates the security moves with the market.</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A statistical measure of how two securities move in relation to each other, ranging from -1 to +1.</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largest peak-to-trough decline in portfolio value over a specific time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VIX: The Chicago Board Options Exchange Volatility Index, measuring expected volatility in the S&amp;P 500.</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Realized Volatility: The actual volatility of an asset's returns over a specific period, calculated from historical price movements.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LOBSTER STRATEGY</dc:title>
  <dc:subject>Investment Strategy Presentation</dc:subject>
  <dc:creator>Potomac Fund Management</dc:creator>
  <cp:lastModifiedBy>Potomac Fund Management</cp:lastModifiedBy>
  <cp:revision>1</cp:revision>
  <dcterms:created xsi:type="dcterms:W3CDTF">2026-02-21T16:29:34Z</dcterms:created>
  <dcterms:modified xsi:type="dcterms:W3CDTF">2026-02-21T16:29:34Z</dcterms:modified>
</cp:coreProperties>
</file>