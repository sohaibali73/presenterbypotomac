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f9ca92c-35d2-d8b1-c510-78bbddb913eb}">
          <p14:sldIdLst/>
        </p14:section>
        <p14:section name="Default-1" id="{1f9f54c6-7fb3-2fa1-ef4c-d26bafae16d3}">
          <p14:sldIdLst>
            <p14:sldId id="256"/>
          </p14:sldIdLst>
        </p14:section>
        <p14:section name="MARKET REALITY" id="{588d47a1-55bb-d21c-1c4f-b7ea7c1cb272}">
          <p14:sldIdLst/>
        </p14:section>
        <p14:section name="Default-2" id="{580982e2-8648-c9e8-1eff-16295df40dfc}">
          <p14:sldIdLst>
            <p14:sldId id="257"/>
            <p14:sldId id="258"/>
            <p14:sldId id="259"/>
          </p14:sldIdLst>
        </p14:section>
        <p14:section name="METHODOLOGY" id="{d74b2732-d883-a6c6-579c-ae96dc4acb82}">
          <p14:sldIdLst/>
        </p14:section>
        <p14:section name="Default-3" id="{f50d07ab-b547-1e9b-2c95-a5b31928235d}">
          <p14:sldIdLst>
            <p14:sldId id="260"/>
            <p14:sldId id="261"/>
            <p14:sldId id="262"/>
            <p14:sldId id="263"/>
            <p14:sldId id="264"/>
          </p14:sldIdLst>
        </p14:section>
        <p14:section name="DATA INSIGHTS" id="{f8448849-4699-9830-0aee-7cd4ba7343e5}">
          <p14:sldIdLst/>
        </p14:section>
        <p14:section name="Default-4" id="{29b1b677-51d9-3342-1607-b07446f89638}">
          <p14:sldIdLst>
            <p14:sldId id="265"/>
            <p14:sldId id="266"/>
            <p14:sldId id="267"/>
            <p14:sldId id="268"/>
            <p14:sldId id="269"/>
            <p14:sldId id="270"/>
            <p14:sldId id="271"/>
          </p14:sldIdLst>
        </p14:section>
        <p14:section name="Closing" id="{2a8ce897-dc20-d46d-016e-e84ba22a6c43}">
          <p14:sldIdLst/>
        </p14:section>
        <p14:section name="Default-5" id="{238b14b3-b45e-c87d-e7d7-d498aaf19f20}">
          <p14:sldIdLst>
            <p14:sldId id="272"/>
          </p14:sldIdLst>
        </p14:section>
        <p14:section name="Appendix" id="{a7a4f756-77ba-355e-52ea-b7f155206204}">
          <p14:sldIdLst/>
        </p14:section>
        <p14:section name="Default-6" id="{84def567-ab99-bec2-d837-371156fe9a33}">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MASTER">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full-logo.png">    </p:cNvPr>
          <p:cNvPicPr>
            <a:picLocks noChangeAspect="1"/>
          </p:cNvPicPr>
          <p:nvPr/>
        </p:nvPicPr>
        <p:blipFill>
          <a:blip r:embed="rId1"/>
          <a:srcRect l="0" r="0" t="0" b="0"/>
          <a:stretch/>
        </p:blipFill>
        <p:spPr>
          <a:xfrm>
            <a:off x="320040" y="164592"/>
            <a:ext cx="1463040" cy="457200"/>
          </a:xfrm>
          <a:prstGeom prst="rect">
            <a:avLst/>
          </a:prstGeom>
        </p:spPr>
      </p:pic>
      <p:pic>
        <p:nvPicPr>
          <p:cNvPr id="3" name="Image 1" descr="C:\Users\SohaibAli\Documents\PresenterByPotomac\app\skills\JSPPTXPotomac\brand-assets\logos\potomac-icon-white.png">    </p:cNvPr>
          <p:cNvPicPr>
            <a:picLocks noChangeAspect="1"/>
          </p:cNvPicPr>
          <p:nvPr/>
        </p:nvPicPr>
        <p:blipFill>
          <a:blip r:embed="rId2"/>
          <a:srcRect l="0" r="0" t="0" b="0"/>
          <a:stretch/>
        </p:blipFill>
        <p:spPr>
          <a:xfrm>
            <a:off x="11274552" y="137160"/>
            <a:ext cx="640080" cy="640080"/>
          </a:xfrm>
          <a:prstGeom prst="rect">
            <a:avLst/>
          </a:prstGeom>
        </p:spPr>
      </p:pic>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37373"/>
                </a:solidFill>
                <a:latin typeface="Quicksand"/>
                <a:ea typeface="Quicksand"/>
                <a:cs typeface="Quicksand"/>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MASTER">
    <p:bg>
      <p:bgPr>
        <a:solidFill>
          <a:srgbClr val="FFFFFF"/>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37373"/>
                </a:solidFill>
                <a:latin typeface="Quicksand"/>
                <a:ea typeface="Quicksand"/>
                <a:cs typeface="Quicksand"/>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37373"/>
                </a:solidFill>
                <a:latin typeface="Quicksand"/>
                <a:ea typeface="Quicksand"/>
                <a:cs typeface="Quicksand"/>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hyperlink" Target="https://www.potomac.com" TargetMode="External"/><Relationship Id="rId1" Type="http://schemas.openxmlformats.org/officeDocument/2006/relationships/image" Target="../media/image-17-1.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EC00F"/>
          </a:solidFill>
          <a:ln/>
        </p:spPr>
      </p:sp>
      <p:pic>
        <p:nvPicPr>
          <p:cNvPr id="3" name="Image 0" descr="C:\Users\SohaibAli\Documents\PresenterByPotomac\app\skills\JSPPTXPotomac\brand-assets\logos\potomac-full-logo.png">    </p:cNvPr>
          <p:cNvPicPr>
            <a:picLocks noChangeAspect="1"/>
          </p:cNvPicPr>
          <p:nvPr/>
        </p:nvPicPr>
        <p:blipFill>
          <a:blip r:embed="rId1"/>
          <a:srcRect l="0" r="0" t="0" b="0"/>
          <a:stretch/>
        </p:blipFill>
        <p:spPr>
          <a:xfrm>
            <a:off x="365760" y="274320"/>
            <a:ext cx="1828800" cy="374904"/>
          </a:xfrm>
          <a:prstGeom prst="rect">
            <a:avLst/>
          </a:prstGeom>
        </p:spPr>
      </p:pic>
      <p:sp>
        <p:nvSpPr>
          <p:cNvPr id="4" name="Shape 1"/>
          <p:cNvSpPr/>
          <p:nvPr/>
        </p:nvSpPr>
        <p:spPr>
          <a:xfrm>
            <a:off x="4265676" y="2011680"/>
            <a:ext cx="3657600" cy="73152"/>
          </a:xfrm>
          <a:prstGeom prst="rect">
            <a:avLst/>
          </a:prstGeom>
          <a:solidFill>
            <a:srgbClr val="FEC00F"/>
          </a:solidFill>
          <a:ln/>
        </p:spPr>
      </p:sp>
      <p:sp>
        <p:nvSpPr>
          <p:cNvPr id="5" name="Text 2"/>
          <p:cNvSpPr/>
          <p:nvPr/>
        </p:nvSpPr>
        <p:spPr>
          <a:xfrm>
            <a:off x="914400" y="2377440"/>
            <a:ext cx="10360152" cy="2011680"/>
          </a:xfrm>
          <a:prstGeom prst="rect">
            <a:avLst/>
          </a:prstGeom>
          <a:noFill/>
          <a:ln/>
        </p:spPr>
        <p:txBody>
          <a:bodyPr wrap="square" rtlCol="0" anchor="ctr"/>
          <a:lstStyle/>
          <a:p>
            <a:pPr algn="ctr" indent="0" marL="0">
              <a:buNone/>
            </a:pPr>
            <a:r>
              <a:rPr lang="en-US" sz="4800" b="1" dirty="0">
                <a:solidFill>
                  <a:srgbClr val="FFFFFF"/>
                </a:solidFill>
                <a:latin typeface="Rajdhani" pitchFamily="34" charset="0"/>
                <a:ea typeface="Rajdhani" pitchFamily="34" charset="-122"/>
                <a:cs typeface="Rajdhani" pitchFamily="34" charset="-120"/>
              </a:rPr>
              <a:t>THE SCIENCE OF TACTICAL STOCK TRADING</a:t>
            </a:r>
            <a:endParaRPr lang="en-US" sz="4800" dirty="0"/>
          </a:p>
        </p:txBody>
      </p:sp>
      <p:sp>
        <p:nvSpPr>
          <p:cNvPr id="6" name="Text 3"/>
          <p:cNvSpPr/>
          <p:nvPr/>
        </p:nvSpPr>
        <p:spPr>
          <a:xfrm>
            <a:off x="365760" y="6172200"/>
            <a:ext cx="11457432" cy="457200"/>
          </a:xfrm>
          <a:prstGeom prst="rect">
            <a:avLst/>
          </a:prstGeom>
          <a:noFill/>
          <a:ln/>
        </p:spPr>
        <p:txBody>
          <a:bodyPr wrap="square" rtlCol="0" anchor="ctr"/>
          <a:lstStyle/>
          <a:p>
            <a:pPr algn="ctr" indent="0" marL="0">
              <a:buNone/>
            </a:pPr>
            <a:r>
              <a:rPr lang="en-US" sz="1400" i="1" dirty="0">
                <a:solidFill>
                  <a:srgbClr val="FEC00F"/>
                </a:solidFill>
                <a:latin typeface="Quicksand" pitchFamily="34" charset="0"/>
                <a:ea typeface="Quicksand" pitchFamily="34" charset="-122"/>
                <a:cs typeface="Quicksand" pitchFamily="34" charset="-120"/>
              </a:rPr>
              <a:t>Built to Conquer Risk®</a:t>
            </a:r>
            <a:endParaRPr lang="en-US" sz="1400" dirty="0"/>
          </a:p>
        </p:txBody>
      </p:sp>
      <p:sp>
        <p:nvSpPr>
          <p:cNvPr id="7" name="Shape 4"/>
          <p:cNvSpPr/>
          <p:nvPr/>
        </p:nvSpPr>
        <p:spPr>
          <a:xfrm>
            <a:off x="0" y="6784848"/>
            <a:ext cx="12188952" cy="73152"/>
          </a:xfrm>
          <a:prstGeom prst="rect">
            <a:avLst/>
          </a:prstGeom>
          <a:solidFill>
            <a:srgbClr val="FEC00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731520" y="2286000"/>
            <a:ext cx="10725912" cy="1828800"/>
          </a:xfrm>
          <a:prstGeom prst="rect">
            <a:avLst/>
          </a:prstGeom>
          <a:noFill/>
          <a:ln/>
        </p:spPr>
        <p:txBody>
          <a:bodyPr wrap="square" rtlCol="0" anchor="ctr"/>
          <a:lstStyle/>
          <a:p>
            <a:pPr algn="ctr" indent="0" marL="0">
              <a:buNone/>
            </a:pPr>
            <a:r>
              <a:rPr lang="en-US" sz="4400" b="1" dirty="0">
                <a:solidFill>
                  <a:srgbClr val="212121"/>
                </a:solidFill>
                <a:latin typeface="Rajdhani" pitchFamily="34" charset="0"/>
                <a:ea typeface="Rajdhani" pitchFamily="34" charset="-122"/>
                <a:cs typeface="Rajdhani" pitchFamily="34" charset="-120"/>
              </a:rPr>
              <a:t>MARKET REALITY</a:t>
            </a:r>
            <a:endParaRPr lang="en-US" sz="4400" dirty="0"/>
          </a:p>
        </p:txBody>
      </p:sp>
      <p:sp>
        <p:nvSpPr>
          <p:cNvPr id="4" name="Shape 1"/>
          <p:cNvSpPr/>
          <p:nvPr/>
        </p:nvSpPr>
        <p:spPr>
          <a:xfrm>
            <a:off x="4722876" y="4251960"/>
            <a:ext cx="2743200" cy="73152"/>
          </a:xfrm>
          <a:prstGeom prst="rect">
            <a:avLst/>
          </a:prstGeom>
          <a:solidFill>
            <a:srgbClr val="FEC00F"/>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MARKET ANALYSIS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BUY AND HOLD IS NOT THE ONLY WAY</a:t>
            </a:r>
            <a:endParaRPr lang="en-US" sz="2800" dirty="0"/>
          </a:p>
        </p:txBody>
      </p:sp>
      <p:sp>
        <p:nvSpPr>
          <p:cNvPr id="5" name="Shape 2"/>
          <p:cNvSpPr/>
          <p:nvPr/>
        </p:nvSpPr>
        <p:spPr>
          <a:xfrm>
            <a:off x="365760" y="1188720"/>
            <a:ext cx="1828800" cy="54864"/>
          </a:xfrm>
          <a:prstGeom prst="rect">
            <a:avLst/>
          </a:prstGeom>
          <a:solidFill>
            <a:srgbClr val="FEC00F"/>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11457432" cy="914400"/>
        </p:xfrm>
        <a:graphic>
          <a:graphicData uri="http://schemas.openxmlformats.org/drawingml/2006/table">
            <a:tbl>
              <a:tblPr/>
              <a:tblGrid>
                <a:gridCol w="2291486"/>
                <a:gridCol w="2291486"/>
                <a:gridCol w="2291486"/>
                <a:gridCol w="2291486"/>
                <a:gridCol w="2291486"/>
              </a:tblGrid>
              <a:tr h="411480">
                <a:tc gridSpan="5">
                  <a:txBody>
                    <a:bodyPr/>
                    <a:lstStyle/>
                    <a:p>
                      <a:pPr algn="ctr" indent="0" marL="0">
                        <a:buNone/>
                      </a:pPr>
                      <a:r>
                        <a:rPr lang="en-US" sz="1400" b="1" dirty="0">
                          <a:solidFill>
                            <a:srgbClr val="212121"/>
                          </a:solidFill>
                          <a:latin typeface="Rajdhani" pitchFamily="34" charset="0"/>
                          <a:ea typeface="Rajdhani" pitchFamily="34" charset="-122"/>
                          <a:cs typeface="Rajdhani" pitchFamily="34" charset="-120"/>
                        </a:rPr>
                        <a:t>ANNUAL RETURNS BY DECADE</a:t>
                      </a:r>
                      <a:endParaRPr lang="en-US" sz="14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EC00F"/>
                    </a:solidFill>
                  </a:tcPr>
                </a:tc>
                <a:tc hMerge="1">
                  <a:tcPr/>
                </a:tc>
                <a:tc hMerge="1">
                  <a:tcPr/>
                </a:tc>
                <a:tc hMerge="1">
                  <a:tcPr/>
                </a:tc>
                <a:tc hMerge="1">
                  <a:tcPr/>
                </a:tc>
              </a:tr>
              <a:tr h="411480">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DECADE</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S&amp;P 500 BUY &amp; HOLD</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TACTICAL APPROACH*</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MAX DRAWDOWN B&amp;H</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MAX DRAWDOWN TACTICAL*</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1970s</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5.9%</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11.2%</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-48.2%</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-18.7%</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1980s</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17.5%</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19.3%</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-33.5%</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-12.1%</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1990s</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18.2%</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16.8%</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-19.9%</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-8.4%</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2000s</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-0.9%</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7.4%</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-56.8%</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-21.3%</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2010s</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13.6%</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12.9%</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-19.4%</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-7.2%</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bl>
          </a:graphicData>
        </a:graphic>
      </p:graphicFrame>
      <p:sp>
        <p:nvSpPr>
          <p:cNvPr id="7" name="Text 3"/>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*Hypothetical tactical model. For illustrative purposes only.</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MARKET REALITY</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822960"/>
          </a:xfrm>
          <a:prstGeom prst="rect">
            <a:avLst/>
          </a:prstGeom>
          <a:noFill/>
          <a:ln/>
        </p:spPr>
        <p:txBody>
          <a:bodyPr wrap="square" rtlCol="0" anchor="ctr"/>
          <a:lstStyle/>
          <a:p>
            <a:pPr indent="0" marL="0">
              <a:buNone/>
            </a:pPr>
            <a:r>
              <a:rPr lang="en-US" sz="2200" b="1" dirty="0">
                <a:solidFill>
                  <a:srgbClr val="FFFFFF"/>
                </a:solidFill>
                <a:latin typeface="Rajdhani" pitchFamily="34" charset="0"/>
                <a:ea typeface="Rajdhani" pitchFamily="34" charset="-122"/>
                <a:cs typeface="Rajdhani" pitchFamily="34" charset="-120"/>
              </a:rPr>
              <a:t>MOST TRADERS FAIL BECAUSE THEY LACK SYSTEMATIC DISCIPLINE</a:t>
            </a:r>
            <a:endParaRPr lang="en-US" sz="2200" dirty="0"/>
          </a:p>
        </p:txBody>
      </p:sp>
      <p:sp>
        <p:nvSpPr>
          <p:cNvPr id="5" name="Shape 2"/>
          <p:cNvSpPr/>
          <p:nvPr/>
        </p:nvSpPr>
        <p:spPr>
          <a:xfrm>
            <a:off x="365760" y="1554480"/>
            <a:ext cx="3636264" cy="4937760"/>
          </a:xfrm>
          <a:prstGeom prst="roundRect">
            <a:avLst>
              <a:gd name="adj" fmla="val 3772"/>
            </a:avLst>
          </a:prstGeom>
          <a:solidFill>
            <a:srgbClr val="212121"/>
          </a:solidFill>
          <a:ln w="25400">
            <a:solidFill>
              <a:srgbClr val="FEC00F"/>
            </a:solidFill>
            <a:prstDash val="solid"/>
          </a:ln>
          <a:effectLst>
            <a:outerShdw sx="100000" sy="100000" kx="0" ky="0" algn="bl" rotWithShape="0" blurRad="76200" dist="25400" dir="16200000">
              <a:srgbClr val="000000">
                <a:alpha val="20000"/>
              </a:srgbClr>
            </a:outerShdw>
          </a:effectLst>
        </p:spPr>
      </p:sp>
      <p:sp>
        <p:nvSpPr>
          <p:cNvPr id="6" name="Text 3"/>
          <p:cNvSpPr/>
          <p:nvPr/>
        </p:nvSpPr>
        <p:spPr>
          <a:xfrm>
            <a:off x="3956304" y="3749040"/>
            <a:ext cx="274320" cy="548640"/>
          </a:xfrm>
          <a:prstGeom prst="rect">
            <a:avLst/>
          </a:prstGeom>
          <a:noFill/>
          <a:ln/>
        </p:spPr>
        <p:txBody>
          <a:bodyPr wrap="square" rtlCol="0" anchor="ctr"/>
          <a:lstStyle/>
          <a:p>
            <a:pPr algn="ctr" indent="0" marL="0">
              <a:buNone/>
            </a:pPr>
            <a:r>
              <a:rPr lang="en-US" sz="2400" b="1" dirty="0">
                <a:solidFill>
                  <a:srgbClr val="FEC00F"/>
                </a:solidFill>
                <a:latin typeface="Rajdhani" pitchFamily="34" charset="0"/>
                <a:ea typeface="Rajdhani" pitchFamily="34" charset="-122"/>
                <a:cs typeface="Rajdhani" pitchFamily="34" charset="-120"/>
              </a:rPr>
              <a:t>+</a:t>
            </a:r>
            <a:endParaRPr lang="en-US" sz="2400" dirty="0"/>
          </a:p>
        </p:txBody>
      </p:sp>
      <p:sp>
        <p:nvSpPr>
          <p:cNvPr id="7" name="Shape 4"/>
          <p:cNvSpPr/>
          <p:nvPr/>
        </p:nvSpPr>
        <p:spPr>
          <a:xfrm>
            <a:off x="640080" y="1371600"/>
            <a:ext cx="3087624" cy="365760"/>
          </a:xfrm>
          <a:prstGeom prst="roundRect">
            <a:avLst>
              <a:gd name="adj" fmla="val 50000"/>
            </a:avLst>
          </a:prstGeom>
          <a:solidFill>
            <a:srgbClr val="444444"/>
          </a:solidFill>
          <a:ln/>
        </p:spPr>
      </p:sp>
      <p:sp>
        <p:nvSpPr>
          <p:cNvPr id="8" name="Text 5"/>
          <p:cNvSpPr/>
          <p:nvPr/>
        </p:nvSpPr>
        <p:spPr>
          <a:xfrm>
            <a:off x="640080" y="1371600"/>
            <a:ext cx="3087624" cy="365760"/>
          </a:xfrm>
          <a:prstGeom prst="rect">
            <a:avLst/>
          </a:prstGeom>
          <a:noFill/>
          <a:ln/>
        </p:spPr>
        <p:txBody>
          <a:bodyPr wrap="square" rtlCol="0" anchor="ctr"/>
          <a:lstStyle/>
          <a:p>
            <a:pPr algn="ctr" indent="0" marL="0">
              <a:buNone/>
            </a:pPr>
            <a:r>
              <a:rPr lang="en-US" sz="1100" b="1" dirty="0">
                <a:solidFill>
                  <a:srgbClr val="FEC00F"/>
                </a:solidFill>
                <a:latin typeface="Rajdhani" pitchFamily="34" charset="0"/>
                <a:ea typeface="Rajdhani" pitchFamily="34" charset="-122"/>
                <a:cs typeface="Rajdhani" pitchFamily="34" charset="-120"/>
              </a:rPr>
              <a:t>EMOTION-DRIVEN DECISIONS</a:t>
            </a:r>
            <a:endParaRPr lang="en-US" sz="1100" dirty="0"/>
          </a:p>
        </p:txBody>
      </p:sp>
      <p:sp>
        <p:nvSpPr>
          <p:cNvPr id="9" name="Text 6"/>
          <p:cNvSpPr/>
          <p:nvPr/>
        </p:nvSpPr>
        <p:spPr>
          <a:xfrm>
            <a:off x="502920" y="1874520"/>
            <a:ext cx="3361944" cy="4389120"/>
          </a:xfrm>
          <a:prstGeom prst="rect">
            <a:avLst/>
          </a:prstGeom>
          <a:noFill/>
          <a:ln/>
        </p:spPr>
        <p:txBody>
          <a:bodyPr wrap="square" rtlCol="0" anchor="ctr"/>
          <a:lstStyle/>
          <a:p>
            <a:pPr algn="ctr" indent="0" marL="0">
              <a:buNone/>
            </a:pPr>
            <a:r>
              <a:rPr lang="en-US" sz="1300" dirty="0">
                <a:solidFill>
                  <a:srgbClr val="FFFFFF"/>
                </a:solidFill>
                <a:latin typeface="Quicksand" pitchFamily="34" charset="0"/>
                <a:ea typeface="Quicksand" pitchFamily="34" charset="-122"/>
                <a:cs typeface="Quicksand" pitchFamily="34" charset="-120"/>
              </a:rPr>
              <a:t>Fear and greed override logical analysis. Studies show 90% of day traders lose money within their first year.</a:t>
            </a:r>
            <a:endParaRPr lang="en-US" sz="1300" dirty="0"/>
          </a:p>
        </p:txBody>
      </p:sp>
      <p:sp>
        <p:nvSpPr>
          <p:cNvPr id="10" name="Shape 7"/>
          <p:cNvSpPr/>
          <p:nvPr/>
        </p:nvSpPr>
        <p:spPr>
          <a:xfrm>
            <a:off x="4093464" y="1554480"/>
            <a:ext cx="3636264" cy="4937760"/>
          </a:xfrm>
          <a:prstGeom prst="roundRect">
            <a:avLst>
              <a:gd name="adj" fmla="val 3772"/>
            </a:avLst>
          </a:prstGeom>
          <a:solidFill>
            <a:srgbClr val="212121"/>
          </a:solidFill>
          <a:ln w="25400">
            <a:solidFill>
              <a:srgbClr val="FEC00F"/>
            </a:solidFill>
            <a:prstDash val="solid"/>
          </a:ln>
          <a:effectLst>
            <a:outerShdw sx="100000" sy="100000" kx="0" ky="0" algn="bl" rotWithShape="0" blurRad="76200" dist="25400" dir="16200000">
              <a:srgbClr val="000000">
                <a:alpha val="20000"/>
              </a:srgbClr>
            </a:outerShdw>
          </a:effectLst>
        </p:spPr>
      </p:sp>
      <p:sp>
        <p:nvSpPr>
          <p:cNvPr id="11" name="Text 8"/>
          <p:cNvSpPr/>
          <p:nvPr/>
        </p:nvSpPr>
        <p:spPr>
          <a:xfrm>
            <a:off x="7684008" y="3749040"/>
            <a:ext cx="274320" cy="548640"/>
          </a:xfrm>
          <a:prstGeom prst="rect">
            <a:avLst/>
          </a:prstGeom>
          <a:noFill/>
          <a:ln/>
        </p:spPr>
        <p:txBody>
          <a:bodyPr wrap="square" rtlCol="0" anchor="ctr"/>
          <a:lstStyle/>
          <a:p>
            <a:pPr algn="ctr" indent="0" marL="0">
              <a:buNone/>
            </a:pPr>
            <a:r>
              <a:rPr lang="en-US" sz="2400" b="1" dirty="0">
                <a:solidFill>
                  <a:srgbClr val="FEC00F"/>
                </a:solidFill>
                <a:latin typeface="Rajdhani" pitchFamily="34" charset="0"/>
                <a:ea typeface="Rajdhani" pitchFamily="34" charset="-122"/>
                <a:cs typeface="Rajdhani" pitchFamily="34" charset="-120"/>
              </a:rPr>
              <a:t>=</a:t>
            </a:r>
            <a:endParaRPr lang="en-US" sz="2400" dirty="0"/>
          </a:p>
        </p:txBody>
      </p:sp>
      <p:sp>
        <p:nvSpPr>
          <p:cNvPr id="12" name="Shape 9"/>
          <p:cNvSpPr/>
          <p:nvPr/>
        </p:nvSpPr>
        <p:spPr>
          <a:xfrm>
            <a:off x="4367784" y="1371600"/>
            <a:ext cx="3087624" cy="365760"/>
          </a:xfrm>
          <a:prstGeom prst="roundRect">
            <a:avLst>
              <a:gd name="adj" fmla="val 50000"/>
            </a:avLst>
          </a:prstGeom>
          <a:solidFill>
            <a:srgbClr val="444444"/>
          </a:solidFill>
          <a:ln/>
        </p:spPr>
      </p:sp>
      <p:sp>
        <p:nvSpPr>
          <p:cNvPr id="13" name="Text 10"/>
          <p:cNvSpPr/>
          <p:nvPr/>
        </p:nvSpPr>
        <p:spPr>
          <a:xfrm>
            <a:off x="4367784" y="1371600"/>
            <a:ext cx="3087624" cy="365760"/>
          </a:xfrm>
          <a:prstGeom prst="rect">
            <a:avLst/>
          </a:prstGeom>
          <a:noFill/>
          <a:ln/>
        </p:spPr>
        <p:txBody>
          <a:bodyPr wrap="square" rtlCol="0" anchor="ctr"/>
          <a:lstStyle/>
          <a:p>
            <a:pPr algn="ctr" indent="0" marL="0">
              <a:buNone/>
            </a:pPr>
            <a:r>
              <a:rPr lang="en-US" sz="1100" b="1" dirty="0">
                <a:solidFill>
                  <a:srgbClr val="FEC00F"/>
                </a:solidFill>
                <a:latin typeface="Rajdhani" pitchFamily="34" charset="0"/>
                <a:ea typeface="Rajdhani" pitchFamily="34" charset="-122"/>
                <a:cs typeface="Rajdhani" pitchFamily="34" charset="-120"/>
              </a:rPr>
              <a:t>NO RISK MANAGEMENT</a:t>
            </a:r>
            <a:endParaRPr lang="en-US" sz="1100" dirty="0"/>
          </a:p>
        </p:txBody>
      </p:sp>
      <p:sp>
        <p:nvSpPr>
          <p:cNvPr id="14" name="Text 11"/>
          <p:cNvSpPr/>
          <p:nvPr/>
        </p:nvSpPr>
        <p:spPr>
          <a:xfrm>
            <a:off x="4230624" y="1874520"/>
            <a:ext cx="3361944" cy="4389120"/>
          </a:xfrm>
          <a:prstGeom prst="rect">
            <a:avLst/>
          </a:prstGeom>
          <a:noFill/>
          <a:ln/>
        </p:spPr>
        <p:txBody>
          <a:bodyPr wrap="square" rtlCol="0" anchor="ctr"/>
          <a:lstStyle/>
          <a:p>
            <a:pPr algn="ctr" indent="0" marL="0">
              <a:buNone/>
            </a:pPr>
            <a:r>
              <a:rPr lang="en-US" sz="1300" dirty="0">
                <a:solidFill>
                  <a:srgbClr val="FFFFFF"/>
                </a:solidFill>
                <a:latin typeface="Quicksand" pitchFamily="34" charset="0"/>
                <a:ea typeface="Quicksand" pitchFamily="34" charset="-122"/>
                <a:cs typeface="Quicksand" pitchFamily="34" charset="-120"/>
              </a:rPr>
              <a:t>Trading without stop losses, position sizing rules, or systematic exit strategies leads to catastrophic losses.</a:t>
            </a:r>
            <a:endParaRPr lang="en-US" sz="1300" dirty="0"/>
          </a:p>
        </p:txBody>
      </p:sp>
      <p:sp>
        <p:nvSpPr>
          <p:cNvPr id="15" name="Shape 12"/>
          <p:cNvSpPr/>
          <p:nvPr/>
        </p:nvSpPr>
        <p:spPr>
          <a:xfrm>
            <a:off x="7821168" y="1554480"/>
            <a:ext cx="3636264" cy="4937760"/>
          </a:xfrm>
          <a:prstGeom prst="roundRect">
            <a:avLst>
              <a:gd name="adj" fmla="val 3772"/>
            </a:avLst>
          </a:prstGeom>
          <a:solidFill>
            <a:srgbClr val="FEC00F"/>
          </a:solidFill>
          <a:ln w="25400">
            <a:solidFill>
              <a:srgbClr val="FEC00F"/>
            </a:solidFill>
            <a:prstDash val="solid"/>
          </a:ln>
          <a:effectLst>
            <a:outerShdw sx="100000" sy="100000" kx="0" ky="0" algn="bl" rotWithShape="0" blurRad="76200" dist="25400" dir="16200000">
              <a:srgbClr val="000000">
                <a:alpha val="20000"/>
              </a:srgbClr>
            </a:outerShdw>
          </a:effectLst>
        </p:spPr>
      </p:sp>
      <p:sp>
        <p:nvSpPr>
          <p:cNvPr id="16" name="Shape 13"/>
          <p:cNvSpPr/>
          <p:nvPr/>
        </p:nvSpPr>
        <p:spPr>
          <a:xfrm>
            <a:off x="8095488" y="1371600"/>
            <a:ext cx="3087624" cy="365760"/>
          </a:xfrm>
          <a:prstGeom prst="roundRect">
            <a:avLst>
              <a:gd name="adj" fmla="val 50000"/>
            </a:avLst>
          </a:prstGeom>
          <a:solidFill>
            <a:srgbClr val="FEC00F"/>
          </a:solidFill>
          <a:ln/>
        </p:spPr>
      </p:sp>
      <p:sp>
        <p:nvSpPr>
          <p:cNvPr id="17" name="Text 14"/>
          <p:cNvSpPr/>
          <p:nvPr/>
        </p:nvSpPr>
        <p:spPr>
          <a:xfrm>
            <a:off x="8095488" y="1371600"/>
            <a:ext cx="3087624" cy="365760"/>
          </a:xfrm>
          <a:prstGeom prst="rect">
            <a:avLst/>
          </a:prstGeom>
          <a:noFill/>
          <a:ln/>
        </p:spPr>
        <p:txBody>
          <a:bodyPr wrap="square" rtlCol="0" anchor="ctr"/>
          <a:lstStyle/>
          <a:p>
            <a:pPr algn="ctr" indent="0" marL="0">
              <a:buNone/>
            </a:pPr>
            <a:r>
              <a:rPr lang="en-US" sz="1100" b="1" dirty="0">
                <a:solidFill>
                  <a:srgbClr val="212121"/>
                </a:solidFill>
                <a:latin typeface="Rajdhani" pitchFamily="34" charset="0"/>
                <a:ea typeface="Rajdhani" pitchFamily="34" charset="-122"/>
                <a:cs typeface="Rajdhani" pitchFamily="34" charset="-120"/>
              </a:rPr>
              <a:t>SYSTEMATIC FAILURE</a:t>
            </a:r>
            <a:endParaRPr lang="en-US" sz="1100" dirty="0"/>
          </a:p>
        </p:txBody>
      </p:sp>
      <p:sp>
        <p:nvSpPr>
          <p:cNvPr id="18" name="Text 15"/>
          <p:cNvSpPr/>
          <p:nvPr/>
        </p:nvSpPr>
        <p:spPr>
          <a:xfrm>
            <a:off x="7958328" y="1874520"/>
            <a:ext cx="3361944" cy="4389120"/>
          </a:xfrm>
          <a:prstGeom prst="rect">
            <a:avLst/>
          </a:prstGeom>
          <a:noFill/>
          <a:ln/>
        </p:spPr>
        <p:txBody>
          <a:bodyPr wrap="square" rtlCol="0" anchor="ctr"/>
          <a:lstStyle/>
          <a:p>
            <a:pPr algn="ctr" indent="0" marL="0">
              <a:buNone/>
            </a:pPr>
            <a:r>
              <a:rPr lang="en-US" sz="1300" dirty="0">
                <a:solidFill>
                  <a:srgbClr val="212121"/>
                </a:solidFill>
                <a:latin typeface="Quicksand" pitchFamily="34" charset="0"/>
                <a:ea typeface="Quicksand" pitchFamily="34" charset="-122"/>
                <a:cs typeface="Quicksand" pitchFamily="34" charset="-120"/>
              </a:rPr>
              <a:t>Without quantifiable rules and backtested systems, trading becomes gambling rather than investing.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731520" y="2286000"/>
            <a:ext cx="10725912" cy="1828800"/>
          </a:xfrm>
          <a:prstGeom prst="rect">
            <a:avLst/>
          </a:prstGeom>
          <a:noFill/>
          <a:ln/>
        </p:spPr>
        <p:txBody>
          <a:bodyPr wrap="square" rtlCol="0" anchor="ctr"/>
          <a:lstStyle/>
          <a:p>
            <a:pPr algn="ctr" indent="0" marL="0">
              <a:buNone/>
            </a:pPr>
            <a:r>
              <a:rPr lang="en-US" sz="4400" b="1" dirty="0">
                <a:solidFill>
                  <a:srgbClr val="212121"/>
                </a:solidFill>
                <a:latin typeface="Rajdhani" pitchFamily="34" charset="0"/>
                <a:ea typeface="Rajdhani" pitchFamily="34" charset="-122"/>
                <a:cs typeface="Rajdhani" pitchFamily="34" charset="-120"/>
              </a:rPr>
              <a:t>METHODOLOGY</a:t>
            </a:r>
            <a:endParaRPr lang="en-US" sz="4400" dirty="0"/>
          </a:p>
        </p:txBody>
      </p:sp>
      <p:sp>
        <p:nvSpPr>
          <p:cNvPr id="4" name="Shape 1"/>
          <p:cNvSpPr/>
          <p:nvPr/>
        </p:nvSpPr>
        <p:spPr>
          <a:xfrm>
            <a:off x="4722876" y="4251960"/>
            <a:ext cx="2743200" cy="73152"/>
          </a:xfrm>
          <a:prstGeom prst="rect">
            <a:avLst/>
          </a:prstGeom>
          <a:solidFill>
            <a:srgbClr val="FEC00F"/>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METHODOLOGY</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48640"/>
            <a:ext cx="10817352" cy="914400"/>
          </a:xfrm>
          <a:prstGeom prst="rect">
            <a:avLst/>
          </a:prstGeom>
          <a:noFill/>
          <a:ln/>
        </p:spPr>
        <p:txBody>
          <a:bodyPr wrap="square" rtlCol="0" anchor="ctr"/>
          <a:lstStyle/>
          <a:p>
            <a:pPr indent="0" marL="0">
              <a:buNone/>
            </a:pPr>
            <a:r>
              <a:rPr lang="en-US" sz="3200" b="1" dirty="0">
                <a:solidFill>
                  <a:srgbClr val="FFFFFF"/>
                </a:solidFill>
                <a:latin typeface="Rajdhani" pitchFamily="34" charset="0"/>
                <a:ea typeface="Rajdhani" pitchFamily="34" charset="-122"/>
                <a:cs typeface="Rajdhani" pitchFamily="34" charset="-120"/>
              </a:rPr>
              <a:t>THE POTOMAC APPROACH TO STOCK TRADING ANALYSIS</a:t>
            </a:r>
            <a:endParaRPr lang="en-US" sz="3200" dirty="0"/>
          </a:p>
        </p:txBody>
      </p:sp>
      <p:sp>
        <p:nvSpPr>
          <p:cNvPr id="5" name="Text 2"/>
          <p:cNvSpPr/>
          <p:nvPr/>
        </p:nvSpPr>
        <p:spPr>
          <a:xfrm>
            <a:off x="365760" y="1645920"/>
            <a:ext cx="10817352" cy="457200"/>
          </a:xfrm>
          <a:prstGeom prst="rect">
            <a:avLst/>
          </a:prstGeom>
          <a:noFill/>
          <a:ln/>
        </p:spPr>
        <p:txBody>
          <a:bodyPr wrap="square" rtlCol="0" anchor="ctr"/>
          <a:lstStyle/>
          <a:p>
            <a:pPr algn="ctr" indent="0" marL="0">
              <a:buNone/>
            </a:pPr>
            <a:r>
              <a:rPr lang="en-US" sz="1600" b="1" dirty="0">
                <a:solidFill>
                  <a:srgbClr val="FEC00F"/>
                </a:solidFill>
                <a:latin typeface="Rajdhani" pitchFamily="34" charset="0"/>
                <a:ea typeface="Rajdhani" pitchFamily="34" charset="-122"/>
                <a:cs typeface="Rajdhani" pitchFamily="34" charset="-120"/>
              </a:rPr>
              <a:t>THREE ESSENTIAL COMPONENTS OF ANY SUCCESSFUL TRADING SYSTEM</a:t>
            </a:r>
            <a:endParaRPr lang="en-US" sz="1600" dirty="0"/>
          </a:p>
        </p:txBody>
      </p:sp>
      <p:sp>
        <p:nvSpPr>
          <p:cNvPr id="6" name="Shape 3"/>
          <p:cNvSpPr/>
          <p:nvPr/>
        </p:nvSpPr>
        <p:spPr>
          <a:xfrm>
            <a:off x="1796796" y="2560320"/>
            <a:ext cx="2377440" cy="2377440"/>
          </a:xfrm>
          <a:prstGeom prst="ellipse">
            <a:avLst/>
          </a:prstGeom>
          <a:solidFill>
            <a:srgbClr val="212121"/>
          </a:solidFill>
          <a:ln w="31750">
            <a:solidFill>
              <a:srgbClr val="FEC00F"/>
            </a:solidFill>
            <a:prstDash val="solid"/>
          </a:ln>
        </p:spPr>
      </p:sp>
      <p:sp>
        <p:nvSpPr>
          <p:cNvPr id="7" name="Shape 4"/>
          <p:cNvSpPr/>
          <p:nvPr/>
        </p:nvSpPr>
        <p:spPr>
          <a:xfrm>
            <a:off x="2574036" y="2880360"/>
            <a:ext cx="822960" cy="822960"/>
          </a:xfrm>
          <a:prstGeom prst="ellipse">
            <a:avLst/>
          </a:prstGeom>
          <a:solidFill>
            <a:srgbClr val="FEC00F"/>
          </a:solidFill>
          <a:ln/>
        </p:spPr>
      </p:sp>
      <p:sp>
        <p:nvSpPr>
          <p:cNvPr id="8" name="Text 5"/>
          <p:cNvSpPr/>
          <p:nvPr/>
        </p:nvSpPr>
        <p:spPr>
          <a:xfrm>
            <a:off x="2574036" y="2880360"/>
            <a:ext cx="822960" cy="822960"/>
          </a:xfrm>
          <a:prstGeom prst="rect">
            <a:avLst/>
          </a:prstGeom>
          <a:noFill/>
          <a:ln/>
        </p:spPr>
        <p:txBody>
          <a:bodyPr wrap="square" rtlCol="0" anchor="ctr"/>
          <a:lstStyle/>
          <a:p>
            <a:pPr algn="ctr" indent="0" marL="0">
              <a:buNone/>
            </a:pPr>
            <a:r>
              <a:rPr lang="en-US" sz="2800" b="1" dirty="0">
                <a:solidFill>
                  <a:srgbClr val="212121"/>
                </a:solidFill>
                <a:latin typeface="Rajdhani" pitchFamily="34" charset="0"/>
                <a:ea typeface="Rajdhani" pitchFamily="34" charset="-122"/>
                <a:cs typeface="Rajdhani" pitchFamily="34" charset="-120"/>
              </a:rPr>
              <a:t>1</a:t>
            </a:r>
            <a:endParaRPr lang="en-US" sz="2800" dirty="0"/>
          </a:p>
        </p:txBody>
      </p:sp>
      <p:sp>
        <p:nvSpPr>
          <p:cNvPr id="9" name="Text 6"/>
          <p:cNvSpPr/>
          <p:nvPr/>
        </p:nvSpPr>
        <p:spPr>
          <a:xfrm>
            <a:off x="1888236" y="3886200"/>
            <a:ext cx="2194560" cy="41148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SIGNAL GENERATION</a:t>
            </a:r>
            <a:endParaRPr lang="en-US" sz="1400" dirty="0"/>
          </a:p>
        </p:txBody>
      </p:sp>
      <p:sp>
        <p:nvSpPr>
          <p:cNvPr id="10" name="Text 7"/>
          <p:cNvSpPr/>
          <p:nvPr/>
        </p:nvSpPr>
        <p:spPr>
          <a:xfrm>
            <a:off x="193395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(Technical and Fundamental Entry/Exit Rules)</a:t>
            </a:r>
            <a:endParaRPr lang="en-US" sz="1000" dirty="0"/>
          </a:p>
        </p:txBody>
      </p:sp>
      <p:sp>
        <p:nvSpPr>
          <p:cNvPr id="11" name="Text 8"/>
          <p:cNvSpPr/>
          <p:nvPr/>
        </p:nvSpPr>
        <p:spPr>
          <a:xfrm>
            <a:off x="4311396" y="3611880"/>
            <a:ext cx="457200" cy="274320"/>
          </a:xfrm>
          <a:prstGeom prst="rect">
            <a:avLst/>
          </a:prstGeom>
          <a:noFill/>
          <a:ln/>
        </p:spPr>
        <p:txBody>
          <a:bodyPr wrap="square" rtlCol="0" anchor="ctr"/>
          <a:lstStyle/>
          <a:p>
            <a:pPr algn="ctr" indent="0" marL="0">
              <a:buNone/>
            </a:pPr>
            <a:r>
              <a:rPr lang="en-US" sz="1400" dirty="0">
                <a:solidFill>
                  <a:srgbClr val="737373"/>
                </a:solidFill>
                <a:latin typeface="Rajdhani" pitchFamily="34" charset="0"/>
                <a:ea typeface="Rajdhani" pitchFamily="34" charset="-122"/>
                <a:cs typeface="Rajdhani" pitchFamily="34" charset="-120"/>
              </a:rPr>
              <a:t>▶</a:t>
            </a:r>
            <a:endParaRPr lang="en-US" sz="1400" dirty="0"/>
          </a:p>
        </p:txBody>
      </p:sp>
      <p:sp>
        <p:nvSpPr>
          <p:cNvPr id="12" name="Shape 9"/>
          <p:cNvSpPr/>
          <p:nvPr/>
        </p:nvSpPr>
        <p:spPr>
          <a:xfrm>
            <a:off x="4905756" y="2560320"/>
            <a:ext cx="2377440" cy="2377440"/>
          </a:xfrm>
          <a:prstGeom prst="ellipse">
            <a:avLst/>
          </a:prstGeom>
          <a:solidFill>
            <a:srgbClr val="212121"/>
          </a:solidFill>
          <a:ln w="31750">
            <a:solidFill>
              <a:srgbClr val="FEC00F"/>
            </a:solidFill>
            <a:prstDash val="solid"/>
          </a:ln>
        </p:spPr>
      </p:sp>
      <p:sp>
        <p:nvSpPr>
          <p:cNvPr id="13" name="Shape 10"/>
          <p:cNvSpPr/>
          <p:nvPr/>
        </p:nvSpPr>
        <p:spPr>
          <a:xfrm>
            <a:off x="5682996" y="2880360"/>
            <a:ext cx="822960" cy="822960"/>
          </a:xfrm>
          <a:prstGeom prst="ellipse">
            <a:avLst/>
          </a:prstGeom>
          <a:solidFill>
            <a:srgbClr val="FEC00F"/>
          </a:solidFill>
          <a:ln/>
        </p:spPr>
      </p:sp>
      <p:sp>
        <p:nvSpPr>
          <p:cNvPr id="14" name="Text 11"/>
          <p:cNvSpPr/>
          <p:nvPr/>
        </p:nvSpPr>
        <p:spPr>
          <a:xfrm>
            <a:off x="5682996" y="2880360"/>
            <a:ext cx="822960" cy="822960"/>
          </a:xfrm>
          <a:prstGeom prst="rect">
            <a:avLst/>
          </a:prstGeom>
          <a:noFill/>
          <a:ln/>
        </p:spPr>
        <p:txBody>
          <a:bodyPr wrap="square" rtlCol="0" anchor="ctr"/>
          <a:lstStyle/>
          <a:p>
            <a:pPr algn="ctr" indent="0" marL="0">
              <a:buNone/>
            </a:pPr>
            <a:r>
              <a:rPr lang="en-US" sz="2800" b="1" dirty="0">
                <a:solidFill>
                  <a:srgbClr val="212121"/>
                </a:solidFill>
                <a:latin typeface="Rajdhani" pitchFamily="34" charset="0"/>
                <a:ea typeface="Rajdhani" pitchFamily="34" charset="-122"/>
                <a:cs typeface="Rajdhani" pitchFamily="34" charset="-120"/>
              </a:rPr>
              <a:t>2</a:t>
            </a:r>
            <a:endParaRPr lang="en-US" sz="2800" dirty="0"/>
          </a:p>
        </p:txBody>
      </p:sp>
      <p:sp>
        <p:nvSpPr>
          <p:cNvPr id="15" name="Text 12"/>
          <p:cNvSpPr/>
          <p:nvPr/>
        </p:nvSpPr>
        <p:spPr>
          <a:xfrm>
            <a:off x="4997196" y="3886200"/>
            <a:ext cx="2194560" cy="41148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RISK MANAGEMENT</a:t>
            </a:r>
            <a:endParaRPr lang="en-US" sz="1400" dirty="0"/>
          </a:p>
        </p:txBody>
      </p:sp>
      <p:sp>
        <p:nvSpPr>
          <p:cNvPr id="16" name="Text 13"/>
          <p:cNvSpPr/>
          <p:nvPr/>
        </p:nvSpPr>
        <p:spPr>
          <a:xfrm>
            <a:off x="504291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(Position Sizing and Stop Loss Protocols)</a:t>
            </a:r>
            <a:endParaRPr lang="en-US" sz="1000" dirty="0"/>
          </a:p>
        </p:txBody>
      </p:sp>
      <p:sp>
        <p:nvSpPr>
          <p:cNvPr id="17" name="Text 14"/>
          <p:cNvSpPr/>
          <p:nvPr/>
        </p:nvSpPr>
        <p:spPr>
          <a:xfrm>
            <a:off x="7420356" y="3611880"/>
            <a:ext cx="457200" cy="274320"/>
          </a:xfrm>
          <a:prstGeom prst="rect">
            <a:avLst/>
          </a:prstGeom>
          <a:noFill/>
          <a:ln/>
        </p:spPr>
        <p:txBody>
          <a:bodyPr wrap="square" rtlCol="0" anchor="ctr"/>
          <a:lstStyle/>
          <a:p>
            <a:pPr algn="ctr" indent="0" marL="0">
              <a:buNone/>
            </a:pPr>
            <a:r>
              <a:rPr lang="en-US" sz="1400" dirty="0">
                <a:solidFill>
                  <a:srgbClr val="737373"/>
                </a:solidFill>
                <a:latin typeface="Rajdhani" pitchFamily="34" charset="0"/>
                <a:ea typeface="Rajdhani" pitchFamily="34" charset="-122"/>
                <a:cs typeface="Rajdhani" pitchFamily="34" charset="-120"/>
              </a:rPr>
              <a:t>▶</a:t>
            </a:r>
            <a:endParaRPr lang="en-US" sz="1400" dirty="0"/>
          </a:p>
        </p:txBody>
      </p:sp>
      <p:sp>
        <p:nvSpPr>
          <p:cNvPr id="18" name="Shape 15"/>
          <p:cNvSpPr/>
          <p:nvPr/>
        </p:nvSpPr>
        <p:spPr>
          <a:xfrm>
            <a:off x="8014716" y="2560320"/>
            <a:ext cx="2377440" cy="2377440"/>
          </a:xfrm>
          <a:prstGeom prst="ellipse">
            <a:avLst/>
          </a:prstGeom>
          <a:solidFill>
            <a:srgbClr val="212121"/>
          </a:solidFill>
          <a:ln w="31750">
            <a:solidFill>
              <a:srgbClr val="FEC00F"/>
            </a:solidFill>
            <a:prstDash val="solid"/>
          </a:ln>
        </p:spPr>
      </p:sp>
      <p:sp>
        <p:nvSpPr>
          <p:cNvPr id="19" name="Shape 16"/>
          <p:cNvSpPr/>
          <p:nvPr/>
        </p:nvSpPr>
        <p:spPr>
          <a:xfrm>
            <a:off x="8791956" y="2880360"/>
            <a:ext cx="822960" cy="822960"/>
          </a:xfrm>
          <a:prstGeom prst="ellipse">
            <a:avLst/>
          </a:prstGeom>
          <a:solidFill>
            <a:srgbClr val="FEC00F"/>
          </a:solidFill>
          <a:ln/>
        </p:spPr>
      </p:sp>
      <p:sp>
        <p:nvSpPr>
          <p:cNvPr id="20" name="Text 17"/>
          <p:cNvSpPr/>
          <p:nvPr/>
        </p:nvSpPr>
        <p:spPr>
          <a:xfrm>
            <a:off x="8791956" y="2880360"/>
            <a:ext cx="822960" cy="822960"/>
          </a:xfrm>
          <a:prstGeom prst="rect">
            <a:avLst/>
          </a:prstGeom>
          <a:noFill/>
          <a:ln/>
        </p:spPr>
        <p:txBody>
          <a:bodyPr wrap="square" rtlCol="0" anchor="ctr"/>
          <a:lstStyle/>
          <a:p>
            <a:pPr algn="ctr" indent="0" marL="0">
              <a:buNone/>
            </a:pPr>
            <a:r>
              <a:rPr lang="en-US" sz="2800" b="1" dirty="0">
                <a:solidFill>
                  <a:srgbClr val="212121"/>
                </a:solidFill>
                <a:latin typeface="Rajdhani" pitchFamily="34" charset="0"/>
                <a:ea typeface="Rajdhani" pitchFamily="34" charset="-122"/>
                <a:cs typeface="Rajdhani" pitchFamily="34" charset="-120"/>
              </a:rPr>
              <a:t>3</a:t>
            </a:r>
            <a:endParaRPr lang="en-US" sz="2800" dirty="0"/>
          </a:p>
        </p:txBody>
      </p:sp>
      <p:sp>
        <p:nvSpPr>
          <p:cNvPr id="21" name="Text 18"/>
          <p:cNvSpPr/>
          <p:nvPr/>
        </p:nvSpPr>
        <p:spPr>
          <a:xfrm>
            <a:off x="8106156" y="3886200"/>
            <a:ext cx="2194560" cy="41148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SYSTEM VALIDATION</a:t>
            </a:r>
            <a:endParaRPr lang="en-US" sz="1400" dirty="0"/>
          </a:p>
        </p:txBody>
      </p:sp>
      <p:sp>
        <p:nvSpPr>
          <p:cNvPr id="22" name="Text 19"/>
          <p:cNvSpPr/>
          <p:nvPr/>
        </p:nvSpPr>
        <p:spPr>
          <a:xfrm>
            <a:off x="815187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(Backtesting and Out-of-Sample Testing)</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METHODOLOGY</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SIGNAL GENERATION: MULTIPLE TIMEFRAME ANALYSIS</a:t>
            </a:r>
            <a:endParaRPr lang="en-US" sz="2800" dirty="0"/>
          </a:p>
        </p:txBody>
      </p:sp>
      <p:sp>
        <p:nvSpPr>
          <p:cNvPr id="5" name="Shape 2"/>
          <p:cNvSpPr/>
          <p:nvPr/>
        </p:nvSpPr>
        <p:spPr>
          <a:xfrm>
            <a:off x="365760" y="1188720"/>
            <a:ext cx="1828800" cy="54864"/>
          </a:xfrm>
          <a:prstGeom prst="rect">
            <a:avLst/>
          </a:prstGeom>
          <a:solidFill>
            <a:srgbClr val="FEC00F"/>
          </a:solidFill>
          <a:ln/>
        </p:spPr>
      </p:sp>
      <p:sp>
        <p:nvSpPr>
          <p:cNvPr id="6" name="Shape 3"/>
          <p:cNvSpPr/>
          <p:nvPr/>
        </p:nvSpPr>
        <p:spPr>
          <a:xfrm>
            <a:off x="365760" y="1371600"/>
            <a:ext cx="11457432" cy="4754880"/>
          </a:xfrm>
          <a:prstGeom prst="rect">
            <a:avLst/>
          </a:prstGeom>
          <a:solidFill>
            <a:srgbClr val="C6C6C6"/>
          </a:solidFill>
          <a:ln w="12700">
            <a:solidFill>
              <a:srgbClr val="737373"/>
            </a:solidFill>
            <a:prstDash val="solid"/>
          </a:ln>
        </p:spPr>
      </p:sp>
      <p:sp>
        <p:nvSpPr>
          <p:cNvPr id="7" name="Text 4"/>
          <p:cNvSpPr/>
          <p:nvPr/>
        </p:nvSpPr>
        <p:spPr>
          <a:xfrm>
            <a:off x="365760" y="1371600"/>
            <a:ext cx="11457432" cy="4754880"/>
          </a:xfrm>
          <a:prstGeom prst="rect">
            <a:avLst/>
          </a:prstGeom>
          <a:noFill/>
          <a:ln/>
        </p:spPr>
        <p:txBody>
          <a:bodyPr wrap="square" rtlCol="0" anchor="ctr"/>
          <a:lstStyle/>
          <a:p>
            <a:pPr algn="ctr" indent="0" marL="0">
              <a:buNone/>
            </a:pPr>
            <a:r>
              <a:rPr lang="en-US" sz="2400" dirty="0">
                <a:solidFill>
                  <a:srgbClr val="737373"/>
                </a:solidFill>
                <a:latin typeface="Rajdhani" pitchFamily="34" charset="0"/>
                <a:ea typeface="Rajdhani" pitchFamily="34" charset="-122"/>
                <a:cs typeface="Rajdhani" pitchFamily="34" charset="-120"/>
              </a:rPr>
              <a:t>[ CHART ]</a:t>
            </a:r>
            <a:endParaRPr lang="en-US" sz="2400" dirty="0"/>
          </a:p>
        </p:txBody>
      </p:sp>
      <p:sp>
        <p:nvSpPr>
          <p:cNvPr id="8" name="Text 5"/>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Combining weekly trends with daily entry signals. For illustrative purposes only.</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METHODOLOGY</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RISK MANAGEMENT: THE 2% RULE IN ACTION</a:t>
            </a:r>
            <a:endParaRPr lang="en-US" sz="2800" dirty="0"/>
          </a:p>
        </p:txBody>
      </p:sp>
      <p:sp>
        <p:nvSpPr>
          <p:cNvPr id="5" name="Shape 2"/>
          <p:cNvSpPr/>
          <p:nvPr/>
        </p:nvSpPr>
        <p:spPr>
          <a:xfrm>
            <a:off x="365760" y="1188720"/>
            <a:ext cx="1828800" cy="54864"/>
          </a:xfrm>
          <a:prstGeom prst="rect">
            <a:avLst/>
          </a:prstGeom>
          <a:solidFill>
            <a:srgbClr val="FEC00F"/>
          </a:solidFill>
          <a:ln/>
        </p:spPr>
      </p:sp>
      <p:sp>
        <p:nvSpPr>
          <p:cNvPr id="6" name="Shape 3"/>
          <p:cNvSpPr/>
          <p:nvPr/>
        </p:nvSpPr>
        <p:spPr>
          <a:xfrm>
            <a:off x="365760" y="1371600"/>
            <a:ext cx="11457432" cy="4754880"/>
          </a:xfrm>
          <a:prstGeom prst="rect">
            <a:avLst/>
          </a:prstGeom>
          <a:solidFill>
            <a:srgbClr val="C6C6C6"/>
          </a:solidFill>
          <a:ln w="12700">
            <a:solidFill>
              <a:srgbClr val="737373"/>
            </a:solidFill>
            <a:prstDash val="solid"/>
          </a:ln>
        </p:spPr>
      </p:sp>
      <p:sp>
        <p:nvSpPr>
          <p:cNvPr id="7" name="Text 4"/>
          <p:cNvSpPr/>
          <p:nvPr/>
        </p:nvSpPr>
        <p:spPr>
          <a:xfrm>
            <a:off x="365760" y="1371600"/>
            <a:ext cx="11457432" cy="4754880"/>
          </a:xfrm>
          <a:prstGeom prst="rect">
            <a:avLst/>
          </a:prstGeom>
          <a:noFill/>
          <a:ln/>
        </p:spPr>
        <p:txBody>
          <a:bodyPr wrap="square" rtlCol="0" anchor="ctr"/>
          <a:lstStyle/>
          <a:p>
            <a:pPr algn="ctr" indent="0" marL="0">
              <a:buNone/>
            </a:pPr>
            <a:r>
              <a:rPr lang="en-US" sz="2400" dirty="0">
                <a:solidFill>
                  <a:srgbClr val="737373"/>
                </a:solidFill>
                <a:latin typeface="Rajdhani" pitchFamily="34" charset="0"/>
                <a:ea typeface="Rajdhani" pitchFamily="34" charset="-122"/>
                <a:cs typeface="Rajdhani" pitchFamily="34" charset="-120"/>
              </a:rPr>
              <a:t>[ CHART ]</a:t>
            </a:r>
            <a:endParaRPr lang="en-US" sz="2400" dirty="0"/>
          </a:p>
        </p:txBody>
      </p:sp>
      <p:sp>
        <p:nvSpPr>
          <p:cNvPr id="8" name="Text 5"/>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Maximum 2% portfolio risk per trade limits catastrophic losses. For illustrative purposes only.</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METHODOLOGY</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594360"/>
          </a:xfrm>
          <a:prstGeom prst="rect">
            <a:avLst/>
          </a:prstGeom>
          <a:noFill/>
          <a:ln/>
        </p:spPr>
        <p:txBody>
          <a:bodyPr wrap="square" rtlCol="0" anchor="ctr"/>
          <a:lstStyle/>
          <a:p>
            <a:pPr indent="0" marL="0">
              <a:buNone/>
            </a:pPr>
            <a:r>
              <a:rPr lang="en-US" sz="2600" b="1" dirty="0">
                <a:solidFill>
                  <a:srgbClr val="FFFFFF"/>
                </a:solidFill>
                <a:latin typeface="Rajdhani" pitchFamily="34" charset="0"/>
                <a:ea typeface="Rajdhani" pitchFamily="34" charset="-122"/>
                <a:cs typeface="Rajdhani" pitchFamily="34" charset="-120"/>
              </a:rPr>
              <a:t>BUILDING A COMPLETE TRADING SYSTEM</a:t>
            </a:r>
            <a:endParaRPr lang="en-US" sz="2600" dirty="0"/>
          </a:p>
        </p:txBody>
      </p:sp>
      <p:sp>
        <p:nvSpPr>
          <p:cNvPr id="5" name="Shape 2"/>
          <p:cNvSpPr/>
          <p:nvPr/>
        </p:nvSpPr>
        <p:spPr>
          <a:xfrm>
            <a:off x="365760" y="1691640"/>
            <a:ext cx="4572000" cy="1280160"/>
          </a:xfrm>
          <a:prstGeom prst="rect">
            <a:avLst/>
          </a:prstGeom>
          <a:solidFill>
            <a:srgbClr val="212121"/>
          </a:solidFill>
          <a:ln w="25400">
            <a:solidFill>
              <a:srgbClr val="FEC00F"/>
            </a:solidFill>
            <a:prstDash val="solid"/>
          </a:ln>
        </p:spPr>
      </p:sp>
      <p:sp>
        <p:nvSpPr>
          <p:cNvPr id="6" name="Text 3"/>
          <p:cNvSpPr/>
          <p:nvPr/>
        </p:nvSpPr>
        <p:spPr>
          <a:xfrm>
            <a:off x="548640" y="1783080"/>
            <a:ext cx="420624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MARKET REGIME</a:t>
            </a:r>
            <a:endParaRPr lang="en-US" sz="1400" dirty="0"/>
          </a:p>
        </p:txBody>
      </p:sp>
      <p:sp>
        <p:nvSpPr>
          <p:cNvPr id="7" name="Text 4"/>
          <p:cNvSpPr/>
          <p:nvPr/>
        </p:nvSpPr>
        <p:spPr>
          <a:xfrm>
            <a:off x="548640" y="219456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Bull, bear, or sideways market identification using 200-day moving average and volatility metrics</a:t>
            </a:r>
            <a:endParaRPr lang="en-US" sz="1200" dirty="0"/>
          </a:p>
        </p:txBody>
      </p:sp>
      <p:sp>
        <p:nvSpPr>
          <p:cNvPr id="8" name="Shape 5"/>
          <p:cNvSpPr/>
          <p:nvPr/>
        </p:nvSpPr>
        <p:spPr>
          <a:xfrm>
            <a:off x="365760" y="3154680"/>
            <a:ext cx="4572000" cy="1280160"/>
          </a:xfrm>
          <a:prstGeom prst="rect">
            <a:avLst/>
          </a:prstGeom>
          <a:solidFill>
            <a:srgbClr val="212121"/>
          </a:solidFill>
          <a:ln w="25400">
            <a:solidFill>
              <a:srgbClr val="FEC00F"/>
            </a:solidFill>
            <a:prstDash val="solid"/>
          </a:ln>
        </p:spPr>
      </p:sp>
      <p:sp>
        <p:nvSpPr>
          <p:cNvPr id="9" name="Text 6"/>
          <p:cNvSpPr/>
          <p:nvPr/>
        </p:nvSpPr>
        <p:spPr>
          <a:xfrm>
            <a:off x="548640" y="3246120"/>
            <a:ext cx="420624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STOCK SELECTION</a:t>
            </a:r>
            <a:endParaRPr lang="en-US" sz="1400" dirty="0"/>
          </a:p>
        </p:txBody>
      </p:sp>
      <p:sp>
        <p:nvSpPr>
          <p:cNvPr id="10" name="Text 7"/>
          <p:cNvSpPr/>
          <p:nvPr/>
        </p:nvSpPr>
        <p:spPr>
          <a:xfrm>
            <a:off x="548640" y="365760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Fundamental screening for earnings growth, technical momentum, and relative strength ranking</a:t>
            </a:r>
            <a:endParaRPr lang="en-US" sz="1200" dirty="0"/>
          </a:p>
        </p:txBody>
      </p:sp>
      <p:sp>
        <p:nvSpPr>
          <p:cNvPr id="11" name="Shape 8"/>
          <p:cNvSpPr/>
          <p:nvPr/>
        </p:nvSpPr>
        <p:spPr>
          <a:xfrm>
            <a:off x="365760" y="4617720"/>
            <a:ext cx="4572000" cy="1280160"/>
          </a:xfrm>
          <a:prstGeom prst="rect">
            <a:avLst/>
          </a:prstGeom>
          <a:solidFill>
            <a:srgbClr val="212121"/>
          </a:solidFill>
          <a:ln w="25400">
            <a:solidFill>
              <a:srgbClr val="FEC00F"/>
            </a:solidFill>
            <a:prstDash val="solid"/>
          </a:ln>
        </p:spPr>
      </p:sp>
      <p:sp>
        <p:nvSpPr>
          <p:cNvPr id="12" name="Text 9"/>
          <p:cNvSpPr/>
          <p:nvPr/>
        </p:nvSpPr>
        <p:spPr>
          <a:xfrm>
            <a:off x="548640" y="4709160"/>
            <a:ext cx="420624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ENTRY TIMING</a:t>
            </a:r>
            <a:endParaRPr lang="en-US" sz="1400" dirty="0"/>
          </a:p>
        </p:txBody>
      </p:sp>
      <p:sp>
        <p:nvSpPr>
          <p:cNvPr id="13" name="Text 10"/>
          <p:cNvSpPr/>
          <p:nvPr/>
        </p:nvSpPr>
        <p:spPr>
          <a:xfrm>
            <a:off x="548640" y="512064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Precise entry signals using breakout patterns, volume confirmation, and support/resistance levels</a:t>
            </a:r>
            <a:endParaRPr lang="en-US" sz="1200" dirty="0"/>
          </a:p>
        </p:txBody>
      </p:sp>
      <p:sp>
        <p:nvSpPr>
          <p:cNvPr id="14" name="Text 11"/>
          <p:cNvSpPr/>
          <p:nvPr/>
        </p:nvSpPr>
        <p:spPr>
          <a:xfrm>
            <a:off x="4937760" y="3520440"/>
            <a:ext cx="731520" cy="731520"/>
          </a:xfrm>
          <a:prstGeom prst="rect">
            <a:avLst/>
          </a:prstGeom>
          <a:noFill/>
          <a:ln/>
        </p:spPr>
        <p:txBody>
          <a:bodyPr wrap="square" rtlCol="0" anchor="ctr"/>
          <a:lstStyle/>
          <a:p>
            <a:pPr algn="ctr" indent="0" marL="0">
              <a:buNone/>
            </a:pPr>
            <a:r>
              <a:rPr lang="en-US" sz="3600" dirty="0">
                <a:solidFill>
                  <a:srgbClr val="FEC00F"/>
                </a:solidFill>
                <a:latin typeface="Rajdhani" pitchFamily="34" charset="0"/>
                <a:ea typeface="Rajdhani" pitchFamily="34" charset="-122"/>
                <a:cs typeface="Rajdhani" pitchFamily="34" charset="-120"/>
              </a:rPr>
              <a:t>→</a:t>
            </a:r>
            <a:endParaRPr lang="en-US" sz="3600" dirty="0"/>
          </a:p>
        </p:txBody>
      </p:sp>
      <p:sp>
        <p:nvSpPr>
          <p:cNvPr id="15" name="Shape 12"/>
          <p:cNvSpPr/>
          <p:nvPr/>
        </p:nvSpPr>
        <p:spPr>
          <a:xfrm>
            <a:off x="5852160" y="1691640"/>
            <a:ext cx="5971032" cy="4206240"/>
          </a:xfrm>
          <a:prstGeom prst="rect">
            <a:avLst/>
          </a:prstGeom>
          <a:solidFill>
            <a:srgbClr val="FEC00F"/>
          </a:solidFill>
          <a:ln/>
        </p:spPr>
      </p:sp>
      <p:sp>
        <p:nvSpPr>
          <p:cNvPr id="16" name="Text 13"/>
          <p:cNvSpPr/>
          <p:nvPr/>
        </p:nvSpPr>
        <p:spPr>
          <a:xfrm>
            <a:off x="6035040" y="1874520"/>
            <a:ext cx="5605272" cy="502920"/>
          </a:xfrm>
          <a:prstGeom prst="rect">
            <a:avLst/>
          </a:prstGeom>
          <a:noFill/>
          <a:ln/>
        </p:spPr>
        <p:txBody>
          <a:bodyPr wrap="square" rtlCol="0" anchor="ctr"/>
          <a:lstStyle/>
          <a:p>
            <a:pPr algn="ctr" indent="0" marL="0">
              <a:buNone/>
            </a:pPr>
            <a:r>
              <a:rPr lang="en-US" sz="1500" b="1" dirty="0">
                <a:solidFill>
                  <a:srgbClr val="212121"/>
                </a:solidFill>
                <a:latin typeface="Rajdhani" pitchFamily="34" charset="0"/>
                <a:ea typeface="Rajdhani" pitchFamily="34" charset="-122"/>
                <a:cs typeface="Rajdhani" pitchFamily="34" charset="-120"/>
              </a:rPr>
              <a:t>COMPLETE SYSTEM</a:t>
            </a:r>
            <a:endParaRPr lang="en-US" sz="1500" dirty="0"/>
          </a:p>
        </p:txBody>
      </p:sp>
      <p:sp>
        <p:nvSpPr>
          <p:cNvPr id="17" name="Text 14"/>
          <p:cNvSpPr/>
          <p:nvPr/>
        </p:nvSpPr>
        <p:spPr>
          <a:xfrm>
            <a:off x="6035040" y="2468880"/>
            <a:ext cx="5605272" cy="3200400"/>
          </a:xfrm>
          <a:prstGeom prst="rect">
            <a:avLst/>
          </a:prstGeom>
          <a:noFill/>
          <a:ln/>
        </p:spPr>
        <p:txBody>
          <a:bodyPr wrap="square" rtlCol="0" anchor="ctr"/>
          <a:lstStyle/>
          <a:p>
            <a:pPr algn="ctr" indent="0" marL="0">
              <a:buNone/>
            </a:pPr>
            <a:r>
              <a:rPr lang="en-US" sz="1300" dirty="0">
                <a:solidFill>
                  <a:srgbClr val="212121"/>
                </a:solidFill>
                <a:latin typeface="Quicksand" pitchFamily="34" charset="0"/>
                <a:ea typeface="Quicksand" pitchFamily="34" charset="-122"/>
                <a:cs typeface="Quicksand" pitchFamily="34" charset="-120"/>
              </a:rPr>
              <a:t>Systematic approach generating 67% win rate with 1.8:1 reward-to-risk ratio*</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731520" y="2286000"/>
            <a:ext cx="10725912" cy="1828800"/>
          </a:xfrm>
          <a:prstGeom prst="rect">
            <a:avLst/>
          </a:prstGeom>
          <a:noFill/>
          <a:ln/>
        </p:spPr>
        <p:txBody>
          <a:bodyPr wrap="square" rtlCol="0" anchor="ctr"/>
          <a:lstStyle/>
          <a:p>
            <a:pPr algn="ctr" indent="0" marL="0">
              <a:buNone/>
            </a:pPr>
            <a:r>
              <a:rPr lang="en-US" sz="4400" b="1" dirty="0">
                <a:solidFill>
                  <a:srgbClr val="212121"/>
                </a:solidFill>
                <a:latin typeface="Rajdhani" pitchFamily="34" charset="0"/>
                <a:ea typeface="Rajdhani" pitchFamily="34" charset="-122"/>
                <a:cs typeface="Rajdhani" pitchFamily="34" charset="-120"/>
              </a:rPr>
              <a:t>DATA INSIGHTS</a:t>
            </a:r>
            <a:endParaRPr lang="en-US" sz="4400" dirty="0"/>
          </a:p>
        </p:txBody>
      </p:sp>
      <p:sp>
        <p:nvSpPr>
          <p:cNvPr id="4" name="Shape 1"/>
          <p:cNvSpPr/>
          <p:nvPr/>
        </p:nvSpPr>
        <p:spPr>
          <a:xfrm>
            <a:off x="4722876" y="4251960"/>
            <a:ext cx="2743200" cy="73152"/>
          </a:xfrm>
          <a:prstGeom prst="rect">
            <a:avLst/>
          </a:prstGeom>
          <a:solidFill>
            <a:srgbClr val="FEC00F"/>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TRADING ANALYSIS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600" b="1" dirty="0">
                <a:solidFill>
                  <a:srgbClr val="212121"/>
                </a:solidFill>
                <a:latin typeface="Rajdhani" pitchFamily="34" charset="0"/>
                <a:ea typeface="Rajdhani" pitchFamily="34" charset="-122"/>
                <a:cs typeface="Rajdhani" pitchFamily="34" charset="-120"/>
              </a:rPr>
              <a:t>THE MATHEMATICS OF SUCCESSFUL STOCK TRADING</a:t>
            </a:r>
            <a:endParaRPr lang="en-US" sz="2600" dirty="0"/>
          </a:p>
        </p:txBody>
      </p:sp>
      <p:sp>
        <p:nvSpPr>
          <p:cNvPr id="5" name="Shape 2"/>
          <p:cNvSpPr/>
          <p:nvPr/>
        </p:nvSpPr>
        <p:spPr>
          <a:xfrm>
            <a:off x="365760" y="1188720"/>
            <a:ext cx="1828800" cy="54864"/>
          </a:xfrm>
          <a:prstGeom prst="rect">
            <a:avLst/>
          </a:prstGeom>
          <a:solidFill>
            <a:srgbClr val="FEC00F"/>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11457432" cy="914400"/>
        </p:xfrm>
        <a:graphic>
          <a:graphicData uri="http://schemas.openxmlformats.org/drawingml/2006/table">
            <a:tbl>
              <a:tblPr/>
              <a:tblGrid>
                <a:gridCol w="3819144"/>
                <a:gridCol w="3819144"/>
                <a:gridCol w="3819144"/>
              </a:tblGrid>
              <a:tr h="411480">
                <a:tc gridSpan="3">
                  <a:txBody>
                    <a:bodyPr/>
                    <a:lstStyle/>
                    <a:p>
                      <a:pPr algn="ctr" indent="0" marL="0">
                        <a:buNone/>
                      </a:pPr>
                      <a:r>
                        <a:rPr lang="en-US" sz="1400" b="1" dirty="0">
                          <a:solidFill>
                            <a:srgbClr val="212121"/>
                          </a:solidFill>
                          <a:latin typeface="Rajdhani" pitchFamily="34" charset="0"/>
                          <a:ea typeface="Rajdhani" pitchFamily="34" charset="-122"/>
                          <a:cs typeface="Rajdhani" pitchFamily="34" charset="-120"/>
                        </a:rPr>
                        <a:t>KEY PERFORMANCE METRICS</a:t>
                      </a:r>
                      <a:endParaRPr lang="en-US" sz="14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EC00F"/>
                    </a:solidFill>
                  </a:tcPr>
                </a:tc>
                <a:tc hMerge="1">
                  <a:tcPr/>
                </a:tc>
                <a:tc hMerge="1">
                  <a:tcPr/>
                </a:tc>
              </a:tr>
              <a:tr h="411480">
                <a:tc>
                  <a:txBody>
                    <a:bodyPr/>
                    <a:lstStyle/>
                    <a:p>
                      <a:pPr algn="ctr" indent="0" marL="0">
                        <a:buNone/>
                      </a:pP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SYSTEMATIC APPROACH*</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RANDOM TRADING</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Win Rate</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67%</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45%</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Average Win</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4.2%</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3.1%</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Average Loss</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-2.3%</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-4.7%</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Profit Factor</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1.85</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0.73</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Max Consecutive Losses</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4</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12</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Sharpe Ratio</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1.34</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0.21</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bl>
          </a:graphicData>
        </a:graphic>
      </p:graphicFrame>
      <p:sp>
        <p:nvSpPr>
          <p:cNvPr id="7" name="Text 3"/>
          <p:cNvSpPr/>
          <p:nvPr/>
        </p:nvSpPr>
        <p:spPr>
          <a:xfrm>
            <a:off x="365760" y="6355080"/>
            <a:ext cx="11457432" cy="41148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*Hypothetical systematic model results. For illustrative purposes only.</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DATA INSIGHTS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600" b="1" dirty="0">
                <a:solidFill>
                  <a:srgbClr val="FFFFFF"/>
                </a:solidFill>
                <a:latin typeface="Rajdhani" pitchFamily="34" charset="0"/>
                <a:ea typeface="Rajdhani" pitchFamily="34" charset="-122"/>
                <a:cs typeface="Rajdhani" pitchFamily="34" charset="-120"/>
              </a:rPr>
              <a:t>THE FOUR PILLARS OF STOCK SELECTION</a:t>
            </a:r>
            <a:endParaRPr lang="en-US" sz="2600" dirty="0"/>
          </a:p>
        </p:txBody>
      </p:sp>
      <p:sp>
        <p:nvSpPr>
          <p:cNvPr id="5" name="Text 2"/>
          <p:cNvSpPr/>
          <p:nvPr/>
        </p:nvSpPr>
        <p:spPr>
          <a:xfrm>
            <a:off x="365760" y="13716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EARNINGS GROWTH 25%+</a:t>
            </a:r>
            <a:endParaRPr lang="en-US" sz="1400" dirty="0"/>
          </a:p>
        </p:txBody>
      </p:sp>
      <p:sp>
        <p:nvSpPr>
          <p:cNvPr id="6" name="Text 3"/>
          <p:cNvSpPr/>
          <p:nvPr/>
        </p:nvSpPr>
        <p:spPr>
          <a:xfrm>
            <a:off x="365760" y="17373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Companies showing accelerating earnings growth over consecutive quarters</a:t>
            </a:r>
            <a:endParaRPr lang="en-US" sz="1200" dirty="0"/>
          </a:p>
        </p:txBody>
      </p:sp>
      <p:sp>
        <p:nvSpPr>
          <p:cNvPr id="7" name="Text 4"/>
          <p:cNvSpPr/>
          <p:nvPr/>
        </p:nvSpPr>
        <p:spPr>
          <a:xfrm>
            <a:off x="8074152" y="13716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TECHNICAL BREAKOUT</a:t>
            </a:r>
            <a:endParaRPr lang="en-US" sz="1400" dirty="0"/>
          </a:p>
        </p:txBody>
      </p:sp>
      <p:sp>
        <p:nvSpPr>
          <p:cNvPr id="8" name="Text 5"/>
          <p:cNvSpPr/>
          <p:nvPr/>
        </p:nvSpPr>
        <p:spPr>
          <a:xfrm>
            <a:off x="8074152" y="17373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Price breaking above resistance with above-average volume confirmation</a:t>
            </a:r>
            <a:endParaRPr lang="en-US" sz="1200" dirty="0"/>
          </a:p>
        </p:txBody>
      </p:sp>
      <p:sp>
        <p:nvSpPr>
          <p:cNvPr id="9" name="Text 6"/>
          <p:cNvSpPr/>
          <p:nvPr/>
        </p:nvSpPr>
        <p:spPr>
          <a:xfrm>
            <a:off x="365760" y="41148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RELATIVE STRENGTH 80+</a:t>
            </a:r>
            <a:endParaRPr lang="en-US" sz="1400" dirty="0"/>
          </a:p>
        </p:txBody>
      </p:sp>
      <p:sp>
        <p:nvSpPr>
          <p:cNvPr id="10" name="Text 7"/>
          <p:cNvSpPr/>
          <p:nvPr/>
        </p:nvSpPr>
        <p:spPr>
          <a:xfrm>
            <a:off x="365760" y="44805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Stock outperforming the broader market over 3, 6, and 12-month periods</a:t>
            </a:r>
            <a:endParaRPr lang="en-US" sz="1200" dirty="0"/>
          </a:p>
        </p:txBody>
      </p:sp>
      <p:sp>
        <p:nvSpPr>
          <p:cNvPr id="11" name="Text 8"/>
          <p:cNvSpPr/>
          <p:nvPr/>
        </p:nvSpPr>
        <p:spPr>
          <a:xfrm>
            <a:off x="8074152" y="41148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RISK MANAGEMENT</a:t>
            </a:r>
            <a:endParaRPr lang="en-US" sz="1400" dirty="0"/>
          </a:p>
        </p:txBody>
      </p:sp>
      <p:sp>
        <p:nvSpPr>
          <p:cNvPr id="12" name="Text 9"/>
          <p:cNvSpPr/>
          <p:nvPr/>
        </p:nvSpPr>
        <p:spPr>
          <a:xfrm>
            <a:off x="8074152" y="44805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Clear stop loss level at 7-8% below entry with 2% maximum portfolio risk</a:t>
            </a:r>
            <a:endParaRPr lang="en-US" sz="1200" dirty="0"/>
          </a:p>
        </p:txBody>
      </p:sp>
      <p:sp>
        <p:nvSpPr>
          <p:cNvPr id="13" name="Shape 10"/>
          <p:cNvSpPr/>
          <p:nvPr/>
        </p:nvSpPr>
        <p:spPr>
          <a:xfrm>
            <a:off x="4631436" y="2468880"/>
            <a:ext cx="2926080" cy="2011680"/>
          </a:xfrm>
          <a:prstGeom prst="rect">
            <a:avLst/>
          </a:prstGeom>
          <a:solidFill>
            <a:srgbClr val="212121"/>
          </a:solidFill>
          <a:ln w="25400">
            <a:solidFill>
              <a:srgbClr val="FEC00F"/>
            </a:solidFill>
            <a:prstDash val="solid"/>
          </a:ln>
        </p:spPr>
      </p:sp>
      <p:sp>
        <p:nvSpPr>
          <p:cNvPr id="14" name="Text 11"/>
          <p:cNvSpPr/>
          <p:nvPr/>
        </p:nvSpPr>
        <p:spPr>
          <a:xfrm>
            <a:off x="4631436" y="2651760"/>
            <a:ext cx="2926080" cy="45720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HIGH-PROBABILITY STOCK TRADES</a:t>
            </a:r>
            <a:endParaRPr lang="en-US" sz="1400" dirty="0"/>
          </a:p>
        </p:txBody>
      </p:sp>
      <p:sp>
        <p:nvSpPr>
          <p:cNvPr id="15" name="Text 12"/>
          <p:cNvSpPr/>
          <p:nvPr/>
        </p:nvSpPr>
        <p:spPr>
          <a:xfrm>
            <a:off x="4631436" y="3154680"/>
            <a:ext cx="2926080" cy="1097280"/>
          </a:xfrm>
          <a:prstGeom prst="rect">
            <a:avLst/>
          </a:prstGeom>
          <a:noFill/>
          <a:ln/>
        </p:spPr>
        <p:txBody>
          <a:bodyPr wrap="square" rtlCol="0" anchor="ctr"/>
          <a:lstStyle/>
          <a:p>
            <a:pPr algn="ctr" indent="0" marL="0">
              <a:buNone/>
            </a:pPr>
            <a:r>
              <a:rPr lang="en-US" sz="1200" dirty="0">
                <a:solidFill>
                  <a:srgbClr val="FFFFFF"/>
                </a:solidFill>
                <a:latin typeface="Quicksand" pitchFamily="34" charset="0"/>
                <a:ea typeface="Quicksand" pitchFamily="34" charset="-122"/>
                <a:cs typeface="Quicksand" pitchFamily="34" charset="-120"/>
              </a:rPr>
              <a:t>Combining fundamental strength with technical timing and proper risk management.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DATA INSIGHTS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MARKET TIMING EFFECTIVENESS: SECTOR ROTATION MODEL</a:t>
            </a:r>
            <a:endParaRPr lang="en-US" sz="2800" dirty="0"/>
          </a:p>
        </p:txBody>
      </p:sp>
      <p:sp>
        <p:nvSpPr>
          <p:cNvPr id="5" name="Shape 2"/>
          <p:cNvSpPr/>
          <p:nvPr/>
        </p:nvSpPr>
        <p:spPr>
          <a:xfrm>
            <a:off x="365760" y="1188720"/>
            <a:ext cx="1828800" cy="54864"/>
          </a:xfrm>
          <a:prstGeom prst="rect">
            <a:avLst/>
          </a:prstGeom>
          <a:solidFill>
            <a:srgbClr val="FEC00F"/>
          </a:solidFill>
          <a:ln/>
        </p:spPr>
      </p:sp>
      <p:sp>
        <p:nvSpPr>
          <p:cNvPr id="6" name="Shape 3"/>
          <p:cNvSpPr/>
          <p:nvPr/>
        </p:nvSpPr>
        <p:spPr>
          <a:xfrm>
            <a:off x="365760" y="1371600"/>
            <a:ext cx="11457432" cy="4754880"/>
          </a:xfrm>
          <a:prstGeom prst="rect">
            <a:avLst/>
          </a:prstGeom>
          <a:solidFill>
            <a:srgbClr val="C6C6C6"/>
          </a:solidFill>
          <a:ln w="12700">
            <a:solidFill>
              <a:srgbClr val="737373"/>
            </a:solidFill>
            <a:prstDash val="solid"/>
          </a:ln>
        </p:spPr>
      </p:sp>
      <p:sp>
        <p:nvSpPr>
          <p:cNvPr id="7" name="Text 4"/>
          <p:cNvSpPr/>
          <p:nvPr/>
        </p:nvSpPr>
        <p:spPr>
          <a:xfrm>
            <a:off x="365760" y="1371600"/>
            <a:ext cx="11457432" cy="4754880"/>
          </a:xfrm>
          <a:prstGeom prst="rect">
            <a:avLst/>
          </a:prstGeom>
          <a:noFill/>
          <a:ln/>
        </p:spPr>
        <p:txBody>
          <a:bodyPr wrap="square" rtlCol="0" anchor="ctr"/>
          <a:lstStyle/>
          <a:p>
            <a:pPr algn="ctr" indent="0" marL="0">
              <a:buNone/>
            </a:pPr>
            <a:r>
              <a:rPr lang="en-US" sz="2400" dirty="0">
                <a:solidFill>
                  <a:srgbClr val="737373"/>
                </a:solidFill>
                <a:latin typeface="Rajdhani" pitchFamily="34" charset="0"/>
                <a:ea typeface="Rajdhani" pitchFamily="34" charset="-122"/>
                <a:cs typeface="Rajdhani" pitchFamily="34" charset="-120"/>
              </a:rPr>
              <a:t>[ CHART ]</a:t>
            </a:r>
            <a:endParaRPr lang="en-US" sz="2400" dirty="0"/>
          </a:p>
        </p:txBody>
      </p:sp>
      <p:sp>
        <p:nvSpPr>
          <p:cNvPr id="8" name="Text 5"/>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Technology leads in early bull markets, utilities in late cycles. For illustrative purposes only.</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TRADING ANALYSIS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SECTOR PERFORMANCE DURING MARKET CYCLES</a:t>
            </a:r>
            <a:endParaRPr lang="en-US" sz="2800" dirty="0"/>
          </a:p>
        </p:txBody>
      </p:sp>
      <p:sp>
        <p:nvSpPr>
          <p:cNvPr id="5" name="Shape 2"/>
          <p:cNvSpPr/>
          <p:nvPr/>
        </p:nvSpPr>
        <p:spPr>
          <a:xfrm>
            <a:off x="365760" y="1188720"/>
            <a:ext cx="1828800" cy="54864"/>
          </a:xfrm>
          <a:prstGeom prst="rect">
            <a:avLst/>
          </a:prstGeom>
          <a:solidFill>
            <a:srgbClr val="FEC00F"/>
          </a:solidFill>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11457432" cy="914400"/>
        </p:xfrm>
        <a:graphic>
          <a:graphicData uri="http://schemas.openxmlformats.org/drawingml/2006/table">
            <a:tbl>
              <a:tblPr/>
              <a:tblGrid>
                <a:gridCol w="2291486"/>
                <a:gridCol w="2291486"/>
                <a:gridCol w="2291486"/>
                <a:gridCol w="2291486"/>
                <a:gridCol w="2291486"/>
              </a:tblGrid>
              <a:tr h="411480">
                <a:tc gridSpan="5">
                  <a:txBody>
                    <a:bodyPr/>
                    <a:lstStyle/>
                    <a:p>
                      <a:pPr algn="ctr" indent="0" marL="0">
                        <a:buNone/>
                      </a:pPr>
                      <a:r>
                        <a:rPr lang="en-US" sz="1400" b="1" dirty="0">
                          <a:solidFill>
                            <a:srgbClr val="212121"/>
                          </a:solidFill>
                          <a:latin typeface="Rajdhani" pitchFamily="34" charset="0"/>
                          <a:ea typeface="Rajdhani" pitchFamily="34" charset="-122"/>
                          <a:cs typeface="Rajdhani" pitchFamily="34" charset="-120"/>
                        </a:rPr>
                        <a:t>AVERAGE SECTOR RETURNS BY MARKET PHASE*</a:t>
                      </a:r>
                      <a:endParaRPr lang="en-US" sz="14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EC00F"/>
                    </a:solidFill>
                  </a:tcPr>
                </a:tc>
                <a:tc hMerge="1">
                  <a:tcPr/>
                </a:tc>
                <a:tc hMerge="1">
                  <a:tcPr/>
                </a:tc>
                <a:tc hMerge="1">
                  <a:tcPr/>
                </a:tc>
                <a:tc hMerge="1">
                  <a:tcPr/>
                </a:tc>
              </a:tr>
              <a:tr h="411480">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SECTOR</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EARLY BULL</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MID BULL</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LATE BULL</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BEAR MARKET</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Technology</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23.4%</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18.7%</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8.2%</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-31.5%</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Consumer Discretionary</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19.8%</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16.3%</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11.4%</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-28.9%</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Financials</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21.2%</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14.8%</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9.7%</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-35.2%</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Healthcare</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16.3%</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12.1%</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14.6%</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-12.4%</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Utilities</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8.7%</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9.2%</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13.8%</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-8.1%</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Consumer Staples</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11.2%</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8.9%</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12.3%</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-6.7%</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bl>
          </a:graphicData>
        </a:graphic>
      </p:graphicFrame>
      <p:sp>
        <p:nvSpPr>
          <p:cNvPr id="7" name="Text 3"/>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*Historical averages 1990-2023. For illustrative purposes only.</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TRADING IMPLEMENTATION</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FFFFFF"/>
                </a:solidFill>
                <a:latin typeface="Rajdhani" pitchFamily="34" charset="0"/>
                <a:ea typeface="Rajdhani" pitchFamily="34" charset="-122"/>
                <a:cs typeface="Rajdhani" pitchFamily="34" charset="-120"/>
              </a:rPr>
              <a:t>HOW ARE ADVISORS IMPLEMENTING TACTICAL STOCK STRATEGIES?</a:t>
            </a:r>
            <a:endParaRPr lang="en-US" sz="2800" dirty="0"/>
          </a:p>
        </p:txBody>
      </p:sp>
      <p:sp>
        <p:nvSpPr>
          <p:cNvPr id="5" name="Shape 2"/>
          <p:cNvSpPr/>
          <p:nvPr/>
        </p:nvSpPr>
        <p:spPr>
          <a:xfrm>
            <a:off x="365760" y="1554480"/>
            <a:ext cx="2560320" cy="2560320"/>
          </a:xfrm>
          <a:prstGeom prst="ellipse">
            <a:avLst/>
          </a:prstGeom>
          <a:solidFill>
            <a:srgbClr val="212121"/>
          </a:solidFill>
          <a:ln w="38100">
            <a:solidFill>
              <a:srgbClr val="FEC00F"/>
            </a:solidFill>
            <a:prstDash val="solid"/>
          </a:ln>
        </p:spPr>
      </p:sp>
      <p:sp>
        <p:nvSpPr>
          <p:cNvPr id="6" name="Text 3"/>
          <p:cNvSpPr/>
          <p:nvPr/>
        </p:nvSpPr>
        <p:spPr>
          <a:xfrm>
            <a:off x="457200"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CORE-SATELLITE APPROACH</a:t>
            </a:r>
            <a:endParaRPr lang="en-US" sz="1300" dirty="0"/>
          </a:p>
        </p:txBody>
      </p:sp>
      <p:sp>
        <p:nvSpPr>
          <p:cNvPr id="7" name="Text 4"/>
          <p:cNvSpPr/>
          <p:nvPr/>
        </p:nvSpPr>
        <p:spPr>
          <a:xfrm>
            <a:off x="457200"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Using tactical stock selection for 10-20% of equity allocation while maintaining index core holdings.</a:t>
            </a:r>
            <a:endParaRPr lang="en-US" sz="1100" dirty="0"/>
          </a:p>
        </p:txBody>
      </p:sp>
      <p:sp>
        <p:nvSpPr>
          <p:cNvPr id="8" name="Shape 5"/>
          <p:cNvSpPr/>
          <p:nvPr/>
        </p:nvSpPr>
        <p:spPr>
          <a:xfrm>
            <a:off x="3331464" y="1554480"/>
            <a:ext cx="2560320" cy="2560320"/>
          </a:xfrm>
          <a:prstGeom prst="ellipse">
            <a:avLst/>
          </a:prstGeom>
          <a:solidFill>
            <a:srgbClr val="212121"/>
          </a:solidFill>
          <a:ln w="38100">
            <a:solidFill>
              <a:srgbClr val="FEC00F"/>
            </a:solidFill>
            <a:prstDash val="solid"/>
          </a:ln>
        </p:spPr>
      </p:sp>
      <p:sp>
        <p:nvSpPr>
          <p:cNvPr id="9" name="Text 6"/>
          <p:cNvSpPr/>
          <p:nvPr/>
        </p:nvSpPr>
        <p:spPr>
          <a:xfrm>
            <a:off x="3422904"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SECTOR ROTATION</a:t>
            </a:r>
            <a:endParaRPr lang="en-US" sz="1300" dirty="0"/>
          </a:p>
        </p:txBody>
      </p:sp>
      <p:sp>
        <p:nvSpPr>
          <p:cNvPr id="10" name="Text 7"/>
          <p:cNvSpPr/>
          <p:nvPr/>
        </p:nvSpPr>
        <p:spPr>
          <a:xfrm>
            <a:off x="3422904"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Rotating between sectors based on economic cycles and technical momentum indicators.</a:t>
            </a:r>
            <a:endParaRPr lang="en-US" sz="1100" dirty="0"/>
          </a:p>
        </p:txBody>
      </p:sp>
      <p:sp>
        <p:nvSpPr>
          <p:cNvPr id="11" name="Shape 8"/>
          <p:cNvSpPr/>
          <p:nvPr/>
        </p:nvSpPr>
        <p:spPr>
          <a:xfrm>
            <a:off x="6297168" y="1554480"/>
            <a:ext cx="2560320" cy="2560320"/>
          </a:xfrm>
          <a:prstGeom prst="ellipse">
            <a:avLst/>
          </a:prstGeom>
          <a:solidFill>
            <a:srgbClr val="212121"/>
          </a:solidFill>
          <a:ln w="38100">
            <a:solidFill>
              <a:srgbClr val="FEC00F"/>
            </a:solidFill>
            <a:prstDash val="solid"/>
          </a:ln>
        </p:spPr>
      </p:sp>
      <p:sp>
        <p:nvSpPr>
          <p:cNvPr id="12" name="Text 9"/>
          <p:cNvSpPr/>
          <p:nvPr/>
        </p:nvSpPr>
        <p:spPr>
          <a:xfrm>
            <a:off x="6388608"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RISK-MANAGED GROWTH</a:t>
            </a:r>
            <a:endParaRPr lang="en-US" sz="1300" dirty="0"/>
          </a:p>
        </p:txBody>
      </p:sp>
      <p:sp>
        <p:nvSpPr>
          <p:cNvPr id="13" name="Text 10"/>
          <p:cNvSpPr/>
          <p:nvPr/>
        </p:nvSpPr>
        <p:spPr>
          <a:xfrm>
            <a:off x="6388608"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Applying systematic stop losses to growth stock positions to limit downside during corrections.</a:t>
            </a:r>
            <a:endParaRPr lang="en-US" sz="1100" dirty="0"/>
          </a:p>
        </p:txBody>
      </p:sp>
      <p:sp>
        <p:nvSpPr>
          <p:cNvPr id="14" name="Shape 11"/>
          <p:cNvSpPr/>
          <p:nvPr/>
        </p:nvSpPr>
        <p:spPr>
          <a:xfrm>
            <a:off x="9262872" y="1554480"/>
            <a:ext cx="2560320" cy="2560320"/>
          </a:xfrm>
          <a:prstGeom prst="ellipse">
            <a:avLst/>
          </a:prstGeom>
          <a:solidFill>
            <a:srgbClr val="212121"/>
          </a:solidFill>
          <a:ln w="38100">
            <a:solidFill>
              <a:srgbClr val="FEC00F"/>
            </a:solidFill>
            <a:prstDash val="solid"/>
          </a:ln>
        </p:spPr>
      </p:sp>
      <p:sp>
        <p:nvSpPr>
          <p:cNvPr id="15" name="Text 12"/>
          <p:cNvSpPr/>
          <p:nvPr/>
        </p:nvSpPr>
        <p:spPr>
          <a:xfrm>
            <a:off x="9354312"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MOMENTUM OVERLAY</a:t>
            </a:r>
            <a:endParaRPr lang="en-US" sz="1300" dirty="0"/>
          </a:p>
        </p:txBody>
      </p:sp>
      <p:sp>
        <p:nvSpPr>
          <p:cNvPr id="16" name="Text 13"/>
          <p:cNvSpPr/>
          <p:nvPr/>
        </p:nvSpPr>
        <p:spPr>
          <a:xfrm>
            <a:off x="9354312"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Adding momentum-based stock selection to traditional fundamental portfolios for enhanced returns.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IMPLEMENTATION</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822960"/>
          </a:xfrm>
          <a:prstGeom prst="rect">
            <a:avLst/>
          </a:prstGeom>
          <a:noFill/>
          <a:ln/>
        </p:spPr>
        <p:txBody>
          <a:bodyPr wrap="square" rtlCol="0" anchor="ctr"/>
          <a:lstStyle/>
          <a:p>
            <a:pPr indent="0" marL="0">
              <a:buNone/>
            </a:pPr>
            <a:r>
              <a:rPr lang="en-US" sz="2200" b="1" dirty="0">
                <a:solidFill>
                  <a:srgbClr val="FFFFFF"/>
                </a:solidFill>
                <a:latin typeface="Rajdhani" pitchFamily="34" charset="0"/>
                <a:ea typeface="Rajdhani" pitchFamily="34" charset="-122"/>
                <a:cs typeface="Rajdhani" pitchFamily="34" charset="-120"/>
              </a:rPr>
              <a:t>SUCCESSFUL STOCK TRADING REQUIRES DISCIPLINE, NOT LUCK</a:t>
            </a:r>
            <a:endParaRPr lang="en-US" sz="2200" dirty="0"/>
          </a:p>
        </p:txBody>
      </p:sp>
      <p:sp>
        <p:nvSpPr>
          <p:cNvPr id="5" name="Shape 2"/>
          <p:cNvSpPr/>
          <p:nvPr/>
        </p:nvSpPr>
        <p:spPr>
          <a:xfrm>
            <a:off x="365760" y="1554480"/>
            <a:ext cx="3636264" cy="4937760"/>
          </a:xfrm>
          <a:prstGeom prst="roundRect">
            <a:avLst>
              <a:gd name="adj" fmla="val 3772"/>
            </a:avLst>
          </a:prstGeom>
          <a:solidFill>
            <a:srgbClr val="212121"/>
          </a:solidFill>
          <a:ln w="25400">
            <a:solidFill>
              <a:srgbClr val="FEC00F"/>
            </a:solidFill>
            <a:prstDash val="solid"/>
          </a:ln>
          <a:effectLst>
            <a:outerShdw sx="100000" sy="100000" kx="0" ky="0" algn="bl" rotWithShape="0" blurRad="76200" dist="25400" dir="16200000">
              <a:srgbClr val="000000">
                <a:alpha val="20000"/>
              </a:srgbClr>
            </a:outerShdw>
          </a:effectLst>
        </p:spPr>
      </p:sp>
      <p:sp>
        <p:nvSpPr>
          <p:cNvPr id="6" name="Text 3"/>
          <p:cNvSpPr/>
          <p:nvPr/>
        </p:nvSpPr>
        <p:spPr>
          <a:xfrm>
            <a:off x="3956304" y="3749040"/>
            <a:ext cx="274320" cy="548640"/>
          </a:xfrm>
          <a:prstGeom prst="rect">
            <a:avLst/>
          </a:prstGeom>
          <a:noFill/>
          <a:ln/>
        </p:spPr>
        <p:txBody>
          <a:bodyPr wrap="square" rtlCol="0" anchor="ctr"/>
          <a:lstStyle/>
          <a:p>
            <a:pPr algn="ctr" indent="0" marL="0">
              <a:buNone/>
            </a:pPr>
            <a:r>
              <a:rPr lang="en-US" sz="2400" b="1" dirty="0">
                <a:solidFill>
                  <a:srgbClr val="FEC00F"/>
                </a:solidFill>
                <a:latin typeface="Rajdhani" pitchFamily="34" charset="0"/>
                <a:ea typeface="Rajdhani" pitchFamily="34" charset="-122"/>
                <a:cs typeface="Rajdhani" pitchFamily="34" charset="-120"/>
              </a:rPr>
              <a:t>+</a:t>
            </a:r>
            <a:endParaRPr lang="en-US" sz="2400" dirty="0"/>
          </a:p>
        </p:txBody>
      </p:sp>
      <p:sp>
        <p:nvSpPr>
          <p:cNvPr id="7" name="Shape 4"/>
          <p:cNvSpPr/>
          <p:nvPr/>
        </p:nvSpPr>
        <p:spPr>
          <a:xfrm>
            <a:off x="640080" y="1371600"/>
            <a:ext cx="3087624" cy="365760"/>
          </a:xfrm>
          <a:prstGeom prst="roundRect">
            <a:avLst>
              <a:gd name="adj" fmla="val 50000"/>
            </a:avLst>
          </a:prstGeom>
          <a:solidFill>
            <a:srgbClr val="444444"/>
          </a:solidFill>
          <a:ln/>
        </p:spPr>
      </p:sp>
      <p:sp>
        <p:nvSpPr>
          <p:cNvPr id="8" name="Text 5"/>
          <p:cNvSpPr/>
          <p:nvPr/>
        </p:nvSpPr>
        <p:spPr>
          <a:xfrm>
            <a:off x="640080" y="1371600"/>
            <a:ext cx="3087624" cy="365760"/>
          </a:xfrm>
          <a:prstGeom prst="rect">
            <a:avLst/>
          </a:prstGeom>
          <a:noFill/>
          <a:ln/>
        </p:spPr>
        <p:txBody>
          <a:bodyPr wrap="square" rtlCol="0" anchor="ctr"/>
          <a:lstStyle/>
          <a:p>
            <a:pPr algn="ctr" indent="0" marL="0">
              <a:buNone/>
            </a:pPr>
            <a:r>
              <a:rPr lang="en-US" sz="1100" b="1" dirty="0">
                <a:solidFill>
                  <a:srgbClr val="FEC00F"/>
                </a:solidFill>
                <a:latin typeface="Rajdhani" pitchFamily="34" charset="0"/>
                <a:ea typeface="Rajdhani" pitchFamily="34" charset="-122"/>
                <a:cs typeface="Rajdhani" pitchFamily="34" charset="-120"/>
              </a:rPr>
              <a:t>SYSTEMATIC PROCESS</a:t>
            </a:r>
            <a:endParaRPr lang="en-US" sz="1100" dirty="0"/>
          </a:p>
        </p:txBody>
      </p:sp>
      <p:sp>
        <p:nvSpPr>
          <p:cNvPr id="9" name="Text 6"/>
          <p:cNvSpPr/>
          <p:nvPr/>
        </p:nvSpPr>
        <p:spPr>
          <a:xfrm>
            <a:off x="502920" y="1874520"/>
            <a:ext cx="3361944" cy="4389120"/>
          </a:xfrm>
          <a:prstGeom prst="rect">
            <a:avLst/>
          </a:prstGeom>
          <a:noFill/>
          <a:ln/>
        </p:spPr>
        <p:txBody>
          <a:bodyPr wrap="square" rtlCol="0" anchor="ctr"/>
          <a:lstStyle/>
          <a:p>
            <a:pPr algn="ctr" indent="0" marL="0">
              <a:buNone/>
            </a:pPr>
            <a:r>
              <a:rPr lang="en-US" sz="1300" dirty="0">
                <a:solidFill>
                  <a:srgbClr val="FFFFFF"/>
                </a:solidFill>
                <a:latin typeface="Quicksand" pitchFamily="34" charset="0"/>
                <a:ea typeface="Quicksand" pitchFamily="34" charset="-122"/>
                <a:cs typeface="Quicksand" pitchFamily="34" charset="-120"/>
              </a:rPr>
              <a:t>Rules-based approach eliminates emotional decision-making and creates repeatable results over time.</a:t>
            </a:r>
            <a:endParaRPr lang="en-US" sz="1300" dirty="0"/>
          </a:p>
        </p:txBody>
      </p:sp>
      <p:sp>
        <p:nvSpPr>
          <p:cNvPr id="10" name="Shape 7"/>
          <p:cNvSpPr/>
          <p:nvPr/>
        </p:nvSpPr>
        <p:spPr>
          <a:xfrm>
            <a:off x="4093464" y="1554480"/>
            <a:ext cx="3636264" cy="4937760"/>
          </a:xfrm>
          <a:prstGeom prst="roundRect">
            <a:avLst>
              <a:gd name="adj" fmla="val 3772"/>
            </a:avLst>
          </a:prstGeom>
          <a:solidFill>
            <a:srgbClr val="212121"/>
          </a:solidFill>
          <a:ln w="25400">
            <a:solidFill>
              <a:srgbClr val="FEC00F"/>
            </a:solidFill>
            <a:prstDash val="solid"/>
          </a:ln>
          <a:effectLst>
            <a:outerShdw sx="100000" sy="100000" kx="0" ky="0" algn="bl" rotWithShape="0" blurRad="76200" dist="25400" dir="16200000">
              <a:srgbClr val="000000">
                <a:alpha val="20000"/>
              </a:srgbClr>
            </a:outerShdw>
          </a:effectLst>
        </p:spPr>
      </p:sp>
      <p:sp>
        <p:nvSpPr>
          <p:cNvPr id="11" name="Text 8"/>
          <p:cNvSpPr/>
          <p:nvPr/>
        </p:nvSpPr>
        <p:spPr>
          <a:xfrm>
            <a:off x="7684008" y="3749040"/>
            <a:ext cx="274320" cy="548640"/>
          </a:xfrm>
          <a:prstGeom prst="rect">
            <a:avLst/>
          </a:prstGeom>
          <a:noFill/>
          <a:ln/>
        </p:spPr>
        <p:txBody>
          <a:bodyPr wrap="square" rtlCol="0" anchor="ctr"/>
          <a:lstStyle/>
          <a:p>
            <a:pPr algn="ctr" indent="0" marL="0">
              <a:buNone/>
            </a:pPr>
            <a:r>
              <a:rPr lang="en-US" sz="2400" b="1" dirty="0">
                <a:solidFill>
                  <a:srgbClr val="FEC00F"/>
                </a:solidFill>
                <a:latin typeface="Rajdhani" pitchFamily="34" charset="0"/>
                <a:ea typeface="Rajdhani" pitchFamily="34" charset="-122"/>
                <a:cs typeface="Rajdhani" pitchFamily="34" charset="-120"/>
              </a:rPr>
              <a:t>=</a:t>
            </a:r>
            <a:endParaRPr lang="en-US" sz="2400" dirty="0"/>
          </a:p>
        </p:txBody>
      </p:sp>
      <p:sp>
        <p:nvSpPr>
          <p:cNvPr id="12" name="Shape 9"/>
          <p:cNvSpPr/>
          <p:nvPr/>
        </p:nvSpPr>
        <p:spPr>
          <a:xfrm>
            <a:off x="4367784" y="1371600"/>
            <a:ext cx="3087624" cy="365760"/>
          </a:xfrm>
          <a:prstGeom prst="roundRect">
            <a:avLst>
              <a:gd name="adj" fmla="val 50000"/>
            </a:avLst>
          </a:prstGeom>
          <a:solidFill>
            <a:srgbClr val="444444"/>
          </a:solidFill>
          <a:ln/>
        </p:spPr>
      </p:sp>
      <p:sp>
        <p:nvSpPr>
          <p:cNvPr id="13" name="Text 10"/>
          <p:cNvSpPr/>
          <p:nvPr/>
        </p:nvSpPr>
        <p:spPr>
          <a:xfrm>
            <a:off x="4367784" y="1371600"/>
            <a:ext cx="3087624" cy="365760"/>
          </a:xfrm>
          <a:prstGeom prst="rect">
            <a:avLst/>
          </a:prstGeom>
          <a:noFill/>
          <a:ln/>
        </p:spPr>
        <p:txBody>
          <a:bodyPr wrap="square" rtlCol="0" anchor="ctr"/>
          <a:lstStyle/>
          <a:p>
            <a:pPr algn="ctr" indent="0" marL="0">
              <a:buNone/>
            </a:pPr>
            <a:r>
              <a:rPr lang="en-US" sz="1100" b="1" dirty="0">
                <a:solidFill>
                  <a:srgbClr val="FEC00F"/>
                </a:solidFill>
                <a:latin typeface="Rajdhani" pitchFamily="34" charset="0"/>
                <a:ea typeface="Rajdhani" pitchFamily="34" charset="-122"/>
                <a:cs typeface="Rajdhani" pitchFamily="34" charset="-120"/>
              </a:rPr>
              <a:t>RISK MANAGEMENT</a:t>
            </a:r>
            <a:endParaRPr lang="en-US" sz="1100" dirty="0"/>
          </a:p>
        </p:txBody>
      </p:sp>
      <p:sp>
        <p:nvSpPr>
          <p:cNvPr id="14" name="Text 11"/>
          <p:cNvSpPr/>
          <p:nvPr/>
        </p:nvSpPr>
        <p:spPr>
          <a:xfrm>
            <a:off x="4230624" y="1874520"/>
            <a:ext cx="3361944" cy="4389120"/>
          </a:xfrm>
          <a:prstGeom prst="rect">
            <a:avLst/>
          </a:prstGeom>
          <a:noFill/>
          <a:ln/>
        </p:spPr>
        <p:txBody>
          <a:bodyPr wrap="square" rtlCol="0" anchor="ctr"/>
          <a:lstStyle/>
          <a:p>
            <a:pPr algn="ctr" indent="0" marL="0">
              <a:buNone/>
            </a:pPr>
            <a:r>
              <a:rPr lang="en-US" sz="1300" dirty="0">
                <a:solidFill>
                  <a:srgbClr val="FFFFFF"/>
                </a:solidFill>
                <a:latin typeface="Quicksand" pitchFamily="34" charset="0"/>
                <a:ea typeface="Quicksand" pitchFamily="34" charset="-122"/>
                <a:cs typeface="Quicksand" pitchFamily="34" charset="-120"/>
              </a:rPr>
              <a:t>Position sizing and stop losses prevent any single trade from causing significant portfolio damage.</a:t>
            </a:r>
            <a:endParaRPr lang="en-US" sz="1300" dirty="0"/>
          </a:p>
        </p:txBody>
      </p:sp>
      <p:sp>
        <p:nvSpPr>
          <p:cNvPr id="15" name="Shape 12"/>
          <p:cNvSpPr/>
          <p:nvPr/>
        </p:nvSpPr>
        <p:spPr>
          <a:xfrm>
            <a:off x="7821168" y="1554480"/>
            <a:ext cx="3636264" cy="4937760"/>
          </a:xfrm>
          <a:prstGeom prst="roundRect">
            <a:avLst>
              <a:gd name="adj" fmla="val 3772"/>
            </a:avLst>
          </a:prstGeom>
          <a:solidFill>
            <a:srgbClr val="FEC00F"/>
          </a:solidFill>
          <a:ln w="25400">
            <a:solidFill>
              <a:srgbClr val="FEC00F"/>
            </a:solidFill>
            <a:prstDash val="solid"/>
          </a:ln>
          <a:effectLst>
            <a:outerShdw sx="100000" sy="100000" kx="0" ky="0" algn="bl" rotWithShape="0" blurRad="76200" dist="25400" dir="16200000">
              <a:srgbClr val="000000">
                <a:alpha val="20000"/>
              </a:srgbClr>
            </a:outerShdw>
          </a:effectLst>
        </p:spPr>
      </p:sp>
      <p:sp>
        <p:nvSpPr>
          <p:cNvPr id="16" name="Shape 13"/>
          <p:cNvSpPr/>
          <p:nvPr/>
        </p:nvSpPr>
        <p:spPr>
          <a:xfrm>
            <a:off x="8095488" y="1371600"/>
            <a:ext cx="3087624" cy="365760"/>
          </a:xfrm>
          <a:prstGeom prst="roundRect">
            <a:avLst>
              <a:gd name="adj" fmla="val 50000"/>
            </a:avLst>
          </a:prstGeom>
          <a:solidFill>
            <a:srgbClr val="FEC00F"/>
          </a:solidFill>
          <a:ln/>
        </p:spPr>
      </p:sp>
      <p:sp>
        <p:nvSpPr>
          <p:cNvPr id="17" name="Text 14"/>
          <p:cNvSpPr/>
          <p:nvPr/>
        </p:nvSpPr>
        <p:spPr>
          <a:xfrm>
            <a:off x="8095488" y="1371600"/>
            <a:ext cx="3087624" cy="365760"/>
          </a:xfrm>
          <a:prstGeom prst="rect">
            <a:avLst/>
          </a:prstGeom>
          <a:noFill/>
          <a:ln/>
        </p:spPr>
        <p:txBody>
          <a:bodyPr wrap="square" rtlCol="0" anchor="ctr"/>
          <a:lstStyle/>
          <a:p>
            <a:pPr algn="ctr" indent="0" marL="0">
              <a:buNone/>
            </a:pPr>
            <a:r>
              <a:rPr lang="en-US" sz="1100" b="1" dirty="0">
                <a:solidFill>
                  <a:srgbClr val="212121"/>
                </a:solidFill>
                <a:latin typeface="Rajdhani" pitchFamily="34" charset="0"/>
                <a:ea typeface="Rajdhani" pitchFamily="34" charset="-122"/>
                <a:cs typeface="Rajdhani" pitchFamily="34" charset="-120"/>
              </a:rPr>
              <a:t>CONSISTENT PROFITS</a:t>
            </a:r>
            <a:endParaRPr lang="en-US" sz="1100" dirty="0"/>
          </a:p>
        </p:txBody>
      </p:sp>
      <p:sp>
        <p:nvSpPr>
          <p:cNvPr id="18" name="Text 15"/>
          <p:cNvSpPr/>
          <p:nvPr/>
        </p:nvSpPr>
        <p:spPr>
          <a:xfrm>
            <a:off x="7958328" y="1874520"/>
            <a:ext cx="3361944" cy="4389120"/>
          </a:xfrm>
          <a:prstGeom prst="rect">
            <a:avLst/>
          </a:prstGeom>
          <a:noFill/>
          <a:ln/>
        </p:spPr>
        <p:txBody>
          <a:bodyPr wrap="square" rtlCol="0" anchor="ctr"/>
          <a:lstStyle/>
          <a:p>
            <a:pPr algn="ctr" indent="0" marL="0">
              <a:buNone/>
            </a:pPr>
            <a:r>
              <a:rPr lang="en-US" sz="1300" dirty="0">
                <a:solidFill>
                  <a:srgbClr val="212121"/>
                </a:solidFill>
                <a:latin typeface="Quicksand" pitchFamily="34" charset="0"/>
                <a:ea typeface="Quicksand" pitchFamily="34" charset="-122"/>
                <a:cs typeface="Quicksand" pitchFamily="34" charset="-120"/>
              </a:rPr>
              <a:t>Mathematical edge compounds over time when applied systematically across multiple trades.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full-logo.png">    </p:cNvPr>
          <p:cNvPicPr>
            <a:picLocks noChangeAspect="1"/>
          </p:cNvPicPr>
          <p:nvPr/>
        </p:nvPicPr>
        <p:blipFill>
          <a:blip r:embed="rId1"/>
          <a:srcRect l="0" r="0" t="0" b="0"/>
          <a:stretch/>
        </p:blipFill>
        <p:spPr>
          <a:xfrm>
            <a:off x="365760" y="228600"/>
            <a:ext cx="1828800" cy="594360"/>
          </a:xfrm>
          <a:prstGeom prst="rect">
            <a:avLst/>
          </a:prstGeom>
        </p:spPr>
      </p:pic>
      <p:sp>
        <p:nvSpPr>
          <p:cNvPr id="3" name="Text 0"/>
          <p:cNvSpPr/>
          <p:nvPr/>
        </p:nvSpPr>
        <p:spPr>
          <a:xfrm>
            <a:off x="365760" y="2286000"/>
            <a:ext cx="11457432" cy="1371600"/>
          </a:xfrm>
          <a:prstGeom prst="rect">
            <a:avLst/>
          </a:prstGeom>
          <a:noFill/>
          <a:ln/>
        </p:spPr>
        <p:txBody>
          <a:bodyPr wrap="square" rtlCol="0" anchor="ctr"/>
          <a:lstStyle/>
          <a:p>
            <a:pPr algn="ctr" indent="0" marL="0">
              <a:buNone/>
            </a:pPr>
            <a:r>
              <a:rPr lang="en-US" sz="6000" b="1" dirty="0">
                <a:solidFill>
                  <a:srgbClr val="FFFFFF"/>
                </a:solidFill>
                <a:latin typeface="Rajdhani" pitchFamily="34" charset="0"/>
                <a:ea typeface="Rajdhani" pitchFamily="34" charset="-122"/>
                <a:cs typeface="Rajdhani" pitchFamily="34" charset="-120"/>
              </a:rPr>
              <a:t>THANK YOU!</a:t>
            </a:r>
            <a:endParaRPr lang="en-US" sz="6000" dirty="0"/>
          </a:p>
        </p:txBody>
      </p:sp>
      <p:sp>
        <p:nvSpPr>
          <p:cNvPr id="4" name="Text 1"/>
          <p:cNvSpPr/>
          <p:nvPr/>
        </p:nvSpPr>
        <p:spPr>
          <a:xfrm>
            <a:off x="365760" y="3840480"/>
            <a:ext cx="11457432" cy="548640"/>
          </a:xfrm>
          <a:prstGeom prst="rect">
            <a:avLst/>
          </a:prstGeom>
          <a:noFill/>
          <a:ln/>
        </p:spPr>
        <p:txBody>
          <a:bodyPr wrap="square" rtlCol="0" anchor="ctr"/>
          <a:lstStyle/>
          <a:p>
            <a:pPr algn="ctr" indent="0" marL="0">
              <a:buNone/>
            </a:pPr>
            <a:r>
              <a:rPr lang="en-US" sz="1600" i="1" dirty="0">
                <a:solidFill>
                  <a:srgbClr val="FEC00F"/>
                </a:solidFill>
                <a:latin typeface="Quicksand" pitchFamily="34" charset="0"/>
                <a:ea typeface="Quicksand" pitchFamily="34" charset="-122"/>
                <a:cs typeface="Quicksand" pitchFamily="34" charset="-120"/>
              </a:rPr>
              <a:t>We have a team of regional consultants ready to help.</a:t>
            </a:r>
            <a:endParaRPr lang="en-US" sz="1600" dirty="0"/>
          </a:p>
        </p:txBody>
      </p:sp>
      <p:sp>
        <p:nvSpPr>
          <p:cNvPr id="5" name="Text 2"/>
          <p:cNvSpPr/>
          <p:nvPr/>
        </p:nvSpPr>
        <p:spPr>
          <a:xfrm>
            <a:off x="365760" y="4754880"/>
            <a:ext cx="11457432" cy="365760"/>
          </a:xfrm>
          <a:prstGeom prst="rect">
            <a:avLst/>
          </a:prstGeom>
          <a:noFill/>
          <a:ln/>
        </p:spPr>
        <p:txBody>
          <a:bodyPr wrap="square" rtlCol="0" anchor="ctr"/>
          <a:lstStyle/>
          <a:p>
            <a:pPr algn="ctr" indent="0" marL="0">
              <a:buNone/>
            </a:pPr>
            <a:r>
              <a:rPr lang="en-US" sz="1400" u="sng" dirty="0">
                <a:solidFill>
                  <a:srgbClr val="FFFFFF"/>
                </a:solidFill>
                <a:latin typeface="Quicksand" pitchFamily="34" charset="0"/>
                <a:ea typeface="Quicksand" pitchFamily="34" charset="-122"/>
                <a:cs typeface="Quicksand" pitchFamily="34" charset="-120"/>
                <a:hlinkClick r:id="rId2" invalidUrl="" action="" tgtFrame="" tooltip="" history="1" highlightClick="0" endSnd="0">
                  <a:extLst>
                    <a:ext uri="{A12FA001-AC4F-418D-AE19-62706E023703}">
                      <ahyp:hlinkClr xmlns:ahyp="http://schemas.microsoft.com/office/drawing/2018/hyperlinkcolor" val="tx"/>
                    </a:ext>
                  </a:extLst>
                </a:hlinkClick>
              </a:rPr>
              <a:t>potomac.com</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365760" y="228600"/>
            <a:ext cx="10817352" cy="502920"/>
          </a:xfrm>
          <a:prstGeom prst="rect">
            <a:avLst/>
          </a:prstGeom>
          <a:noFill/>
          <a:ln/>
        </p:spPr>
        <p:txBody>
          <a:bodyPr wrap="square" rtlCol="0" anchor="ctr"/>
          <a:lstStyle/>
          <a:p>
            <a:pPr indent="0" marL="0">
              <a:buNone/>
            </a:pPr>
            <a:r>
              <a:rPr lang="en-US" sz="2200" b="1" dirty="0">
                <a:solidFill>
                  <a:srgbClr val="FEC00F"/>
                </a:solidFill>
                <a:latin typeface="Rajdhani" pitchFamily="34" charset="0"/>
                <a:ea typeface="Rajdhani" pitchFamily="34" charset="-122"/>
                <a:cs typeface="Rajdhani" pitchFamily="34" charset="-120"/>
              </a:rPr>
              <a:t>DISCLOSURES</a:t>
            </a:r>
            <a:endParaRPr lang="en-US" sz="2200" dirty="0"/>
          </a:p>
        </p:txBody>
      </p:sp>
      <p:sp>
        <p:nvSpPr>
          <p:cNvPr id="4" name="Text 1"/>
          <p:cNvSpPr/>
          <p:nvPr/>
        </p:nvSpPr>
        <p:spPr>
          <a:xfrm>
            <a:off x="365760" y="822960"/>
            <a:ext cx="11457432" cy="5852160"/>
          </a:xfrm>
          <a:prstGeom prst="rect">
            <a:avLst/>
          </a:prstGeom>
          <a:noFill/>
          <a:ln/>
        </p:spPr>
        <p:txBody>
          <a:bodyPr wrap="square" rtlCol="0" anchor="ctr"/>
          <a:lstStyle/>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Potomac is a registered investment adviser. Registration with the SEC does not imply a certain level of skill or training. The information presented herein is for informational and educational purposes only and is not intended as investment advice. Past performance does not guarantee future results. All investing involves risk, including possible loss of principal. The strategies described may not be suitable for all investors.</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Indices referenced are unmanaged and cannot be invested in directly. The S&amp;P 500 Index is a market-capitalization-weighted index of 500 leading publicly traded companies in the U.S.</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Please refer to Potomac's Form ADV Part 2A for additional information about our services, fees, and risks. A copy is available at www.adviserinfo.sec.gov or by contacting us at info@potomac.com.</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PFM-508-20260221</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365760" y="228600"/>
            <a:ext cx="10817352" cy="502920"/>
          </a:xfrm>
          <a:prstGeom prst="rect">
            <a:avLst/>
          </a:prstGeom>
          <a:noFill/>
          <a:ln/>
        </p:spPr>
        <p:txBody>
          <a:bodyPr wrap="square" rtlCol="0" anchor="ctr"/>
          <a:lstStyle/>
          <a:p>
            <a:pPr indent="0" marL="0">
              <a:buNone/>
            </a:pPr>
            <a:r>
              <a:rPr lang="en-US" sz="1800" b="1" dirty="0">
                <a:solidFill>
                  <a:srgbClr val="FEC00F"/>
                </a:solidFill>
                <a:latin typeface="Rajdhani" pitchFamily="34" charset="0"/>
                <a:ea typeface="Rajdhani" pitchFamily="34" charset="-122"/>
                <a:cs typeface="Rajdhani" pitchFamily="34" charset="-120"/>
              </a:rPr>
              <a:t>IMPORTANT DEFINITIONS USED IN THIS REPORT</a:t>
            </a:r>
            <a:endParaRPr lang="en-US" sz="1800" dirty="0"/>
          </a:p>
        </p:txBody>
      </p:sp>
      <p:sp>
        <p:nvSpPr>
          <p:cNvPr id="4" name="Text 1"/>
          <p:cNvSpPr/>
          <p:nvPr/>
        </p:nvSpPr>
        <p:spPr>
          <a:xfrm>
            <a:off x="365760" y="868680"/>
            <a:ext cx="11457432" cy="5852160"/>
          </a:xfrm>
          <a:prstGeom prst="rect">
            <a:avLst/>
          </a:prstGeom>
          <a:noFill/>
          <a:ln/>
        </p:spPr>
        <p:txBody>
          <a:bodyPr wrap="square" rtlCol="0" anchor="ctr"/>
          <a:lstStyle/>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Sharpe Ratio: A measure of risk-adjusted return calculated by dividing excess return by standard deviation of returns.</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Profit Factor: The ratio of gross profits to gross losses, indicating overall system profitability.</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Maximum Drawdown: The largest peak-to-trough decline in portfolio value during a specific period.</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Relative Strength: A stock's performance compared to the broader market or sector over a specified time period.</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Win Rate: The percentage of trades that result in profits, calculated as winning trades divided by total trades.</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Support and Resistance: Price levels where stocks tend to find buying interest (support) or selling pressure (resistance).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Potomac Fund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SCIENCE OF TACTICAL STOCK TRADING</dc:title>
  <dc:subject>Investment Strategy Presentation</dc:subject>
  <dc:creator>Potomac Fund Management</dc:creator>
  <cp:lastModifiedBy>Potomac Fund Management</cp:lastModifiedBy>
  <cp:revision>1</cp:revision>
  <dcterms:created xsi:type="dcterms:W3CDTF">2026-02-21T16:43:20Z</dcterms:created>
  <dcterms:modified xsi:type="dcterms:W3CDTF">2026-02-21T16:43:20Z</dcterms:modified>
</cp:coreProperties>
</file>