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eb8bed-d6d1-1d4e-dc3b-4191fb9216fc}">
          <p14:sldIdLst/>
        </p14:section>
        <p14:section name="Default-1" id="{110b4496-a097-a353-805a-bb1eb35d8d72}">
          <p14:sldIdLst>
            <p14:sldId id="256"/>
          </p14:sldIdLst>
        </p14:section>
        <p14:section name="PROCESS" id="{2fc03f6c-bc0d-2360-13c3-c6025c69d2c6}">
          <p14:sldIdLst/>
        </p14:section>
        <p14:section name="Default-2" id="{4bedff2c-041f-e846-0be9-62fdaa023f58}">
          <p14:sldIdLst>
            <p14:sldId id="257"/>
            <p14:sldId id="258"/>
            <p14:sldId id="259"/>
            <p14:sldId id="260"/>
            <p14:sldId id="261"/>
            <p14:sldId id="262"/>
            <p14:sldId id="263"/>
          </p14:sldIdLst>
        </p14:section>
        <p14:section name="STRATEGY DETAILS" id="{0d03b50e-2f44-f41f-7cb0-08d76f0abf04}">
          <p14:sldIdLst/>
        </p14:section>
        <p14:section name="Default-3" id="{605a06a5-a6a5-a89e-d364-0c2978a44427}">
          <p14:sldIdLst>
            <p14:sldId id="264"/>
            <p14:sldId id="265"/>
            <p14:sldId id="266"/>
            <p14:sldId id="267"/>
            <p14:sldId id="268"/>
          </p14:sldIdLst>
        </p14:section>
        <p14:section name="Closing" id="{bbfc2285-165d-fd0b-332b-cd306e8e2c18}">
          <p14:sldIdLst/>
        </p14:section>
        <p14:section name="Default-4" id="{53ee0ea6-4860-1d1a-4d2e-65f396c0591a}">
          <p14:sldIdLst>
            <p14:sldId id="269"/>
          </p14:sldIdLst>
        </p14:section>
        <p14:section name="Appendix" id="{29a96395-b91d-eb84-7284-ae5b04eb2926}">
          <p14:sldIdLst/>
        </p14:section>
        <p14:section name="Default-5" id="{7c914f94-3e37-66b5-a9cd-8f4b2053a918}">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E8E9E"/>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E8E9E"/>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E8E9E"/>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3D"/>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F6B35"/>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F6B35"/>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TACTICAL INVESTING OVERVIEW</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F6B35"/>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F6B3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D2D3D"/>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F6B35"/>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QUANTITATIVE MARKET ANALYSIS: THREE PILLARS APPROACH</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F6B35"/>
                </a:solidFill>
                <a:latin typeface="Rajdhani" pitchFamily="34" charset="0"/>
                <a:ea typeface="Rajdhani" pitchFamily="34" charset="-122"/>
                <a:cs typeface="Rajdhani" pitchFamily="34" charset="-120"/>
              </a:rPr>
              <a:t>REAL MARKET DATA DRIVING TACTICAL INVESTMENT DECISIONS</a:t>
            </a:r>
            <a:endParaRPr lang="en-US" sz="1600" dirty="0"/>
          </a:p>
        </p:txBody>
      </p:sp>
      <p:sp>
        <p:nvSpPr>
          <p:cNvPr id="6" name="Shape 3"/>
          <p:cNvSpPr/>
          <p:nvPr/>
        </p:nvSpPr>
        <p:spPr>
          <a:xfrm>
            <a:off x="1796796" y="2560320"/>
            <a:ext cx="2377440" cy="2377440"/>
          </a:xfrm>
          <a:prstGeom prst="ellipse">
            <a:avLst/>
          </a:prstGeom>
          <a:solidFill>
            <a:srgbClr val="2D2D3D"/>
          </a:solidFill>
          <a:ln w="12700">
            <a:solidFill>
              <a:srgbClr val="FF6B35"/>
            </a:solidFill>
            <a:prstDash val="solid"/>
          </a:ln>
        </p:spPr>
      </p:sp>
      <p:sp>
        <p:nvSpPr>
          <p:cNvPr id="7" name="Shape 4"/>
          <p:cNvSpPr/>
          <p:nvPr/>
        </p:nvSpPr>
        <p:spPr>
          <a:xfrm>
            <a:off x="2574036" y="2880360"/>
            <a:ext cx="822960" cy="822960"/>
          </a:xfrm>
          <a:prstGeom prst="ellipse">
            <a:avLst/>
          </a:prstGeom>
          <a:solidFill>
            <a:srgbClr val="FF6B35"/>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D2D3D"/>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TREND DIRECTION</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(Up, Down or Sideways)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8E8E9E"/>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D2D3D"/>
          </a:solidFill>
          <a:ln w="12700">
            <a:solidFill>
              <a:srgbClr val="FF6B35"/>
            </a:solidFill>
            <a:prstDash val="solid"/>
          </a:ln>
        </p:spPr>
      </p:sp>
      <p:sp>
        <p:nvSpPr>
          <p:cNvPr id="13" name="Shape 10"/>
          <p:cNvSpPr/>
          <p:nvPr/>
        </p:nvSpPr>
        <p:spPr>
          <a:xfrm>
            <a:off x="5682996" y="2880360"/>
            <a:ext cx="822960" cy="822960"/>
          </a:xfrm>
          <a:prstGeom prst="ellipse">
            <a:avLst/>
          </a:prstGeom>
          <a:solidFill>
            <a:srgbClr val="FF6B35"/>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D2D3D"/>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TREND HEALTH</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(Breadth and Volume Confirmation)</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8E8E9E"/>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D2D3D"/>
          </a:solidFill>
          <a:ln w="12700">
            <a:solidFill>
              <a:srgbClr val="FF6B35"/>
            </a:solidFill>
            <a:prstDash val="solid"/>
          </a:ln>
        </p:spPr>
      </p:sp>
      <p:sp>
        <p:nvSpPr>
          <p:cNvPr id="19" name="Shape 16"/>
          <p:cNvSpPr/>
          <p:nvPr/>
        </p:nvSpPr>
        <p:spPr>
          <a:xfrm>
            <a:off x="8791956" y="2880360"/>
            <a:ext cx="822960" cy="822960"/>
          </a:xfrm>
          <a:prstGeom prst="ellipse">
            <a:avLst/>
          </a:prstGeom>
          <a:solidFill>
            <a:srgbClr val="FF6B35"/>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D2D3D"/>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INTERMARKET CONFIRMATION</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(Cross-Market Relationships)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TREND DIRECTION</a:t>
            </a:r>
            <a:endParaRPr lang="en-US" sz="2800" dirty="0"/>
          </a:p>
        </p:txBody>
      </p:sp>
      <p:sp>
        <p:nvSpPr>
          <p:cNvPr id="5" name="Shape 2"/>
          <p:cNvSpPr/>
          <p:nvPr/>
        </p:nvSpPr>
        <p:spPr>
          <a:xfrm>
            <a:off x="365760" y="1188720"/>
            <a:ext cx="1828800" cy="54864"/>
          </a:xfrm>
          <a:prstGeom prst="rect">
            <a:avLst/>
          </a:prstGeom>
          <a:solidFill>
            <a:srgbClr val="FF6B35"/>
          </a:solidFill>
          <a:ln/>
        </p:spPr>
      </p:sp>
      <p:sp>
        <p:nvSpPr>
          <p:cNvPr id="6" name="Shape 3"/>
          <p:cNvSpPr/>
          <p:nvPr/>
        </p:nvSpPr>
        <p:spPr>
          <a:xfrm>
            <a:off x="365760" y="1371600"/>
            <a:ext cx="11457432" cy="4754880"/>
          </a:xfrm>
          <a:prstGeom prst="rect">
            <a:avLst/>
          </a:prstGeom>
          <a:solidFill>
            <a:srgbClr val="D0D0D8"/>
          </a:solidFill>
          <a:ln w="12700">
            <a:solidFill>
              <a:srgbClr val="8E8E9E"/>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8E8E9E"/>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TREND HEALTH</a:t>
            </a:r>
            <a:endParaRPr lang="en-US" sz="2800" dirty="0"/>
          </a:p>
        </p:txBody>
      </p:sp>
      <p:sp>
        <p:nvSpPr>
          <p:cNvPr id="5" name="Shape 2"/>
          <p:cNvSpPr/>
          <p:nvPr/>
        </p:nvSpPr>
        <p:spPr>
          <a:xfrm>
            <a:off x="365760" y="1188720"/>
            <a:ext cx="1828800" cy="54864"/>
          </a:xfrm>
          <a:prstGeom prst="rect">
            <a:avLst/>
          </a:prstGeom>
          <a:solidFill>
            <a:srgbClr val="FF6B35"/>
          </a:solidFill>
          <a:ln/>
        </p:spPr>
      </p:sp>
      <p:sp>
        <p:nvSpPr>
          <p:cNvPr id="6" name="Shape 3"/>
          <p:cNvSpPr/>
          <p:nvPr/>
        </p:nvSpPr>
        <p:spPr>
          <a:xfrm>
            <a:off x="365760" y="1371600"/>
            <a:ext cx="11457432" cy="4754880"/>
          </a:xfrm>
          <a:prstGeom prst="rect">
            <a:avLst/>
          </a:prstGeom>
          <a:solidFill>
            <a:srgbClr val="D0D0D8"/>
          </a:solidFill>
          <a:ln w="12700">
            <a:solidFill>
              <a:srgbClr val="8E8E9E"/>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8E8E9E"/>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INTERMARKET CONFIRMATION</a:t>
            </a:r>
            <a:endParaRPr lang="en-US" sz="2800" dirty="0"/>
          </a:p>
        </p:txBody>
      </p:sp>
      <p:sp>
        <p:nvSpPr>
          <p:cNvPr id="5" name="Shape 2"/>
          <p:cNvSpPr/>
          <p:nvPr/>
        </p:nvSpPr>
        <p:spPr>
          <a:xfrm>
            <a:off x="365760" y="1188720"/>
            <a:ext cx="1828800" cy="54864"/>
          </a:xfrm>
          <a:prstGeom prst="rect">
            <a:avLst/>
          </a:prstGeom>
          <a:solidFill>
            <a:srgbClr val="FF6B35"/>
          </a:solidFill>
          <a:ln/>
        </p:spPr>
      </p:sp>
      <p:sp>
        <p:nvSpPr>
          <p:cNvPr id="6" name="Shape 3"/>
          <p:cNvSpPr/>
          <p:nvPr/>
        </p:nvSpPr>
        <p:spPr>
          <a:xfrm>
            <a:off x="365760" y="1371600"/>
            <a:ext cx="11457432" cy="4754880"/>
          </a:xfrm>
          <a:prstGeom prst="rect">
            <a:avLst/>
          </a:prstGeom>
          <a:solidFill>
            <a:srgbClr val="D0D0D8"/>
          </a:solidFill>
          <a:ln w="12700">
            <a:solidFill>
              <a:srgbClr val="8E8E9E"/>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8E8E9E"/>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OUR COMPOSITES COMBINE SYSTEMS TO MANAGE RISK AND CAPTURE OPPORTUNITY</a:t>
            </a:r>
            <a:endParaRPr lang="en-US" sz="2200" dirty="0"/>
          </a:p>
        </p:txBody>
      </p:sp>
      <p:sp>
        <p:nvSpPr>
          <p:cNvPr id="5" name="Shape 2"/>
          <p:cNvSpPr/>
          <p:nvPr/>
        </p:nvSpPr>
        <p:spPr>
          <a:xfrm>
            <a:off x="365760" y="1554480"/>
            <a:ext cx="3636264" cy="4937760"/>
          </a:xfrm>
          <a:prstGeom prst="roundRect">
            <a:avLst>
              <a:gd name="adj" fmla="val 3772"/>
            </a:avLst>
          </a:prstGeom>
          <a:solidFill>
            <a:srgbClr val="2D2D3D"/>
          </a:solidFill>
          <a:ln w="12700">
            <a:solidFill>
              <a:srgbClr val="FF6B35"/>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F6B35"/>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F6B35"/>
                </a:solidFill>
                <a:latin typeface="Rajdhani" pitchFamily="34" charset="0"/>
                <a:ea typeface="Rajdhani" pitchFamily="34" charset="-122"/>
                <a:cs typeface="Rajdhani" pitchFamily="34" charset="-120"/>
              </a:rPr>
              <a:t>BASE SYSTEMS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Long-term trend systems that identify major market direction changes.</a:t>
            </a:r>
            <a:endParaRPr lang="en-US" sz="1300" dirty="0"/>
          </a:p>
        </p:txBody>
      </p:sp>
      <p:sp>
        <p:nvSpPr>
          <p:cNvPr id="10" name="Shape 7"/>
          <p:cNvSpPr/>
          <p:nvPr/>
        </p:nvSpPr>
        <p:spPr>
          <a:xfrm>
            <a:off x="4093464" y="1554480"/>
            <a:ext cx="3636264" cy="4937760"/>
          </a:xfrm>
          <a:prstGeom prst="roundRect">
            <a:avLst>
              <a:gd name="adj" fmla="val 3772"/>
            </a:avLst>
          </a:prstGeom>
          <a:solidFill>
            <a:srgbClr val="2D2D3D"/>
          </a:solidFill>
          <a:ln w="12700">
            <a:solidFill>
              <a:srgbClr val="FF6B35"/>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F6B35"/>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F6B35"/>
                </a:solidFill>
                <a:latin typeface="Rajdhani" pitchFamily="34" charset="0"/>
                <a:ea typeface="Rajdhani" pitchFamily="34" charset="-122"/>
                <a:cs typeface="Rajdhani" pitchFamily="34" charset="-120"/>
              </a:rPr>
              <a:t>TRIGGER SYSTEMS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Short-term opportunity systems that capture market inefficiencies.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F6B35"/>
          </a:solidFill>
          <a:ln w="12700">
            <a:solidFill>
              <a:srgbClr val="FF6B35"/>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F6B35"/>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D2D3D"/>
                </a:solidFill>
                <a:latin typeface="Rajdhani" pitchFamily="34" charset="0"/>
                <a:ea typeface="Rajdhani" pitchFamily="34" charset="-122"/>
                <a:cs typeface="Rajdhani" pitchFamily="34" charset="-120"/>
              </a:rPr>
              <a:t>COMPOSITES</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D2D3D"/>
                </a:solidFill>
                <a:latin typeface="Quicksand" pitchFamily="34" charset="0"/>
                <a:ea typeface="Quicksand" pitchFamily="34" charset="-122"/>
                <a:cs typeface="Quicksand" pitchFamily="34" charset="-120"/>
              </a:rPr>
              <a:t>Combined trading signals. Risk-on or risk-off positioning.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REDUCING EXPOSURE DURING HIGH-RISK PERIODS</a:t>
            </a:r>
            <a:endParaRPr lang="en-US" sz="2600" dirty="0"/>
          </a:p>
        </p:txBody>
      </p:sp>
      <p:sp>
        <p:nvSpPr>
          <p:cNvPr id="5" name="Shape 2"/>
          <p:cNvSpPr/>
          <p:nvPr/>
        </p:nvSpPr>
        <p:spPr>
          <a:xfrm>
            <a:off x="365760" y="1691640"/>
            <a:ext cx="4572000" cy="1280160"/>
          </a:xfrm>
          <a:prstGeom prst="rect">
            <a:avLst/>
          </a:prstGeom>
          <a:solidFill>
            <a:srgbClr val="2D2D3D"/>
          </a:solidFill>
          <a:ln w="12700">
            <a:solidFill>
              <a:srgbClr val="FF6B35"/>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BASE</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Trend direction exposure: Long-term positioning</a:t>
            </a:r>
            <a:endParaRPr lang="en-US" sz="1200" dirty="0"/>
          </a:p>
        </p:txBody>
      </p:sp>
      <p:sp>
        <p:nvSpPr>
          <p:cNvPr id="8" name="Shape 5"/>
          <p:cNvSpPr/>
          <p:nvPr/>
        </p:nvSpPr>
        <p:spPr>
          <a:xfrm>
            <a:off x="365760" y="3154680"/>
            <a:ext cx="4572000" cy="1280160"/>
          </a:xfrm>
          <a:prstGeom prst="rect">
            <a:avLst/>
          </a:prstGeom>
          <a:solidFill>
            <a:srgbClr val="2D2D3D"/>
          </a:solidFill>
          <a:ln w="12700">
            <a:solidFill>
              <a:srgbClr val="FF6B35"/>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TRIGGER</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Volume confirmation: Market health validation</a:t>
            </a:r>
            <a:endParaRPr lang="en-US" sz="1200" dirty="0"/>
          </a:p>
        </p:txBody>
      </p:sp>
      <p:sp>
        <p:nvSpPr>
          <p:cNvPr id="11" name="Shape 8"/>
          <p:cNvSpPr/>
          <p:nvPr/>
        </p:nvSpPr>
        <p:spPr>
          <a:xfrm>
            <a:off x="365760" y="4617720"/>
            <a:ext cx="4572000" cy="1280160"/>
          </a:xfrm>
          <a:prstGeom prst="rect">
            <a:avLst/>
          </a:prstGeom>
          <a:solidFill>
            <a:srgbClr val="2D2D3D"/>
          </a:solidFill>
          <a:ln w="12700">
            <a:solidFill>
              <a:srgbClr val="FF6B35"/>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TRIGGER</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Intermarket signals: Cross-asset confirmation</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F6B35"/>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F6B35"/>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D2D3D"/>
                </a:solidFill>
                <a:latin typeface="Rajdhani" pitchFamily="34" charset="0"/>
                <a:ea typeface="Rajdhani" pitchFamily="34" charset="-122"/>
                <a:cs typeface="Rajdhani" pitchFamily="34" charset="-120"/>
              </a:rPr>
              <a:t>COMPOSITE</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D2D3D"/>
                </a:solidFill>
                <a:latin typeface="Quicksand" pitchFamily="34" charset="0"/>
                <a:ea typeface="Quicksand" pitchFamily="34" charset="-122"/>
                <a:cs typeface="Quicksand" pitchFamily="34" charset="-120"/>
              </a:rPr>
              <a:t>Reduced exposure during high-risk periods protects capital.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D2D3D"/>
                </a:solidFill>
                <a:latin typeface="Rajdhani" pitchFamily="34" charset="0"/>
                <a:ea typeface="Rajdhani" pitchFamily="34" charset="-122"/>
                <a:cs typeface="Rajdhani" pitchFamily="34" charset="-120"/>
              </a:rPr>
              <a:t>STRATEGY DETAILS</a:t>
            </a:r>
            <a:endParaRPr lang="en-US" sz="4400" dirty="0"/>
          </a:p>
        </p:txBody>
      </p:sp>
      <p:sp>
        <p:nvSpPr>
          <p:cNvPr id="4" name="Shape 1"/>
          <p:cNvSpPr/>
          <p:nvPr/>
        </p:nvSpPr>
        <p:spPr>
          <a:xfrm>
            <a:off x="4722876" y="4251960"/>
            <a:ext cx="2743200" cy="73152"/>
          </a:xfrm>
          <a:prstGeom prst="rect">
            <a:avLst/>
          </a:prstGeom>
          <a:solidFill>
            <a:srgbClr val="FF6B35"/>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TACTICAL PORTFOLIO CONSTRUCTION</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EQUITY EXPOSURE</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Index-based growth positioning when systems signal risk-on</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DEFENSIVE ASSETS</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Cash and treasury positions during risk-off periods</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TACTICAL OVERLAY</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Dynamic hedging and opportunity capture strategies</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F6B35"/>
                </a:solidFill>
                <a:latin typeface="Rajdhani" pitchFamily="34" charset="0"/>
                <a:ea typeface="Rajdhani" pitchFamily="34" charset="-122"/>
                <a:cs typeface="Rajdhani" pitchFamily="34" charset="-120"/>
              </a:rPr>
              <a:t>RISK MANAGEMENT</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Systematic exposure reduction during high-risk periods</a:t>
            </a:r>
            <a:endParaRPr lang="en-US" sz="1200" dirty="0"/>
          </a:p>
        </p:txBody>
      </p:sp>
      <p:sp>
        <p:nvSpPr>
          <p:cNvPr id="13" name="Shape 10"/>
          <p:cNvSpPr/>
          <p:nvPr/>
        </p:nvSpPr>
        <p:spPr>
          <a:xfrm>
            <a:off x="4631436" y="2468880"/>
            <a:ext cx="2926080" cy="2011680"/>
          </a:xfrm>
          <a:prstGeom prst="rect">
            <a:avLst/>
          </a:prstGeom>
          <a:solidFill>
            <a:srgbClr val="2D2D3D"/>
          </a:solidFill>
          <a:ln w="12700">
            <a:solidFill>
              <a:srgbClr val="FF6B35"/>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F6B35"/>
                </a:solidFill>
                <a:latin typeface="Rajdhani" pitchFamily="34" charset="0"/>
                <a:ea typeface="Rajdhani" pitchFamily="34" charset="-122"/>
                <a:cs typeface="Rajdhani" pitchFamily="34" charset="-120"/>
              </a:rPr>
              <a:t>RISK-ON / RISK-OFF POSITIONING</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Dynamic allocation between growth exposure and defensive positioning based on market conditions.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D2D3D"/>
                </a:solidFill>
                <a:latin typeface="Rajdhani" pitchFamily="34" charset="0"/>
                <a:ea typeface="Rajdhani" pitchFamily="34" charset="-122"/>
                <a:cs typeface="Rajdhani" pitchFamily="34" charset="-120"/>
              </a:rPr>
              <a:t>TACTICAL STRATEGIES DESIGNED TO OUTPERFORM IN ALL MARKET CONDITIONS</a:t>
            </a:r>
            <a:endParaRPr lang="en-US" sz="2800" dirty="0"/>
          </a:p>
        </p:txBody>
      </p:sp>
      <p:sp>
        <p:nvSpPr>
          <p:cNvPr id="5" name="Shape 2"/>
          <p:cNvSpPr/>
          <p:nvPr/>
        </p:nvSpPr>
        <p:spPr>
          <a:xfrm>
            <a:off x="365760" y="1188720"/>
            <a:ext cx="1828800" cy="54864"/>
          </a:xfrm>
          <a:prstGeom prst="rect">
            <a:avLst/>
          </a:prstGeom>
          <a:solidFill>
            <a:srgbClr val="FF6B35"/>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D2D3D"/>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6B35"/>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STRATEGY</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1-YR</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3-YR</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5-YR</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S&amp;P 500 Total Return</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15.2%</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12.4%</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13.8%</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-50.9%</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Potomac Tactical Strategy</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18.5%</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11.1%</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12.7%</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-22.3%</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Performance data for illustrative purposes only.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D2D3D"/>
                </a:solidFill>
                <a:latin typeface="Rajdhani" pitchFamily="34" charset="0"/>
                <a:ea typeface="Rajdhani" pitchFamily="34" charset="-122"/>
                <a:cs typeface="Rajdhani" pitchFamily="34" charset="-120"/>
              </a:rPr>
              <a:t>TACTICAL AS A PORTFOLIO DIVERSIFIER</a:t>
            </a:r>
            <a:endParaRPr lang="en-US" sz="2600" dirty="0"/>
          </a:p>
        </p:txBody>
      </p:sp>
      <p:sp>
        <p:nvSpPr>
          <p:cNvPr id="5" name="Shape 2"/>
          <p:cNvSpPr/>
          <p:nvPr/>
        </p:nvSpPr>
        <p:spPr>
          <a:xfrm>
            <a:off x="365760" y="1188720"/>
            <a:ext cx="1828800" cy="54864"/>
          </a:xfrm>
          <a:prstGeom prst="rect">
            <a:avLst/>
          </a:prstGeom>
          <a:solidFill>
            <a:srgbClr val="FF6B35"/>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3819144"/>
                <a:gridCol w="3819144"/>
                <a:gridCol w="3819144"/>
              </a:tblGrid>
              <a:tr h="411480">
                <a:tc gridSpan="3">
                  <a:txBody>
                    <a:bodyPr/>
                    <a:lstStyle/>
                    <a:p>
                      <a:pPr algn="ctr" indent="0" marL="0">
                        <a:buNone/>
                      </a:pPr>
                      <a:r>
                        <a:rPr lang="en-US" sz="1400" b="1" dirty="0">
                          <a:solidFill>
                            <a:srgbClr val="2D2D3D"/>
                          </a:solidFill>
                          <a:latin typeface="Rajdhani" pitchFamily="34" charset="0"/>
                          <a:ea typeface="Rajdhani" pitchFamily="34" charset="-122"/>
                          <a:cs typeface="Rajdhani" pitchFamily="34" charset="-120"/>
                        </a:rPr>
                        <a:t>RISK STATISTICS</a:t>
                      </a:r>
                      <a:endParaRPr lang="en-US" sz="14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6B35"/>
                    </a:solidFill>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METRIC</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VALUE</a:t>
                      </a:r>
                      <a:endParaRPr lang="en-US" sz="12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2D2D3D"/>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Beta to S&amp;P 500</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0.68</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Correlation to S&amp;P 500</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0.72</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Standard Deviation</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12.4%</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D2D3D"/>
                          </a:solidFill>
                          <a:latin typeface="Quicksand" pitchFamily="34" charset="0"/>
                          <a:ea typeface="Quicksand" pitchFamily="34" charset="-122"/>
                          <a:cs typeface="Quicksand" pitchFamily="34" charset="-120"/>
                        </a:rPr>
                        <a:t>Sharpe Ratio</a:t>
                      </a:r>
                      <a:endParaRPr lang="en-US" sz="1200" dirty="0">
                        <a:latin typeface="Quicksand" charset="0"/>
                        <a:ea typeface="Quicksand" charset="0"/>
                        <a:cs typeface="Quicksand"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c>
                  <a:txBody>
                    <a:bodyPr/>
                    <a:lstStyle/>
                    <a:p>
                      <a:pPr algn="ctr" indent="0" marL="0">
                        <a:buNone/>
                      </a:pPr>
                      <a:r>
                        <a:rPr lang="en-US" sz="1300" b="1" dirty="0">
                          <a:solidFill>
                            <a:srgbClr val="2D2D3D"/>
                          </a:solidFill>
                          <a:latin typeface="Rajdhani" pitchFamily="34" charset="0"/>
                          <a:ea typeface="Rajdhani" pitchFamily="34" charset="-122"/>
                          <a:cs typeface="Rajdhani" pitchFamily="34" charset="-120"/>
                        </a:rPr>
                        <a:t>0.89</a:t>
                      </a:r>
                      <a:endParaRPr lang="en-US" sz="1300" dirty="0">
                        <a:latin typeface="Rajdhani" charset="0"/>
                        <a:ea typeface="Rajdhani" charset="0"/>
                        <a:cs typeface="Rajdhani" charset="0"/>
                      </a:endParaRPr>
                    </a:p>
                  </a:txBody>
                  <a:tcPr marL="91440" marR="91440" marT="45720" marB="45720">
                    <a:lnL w="12700" cap="flat" cmpd="sng" algn="ctr">
                      <a:solidFill>
                        <a:srgbClr val="D0D0D8"/>
                      </a:solidFill>
                      <a:prstDash val="solid"/>
                      <a:round/>
                      <a:headEnd type="none" w="med" len="med"/>
                      <a:tailEnd type="none" w="med" len="med"/>
                    </a:lnL>
                    <a:lnR w="12700" cap="flat" cmpd="sng" algn="ctr">
                      <a:solidFill>
                        <a:srgbClr val="D0D0D8"/>
                      </a:solidFill>
                      <a:prstDash val="solid"/>
                      <a:round/>
                      <a:headEnd type="none" w="med" len="med"/>
                      <a:tailEnd type="none" w="med" len="med"/>
                    </a:lnR>
                    <a:lnT w="12700" cap="flat" cmpd="sng" algn="ctr">
                      <a:solidFill>
                        <a:srgbClr val="D0D0D8"/>
                      </a:solidFill>
                      <a:prstDash val="solid"/>
                      <a:round/>
                      <a:headEnd type="none" w="med" len="med"/>
                      <a:tailEnd type="none" w="med" len="med"/>
                    </a:lnT>
                    <a:lnB w="12700" cap="flat" cmpd="sng" algn="ctr">
                      <a:solidFill>
                        <a:srgbClr val="D0D0D8"/>
                      </a:solidFill>
                      <a:prstDash val="solid"/>
                      <a:round/>
                      <a:headEnd type="none" w="med" len="med"/>
                      <a:tailEnd type="none" w="med" len="med"/>
                    </a:lnB>
                    <a:solidFill>
                      <a:srgbClr val="F2F2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8E8E9E"/>
                </a:solidFill>
                <a:latin typeface="Quicksand" pitchFamily="34" charset="0"/>
                <a:ea typeface="Quicksand" pitchFamily="34" charset="-122"/>
                <a:cs typeface="Quicksand" pitchFamily="34" charset="-120"/>
              </a:rPr>
              <a:t>Risk statistics for illustrative purposes only.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2D3D"/>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F6B35"/>
                </a:solidFill>
                <a:latin typeface="Rajdhani" pitchFamily="34" charset="0"/>
                <a:ea typeface="Rajdhani" pitchFamily="34" charset="-122"/>
                <a:cs typeface="Rajdhani" pitchFamily="34" charset="-120"/>
              </a:rPr>
              <a:t>POTOMAC</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POTOMAC?</a:t>
            </a:r>
            <a:endParaRPr lang="en-US" sz="2800" dirty="0"/>
          </a:p>
        </p:txBody>
      </p:sp>
      <p:sp>
        <p:nvSpPr>
          <p:cNvPr id="5" name="Shape 2"/>
          <p:cNvSpPr/>
          <p:nvPr/>
        </p:nvSpPr>
        <p:spPr>
          <a:xfrm>
            <a:off x="365760" y="1554480"/>
            <a:ext cx="2560320" cy="2560320"/>
          </a:xfrm>
          <a:prstGeom prst="ellipse">
            <a:avLst/>
          </a:prstGeom>
          <a:solidFill>
            <a:srgbClr val="2D2D3D"/>
          </a:solidFill>
          <a:ln w="12700">
            <a:solidFill>
              <a:srgbClr val="FF6B35"/>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F6B35"/>
                </a:solidFill>
                <a:latin typeface="Rajdhani" pitchFamily="34" charset="0"/>
                <a:ea typeface="Rajdhani" pitchFamily="34" charset="-122"/>
                <a:cs typeface="Rajdhani" pitchFamily="34" charset="-120"/>
              </a:rPr>
              <a:t>CORE HOLDINGS</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Strategic allocation to reduce overall portfolio risk while maintaining growth potential.</a:t>
            </a:r>
            <a:endParaRPr lang="en-US" sz="1100" dirty="0"/>
          </a:p>
        </p:txBody>
      </p:sp>
      <p:sp>
        <p:nvSpPr>
          <p:cNvPr id="8" name="Shape 5"/>
          <p:cNvSpPr/>
          <p:nvPr/>
        </p:nvSpPr>
        <p:spPr>
          <a:xfrm>
            <a:off x="9262872" y="1554480"/>
            <a:ext cx="2560320" cy="2560320"/>
          </a:xfrm>
          <a:prstGeom prst="ellipse">
            <a:avLst/>
          </a:prstGeom>
          <a:solidFill>
            <a:srgbClr val="2D2D3D"/>
          </a:solidFill>
          <a:ln w="12700">
            <a:solidFill>
              <a:srgbClr val="FF6B35"/>
            </a:solidFill>
            <a:prstDash val="solid"/>
          </a:ln>
        </p:spPr>
      </p:sp>
      <p:sp>
        <p:nvSpPr>
          <p:cNvPr id="9" name="Text 6"/>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F6B35"/>
                </a:solidFill>
                <a:latin typeface="Rajdhani" pitchFamily="34" charset="0"/>
                <a:ea typeface="Rajdhani" pitchFamily="34" charset="-122"/>
                <a:cs typeface="Rajdhani" pitchFamily="34" charset="-120"/>
              </a:rPr>
              <a:t>REPLACING FAKE TACTICAL</a:t>
            </a:r>
            <a:endParaRPr lang="en-US" sz="1300" dirty="0"/>
          </a:p>
        </p:txBody>
      </p:sp>
      <p:sp>
        <p:nvSpPr>
          <p:cNvPr id="10" name="Text 7"/>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Substituting high-correlation tactical managers with true risk-managed strategies.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F6B35"/>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F6B35"/>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D2D3D"/>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F6B35"/>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S&amp;P 500 Total Return Index: A market capitalization-weighted index of 500 large-cap U.S. stocks, including reinvestment of dividends.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Beta: A measure of systematic risk that compares the volatility of a security or portfolio to the overall market.</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largest peak-to-trough decline in portfolio value during a specific period.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Correlation: A statistical measure of how two investments move in relation to each other, ranging from -1 to +1.</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Sharpe Ratio: A measure of risk-adjusted return calculated as excess return per unit of volatility.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TACTICAL INVESTING OVERVIEW</dc:title>
  <dc:subject>Investment Strategy Presentation</dc:subject>
  <dc:creator>Potomac Fund Management</dc:creator>
  <cp:lastModifiedBy>Potomac Fund Management</cp:lastModifiedBy>
  <cp:revision>1</cp:revision>
  <dcterms:created xsi:type="dcterms:W3CDTF">2026-02-21T14:59:56Z</dcterms:created>
  <dcterms:modified xsi:type="dcterms:W3CDTF">2026-02-21T14:59:56Z</dcterms:modified>
</cp:coreProperties>
</file>