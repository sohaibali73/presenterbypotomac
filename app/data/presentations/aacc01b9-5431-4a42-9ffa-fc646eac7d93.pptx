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8c2a97-23f2-7dec-06a2-df0320d4250e}">
          <p14:sldIdLst/>
        </p14:section>
        <p14:section name="Default-1" id="{ac585ad7-8bbf-f40a-4372-b36ccf974bf1}">
          <p14:sldIdLst>
            <p14:sldId id="256"/>
          </p14:sldIdLst>
        </p14:section>
        <p14:section name="PROCESS" id="{680716f1-e02b-cb64-2cae-a48e9ea0e6b4}">
          <p14:sldIdLst/>
        </p14:section>
        <p14:section name="Default-2" id="{d2f85b5c-0c34-ffb3-0873-9e6b840afb63}">
          <p14:sldIdLst>
            <p14:sldId id="257"/>
            <p14:sldId id="258"/>
            <p14:sldId id="259"/>
            <p14:sldId id="260"/>
            <p14:sldId id="261"/>
            <p14:sldId id="262"/>
            <p14:sldId id="263"/>
            <p14:sldId id="264"/>
            <p14:sldId id="265"/>
            <p14:sldId id="266"/>
            <p14:sldId id="267"/>
          </p14:sldIdLst>
        </p14:section>
        <p14:section name="Closing" id="{d0387e95-0896-3358-aee9-80bbee690bf3}">
          <p14:sldIdLst/>
        </p14:section>
        <p14:section name="Default-3" id="{dcd16ca1-113f-da12-a276-6c84e77d765a}">
          <p14:sldIdLst>
            <p14:sldId id="268"/>
          </p14:sldIdLst>
        </p14:section>
        <p14:section name="Appendix" id="{cf1be413-154c-67a9-6cfe-64b4171e14bd}">
          <p14:sldIdLst/>
        </p14:section>
        <p14:section name="Default-4" id="{1b4bc143-e527-15d8-b539-0e1d3d86d031}">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BULL BEAR STRATEGY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MARKET ANALYSIS: THREE LEGS TO THE STOOL</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INDICATORS THAT USE MARKET DATA TO ASSESS THE ODDS OF A +/- PRICE TREND</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TREND DIRECTION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(Up, Down or Sideways)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TREND HEALTH</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(Breadth and Volume)</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INTERMARKET CONFIRMATION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(Intermarket Relationships)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TREND DIRECTION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TREND HEALTH</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INTERMARKET CONFIRMATION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COMPOSITES ARE DESIGNED TO HIGHLIGHT TIMES OF RISK-ON AND RISK-OFF BEHAVIOR</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BASE SYSTEMS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Total market systems that trade infrequently to capture long term trend changes.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TRIGGER SYSTEMS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Capture short-term market inefficiencies that generate high returns while invested.</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COMPOSITES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Composite trading result. Should we be invested?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RISK BY REDUCING EXPOSURE</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BASE</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Long-term trend exposure: Invested 71% of the time</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TRIGGER</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Volume thrust exposure: Invested 43% of the time</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TRIGGER</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VIX oversold exposure: Invested 4% of the time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COMPOSITE</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Keeping combined system exposure to 62% can help reduce risk.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BULL BEAR</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CRDBX 80%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Core position providing tactical concentrated exposure to a major market index</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CRTOX 6.67%</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with dynamic asset allocation</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CRMVX 6.66%</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employing risk management techniques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CRTBX 6.67%</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using hedging and cash positions</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ALTERNATE BETWEEN RISK-ON AND RISK-OFF</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Risk-on: Leveraged index exposure. Risk-off: Cash, inverse, treasuries.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IF YOU WANT THE S&amp;P 500, JUST BUY THE S&amp;P 500!</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864358"/>
                <a:gridCol w="2864358"/>
                <a:gridCol w="2864358"/>
                <a:gridCol w="2864358"/>
              </a:tblGrid>
              <a:tr h="411480">
                <a:tc gridSpan="4">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FUND NAME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SPDR S&amp;P 500 ETF Trust (SPY)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17.72%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14.34%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14.72%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Bull Bear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19.13%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11.08%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11.97%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FastTrack as of 12/31/2025.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TACTICAL AS A DIVERSIFIER</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RISK STATISTICS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CORRELATION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-50.80%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Bull Bear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-24.65%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0.51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FastTrack as of 12/31/2025.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BULL BEAR?</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CORE HOLDING</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Complement to traditional buy and hold portfolios.</a:t>
            </a:r>
            <a:endParaRPr lang="en-US" sz="1100" dirty="0"/>
          </a:p>
        </p:txBody>
      </p:sp>
      <p:sp>
        <p:nvSpPr>
          <p:cNvPr id="8" name="Shape 5"/>
          <p:cNvSpPr/>
          <p:nvPr/>
        </p:nvSpPr>
        <p:spPr>
          <a:xfrm>
            <a:off x="9262872"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REPLACING FAKE TACTICAL</a:t>
            </a:r>
            <a:endParaRPr lang="en-US" sz="1300" dirty="0"/>
          </a:p>
        </p:txBody>
      </p:sp>
      <p:sp>
        <p:nvSpPr>
          <p:cNvPr id="10" name="Text 7"/>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Replacing tactical managers with high market correlations.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S&amp;P 500 Index TR: The S&amp;P 500 Total Return Index includes dividends and capital gains distributions, measuring the total return performance of 500 large-cap U.S. stocks.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largest peak-to-trough decline in portfolio value over a specified time period, representing the worst-case loss scenario.</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ranging from -1 to +1 that indicates how closely two investments move in relation to each other.</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VIX: The CBOE Volatility Index, measuring the market's expectation of 30-day volatility based on S&amp;P 500 options prices.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Risk-On/Risk-Off: Market sentiment periods where investors either seek higher returns through riskier assets (risk-on) or move to safer investments (risk-off).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BULL BEAR STRATEGY</dc:title>
  <dc:subject>Investment Strategy Presentation</dc:subject>
  <dc:creator>Potomac Fund Management</dc:creator>
  <cp:lastModifiedBy>Potomac Fund Management</cp:lastModifiedBy>
  <cp:revision>1</cp:revision>
  <dcterms:created xsi:type="dcterms:W3CDTF">2026-02-21T16:03:22Z</dcterms:created>
  <dcterms:modified xsi:type="dcterms:W3CDTF">2026-02-21T16:03:22Z</dcterms:modified>
</cp:coreProperties>
</file>