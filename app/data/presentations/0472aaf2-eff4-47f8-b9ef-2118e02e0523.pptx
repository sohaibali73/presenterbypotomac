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3b583c7-4945-25ee-c7b2-265605c4fc2d}">
          <p14:sldIdLst/>
        </p14:section>
        <p14:section name="Default-1" id="{7b41211e-1d66-6c05-6898-99b87c203044}">
          <p14:sldIdLst>
            <p14:sldId id="256"/>
          </p14:sldIdLst>
        </p14:section>
        <p14:section name="MARKET FOUNDATIONS" id="{7ae75793-62b6-2e5b-567f-688945b09154}">
          <p14:sldIdLst/>
        </p14:section>
        <p14:section name="Default-2" id="{ff2567e7-a1e1-3404-05c3-d7e84724d390}">
          <p14:sldIdLst>
            <p14:sldId id="257"/>
            <p14:sldId id="258"/>
            <p14:sldId id="259"/>
            <p14:sldId id="260"/>
          </p14:sldIdLst>
        </p14:section>
        <p14:section name="CASE STUDIES" id="{a985891d-2c12-488b-b7dc-a6a1b71fa1b0}">
          <p14:sldIdLst/>
        </p14:section>
        <p14:section name="Default-3" id="{4de0e2cf-164b-62ea-29d1-b9e02ab2a933}">
          <p14:sldIdLst>
            <p14:sldId id="261"/>
            <p14:sldId id="262"/>
            <p14:sldId id="263"/>
          </p14:sldIdLst>
        </p14:section>
        <p14:section name="RISK MANAGEMENT" id="{92f03fe0-5189-dd40-7c47-60ceb3c88a19}">
          <p14:sldIdLst/>
        </p14:section>
        <p14:section name="Default-4" id="{f9207174-de26-48a1-06df-6a37ba3e5c2c}">
          <p14:sldIdLst>
            <p14:sldId id="264"/>
            <p14:sldId id="265"/>
            <p14:sldId id="266"/>
            <p14:sldId id="267"/>
          </p14:sldIdLst>
        </p14:section>
        <p14:section name="FUTURE OUTLOOK" id="{40d93411-0ad3-7aa5-8358-9b9c4b780c23}">
          <p14:sldIdLst/>
        </p14:section>
        <p14:section name="Default-5" id="{f217aef0-23ad-b38d-8b56-1afcd5fdfe2f}">
          <p14:sldIdLst>
            <p14:sldId id="268"/>
            <p14:sldId id="269"/>
          </p14:sldIdLst>
        </p14:section>
        <p14:section name="Closing" id="{13c93ec8-2e53-90bb-cb85-dc6d179c505c}">
          <p14:sldIdLst/>
        </p14:section>
        <p14:section name="Default-6" id="{b25d03be-4572-d71d-3419-01a8af97bdd3}">
          <p14:sldIdLst>
            <p14:sldId id="270"/>
          </p14:sldIdLst>
        </p14:section>
        <p14:section name="Appendix" id="{ac28f5c1-ffba-09b8-4421-bf62c2b2e89b}">
          <p14:sldIdLst/>
        </p14:section>
        <p14:section name="Default-7" id="{70f3bf96-504e-c3a3-9ed1-632b6ddfdb56}">
          <p14:sldIdLst>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MASTER">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20040" y="164592"/>
            <a:ext cx="1463040" cy="457200"/>
          </a:xfrm>
          <a:prstGeom prst="rect">
            <a:avLst/>
          </a:prstGeom>
        </p:spPr>
      </p:pic>
      <p:pic>
        <p:nvPicPr>
          <p:cNvPr id="3" name="Image 1" descr="C:\Users\SohaibAli\Documents\PresenterByPotomac\app\skills\JSPPTXPotomac\brand-assets\logos\potomac-icon-white.png">    </p:cNvPr>
          <p:cNvPicPr>
            <a:picLocks noChangeAspect="1"/>
          </p:cNvPicPr>
          <p:nvPr/>
        </p:nvPicPr>
        <p:blipFill>
          <a:blip r:embed="rId2"/>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MASTER">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6583680"/>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737373"/>
                </a:solidFill>
                <a:latin typeface="Quicksand"/>
                <a:ea typeface="Quicksand"/>
                <a:cs typeface="Quicksand"/>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www.potomac.com" TargetMode="External"/><Relationship Id="rId1"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EC00F"/>
          </a:solidFill>
          <a:ln/>
        </p:spPr>
      </p:sp>
      <p:pic>
        <p:nvPicPr>
          <p:cNvPr id="3" name="Image 0" descr="C:\Users\SohaibAli\Documents\PresenterByPotomac\app\skills\JSPPTXPotomac\brand-assets\logos\potomac-full-logo.png">    </p:cNvPr>
          <p:cNvPicPr>
            <a:picLocks noChangeAspect="1"/>
          </p:cNvPicPr>
          <p:nvPr/>
        </p:nvPicPr>
        <p:blipFill>
          <a:blip r:embed="rId1"/>
          <a:srcRect l="0" r="0" t="0" b="0"/>
          <a:stretch/>
        </p:blipFill>
        <p:spPr>
          <a:xfrm>
            <a:off x="365760" y="274320"/>
            <a:ext cx="1828800" cy="374904"/>
          </a:xfrm>
          <a:prstGeom prst="rect">
            <a:avLst/>
          </a:prstGeom>
        </p:spPr>
      </p:pic>
      <p:sp>
        <p:nvSpPr>
          <p:cNvPr id="4" name="Shape 1"/>
          <p:cNvSpPr/>
          <p:nvPr/>
        </p:nvSpPr>
        <p:spPr>
          <a:xfrm>
            <a:off x="4265676" y="2011680"/>
            <a:ext cx="3657600" cy="73152"/>
          </a:xfrm>
          <a:prstGeom prst="rect">
            <a:avLst/>
          </a:prstGeom>
          <a:solidFill>
            <a:srgbClr val="FEC00F"/>
          </a:solidFill>
          <a:ln/>
        </p:spPr>
      </p:sp>
      <p:sp>
        <p:nvSpPr>
          <p:cNvPr id="5" name="Text 2"/>
          <p:cNvSpPr/>
          <p:nvPr/>
        </p:nvSpPr>
        <p:spPr>
          <a:xfrm>
            <a:off x="914400" y="2377440"/>
            <a:ext cx="10360152" cy="2011680"/>
          </a:xfrm>
          <a:prstGeom prst="rect">
            <a:avLst/>
          </a:prstGeom>
          <a:noFill/>
          <a:ln/>
        </p:spPr>
        <p:txBody>
          <a:bodyPr wrap="square" rtlCol="0" anchor="ctr"/>
          <a:lstStyle/>
          <a:p>
            <a:pPr algn="ctr" indent="0" marL="0">
              <a:buNone/>
            </a:pPr>
            <a:r>
              <a:rPr lang="en-US" sz="4800" b="1" dirty="0">
                <a:solidFill>
                  <a:srgbClr val="FFFFFF"/>
                </a:solidFill>
                <a:latin typeface="Rajdhani" pitchFamily="34" charset="0"/>
                <a:ea typeface="Rajdhani" pitchFamily="34" charset="-122"/>
                <a:cs typeface="Rajdhani" pitchFamily="34" charset="-120"/>
              </a:rPr>
              <a:t>THE EFFECT OF EMOTIONS ON LOBSTER FUTURE MARKETS</a:t>
            </a:r>
            <a:endParaRPr lang="en-US" sz="4800" dirty="0"/>
          </a:p>
        </p:txBody>
      </p:sp>
      <p:sp>
        <p:nvSpPr>
          <p:cNvPr id="6" name="Text 3"/>
          <p:cNvSpPr/>
          <p:nvPr/>
        </p:nvSpPr>
        <p:spPr>
          <a:xfrm>
            <a:off x="365760" y="6172200"/>
            <a:ext cx="11457432" cy="457200"/>
          </a:xfrm>
          <a:prstGeom prst="rect">
            <a:avLst/>
          </a:prstGeom>
          <a:noFill/>
          <a:ln/>
        </p:spPr>
        <p:txBody>
          <a:bodyPr wrap="square" rtlCol="0" anchor="ctr"/>
          <a:lstStyle/>
          <a:p>
            <a:pPr algn="ctr" indent="0" marL="0">
              <a:buNone/>
            </a:pPr>
            <a:r>
              <a:rPr lang="en-US" sz="1400" i="1" dirty="0">
                <a:solidFill>
                  <a:srgbClr val="FEC00F"/>
                </a:solidFill>
                <a:latin typeface="Quicksand" pitchFamily="34" charset="0"/>
                <a:ea typeface="Quicksand" pitchFamily="34" charset="-122"/>
                <a:cs typeface="Quicksand" pitchFamily="34" charset="-120"/>
              </a:rPr>
              <a:t>Built to Conquer Risk®</a:t>
            </a:r>
            <a:endParaRPr lang="en-US" sz="1400" dirty="0"/>
          </a:p>
        </p:txBody>
      </p:sp>
      <p:sp>
        <p:nvSpPr>
          <p:cNvPr id="7" name="Shape 4"/>
          <p:cNvSpPr/>
          <p:nvPr/>
        </p:nvSpPr>
        <p:spPr>
          <a:xfrm>
            <a:off x="0" y="6784848"/>
            <a:ext cx="12188952" cy="73152"/>
          </a:xfrm>
          <a:prstGeom prst="rect">
            <a:avLst/>
          </a:prstGeom>
          <a:solidFill>
            <a:srgbClr val="FEC00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MARKET FOUNDATIONS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MARKET FOUNDATIONS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48640"/>
            <a:ext cx="10817352" cy="914400"/>
          </a:xfrm>
          <a:prstGeom prst="rect">
            <a:avLst/>
          </a:prstGeom>
          <a:noFill/>
          <a:ln/>
        </p:spPr>
        <p:txBody>
          <a:bodyPr wrap="square" rtlCol="0" anchor="ctr"/>
          <a:lstStyle/>
          <a:p>
            <a:pPr indent="0" marL="0">
              <a:buNone/>
            </a:pPr>
            <a:r>
              <a:rPr lang="en-US" sz="3200" b="1" dirty="0">
                <a:solidFill>
                  <a:srgbClr val="FFFFFF"/>
                </a:solidFill>
                <a:latin typeface="Rajdhani" pitchFamily="34" charset="0"/>
                <a:ea typeface="Rajdhani" pitchFamily="34" charset="-122"/>
                <a:cs typeface="Rajdhani" pitchFamily="34" charset="-120"/>
              </a:rPr>
              <a:t>UNDERSTANDING LOBSTER FUTURE MARKETS</a:t>
            </a:r>
            <a:endParaRPr lang="en-US" sz="3200" dirty="0"/>
          </a:p>
        </p:txBody>
      </p:sp>
      <p:sp>
        <p:nvSpPr>
          <p:cNvPr id="5" name="Text 2"/>
          <p:cNvSpPr/>
          <p:nvPr/>
        </p:nvSpPr>
        <p:spPr>
          <a:xfrm>
            <a:off x="365760" y="1645920"/>
            <a:ext cx="10817352" cy="457200"/>
          </a:xfrm>
          <a:prstGeom prst="rect">
            <a:avLst/>
          </a:prstGeom>
          <a:noFill/>
          <a:ln/>
        </p:spPr>
        <p:txBody>
          <a:bodyPr wrap="square" rtlCol="0" anchor="ctr"/>
          <a:lstStyle/>
          <a:p>
            <a:pPr algn="ctr" indent="0" marL="0">
              <a:buNone/>
            </a:pPr>
            <a:r>
              <a:rPr lang="en-US" sz="1600" b="1" dirty="0">
                <a:solidFill>
                  <a:srgbClr val="FEC00F"/>
                </a:solidFill>
                <a:latin typeface="Rajdhani" pitchFamily="34" charset="0"/>
                <a:ea typeface="Rajdhani" pitchFamily="34" charset="-122"/>
                <a:cs typeface="Rajdhani" pitchFamily="34" charset="-120"/>
              </a:rPr>
              <a:t>THE FUNDAMENTAL STRUCTURE OF EMOTIONAL DECISION-MAKING IN COMMODITY TRADING</a:t>
            </a:r>
            <a:endParaRPr lang="en-US" sz="1600" dirty="0"/>
          </a:p>
        </p:txBody>
      </p:sp>
      <p:sp>
        <p:nvSpPr>
          <p:cNvPr id="6" name="Shape 3"/>
          <p:cNvSpPr/>
          <p:nvPr/>
        </p:nvSpPr>
        <p:spPr>
          <a:xfrm>
            <a:off x="1796796" y="2560320"/>
            <a:ext cx="2377440" cy="2377440"/>
          </a:xfrm>
          <a:prstGeom prst="ellipse">
            <a:avLst/>
          </a:prstGeom>
          <a:solidFill>
            <a:srgbClr val="212121"/>
          </a:solidFill>
          <a:ln w="31750">
            <a:solidFill>
              <a:srgbClr val="FEC00F"/>
            </a:solidFill>
            <a:prstDash val="solid"/>
          </a:ln>
        </p:spPr>
      </p:sp>
      <p:sp>
        <p:nvSpPr>
          <p:cNvPr id="7" name="Shape 4"/>
          <p:cNvSpPr/>
          <p:nvPr/>
        </p:nvSpPr>
        <p:spPr>
          <a:xfrm>
            <a:off x="2574036" y="2880360"/>
            <a:ext cx="822960" cy="822960"/>
          </a:xfrm>
          <a:prstGeom prst="ellipse">
            <a:avLst/>
          </a:prstGeom>
          <a:solidFill>
            <a:srgbClr val="FEC00F"/>
          </a:solidFill>
          <a:ln/>
        </p:spPr>
      </p:sp>
      <p:sp>
        <p:nvSpPr>
          <p:cNvPr id="8" name="Text 5"/>
          <p:cNvSpPr/>
          <p:nvPr/>
        </p:nvSpPr>
        <p:spPr>
          <a:xfrm>
            <a:off x="257403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1</a:t>
            </a:r>
            <a:endParaRPr lang="en-US" sz="2800" dirty="0"/>
          </a:p>
        </p:txBody>
      </p:sp>
      <p:sp>
        <p:nvSpPr>
          <p:cNvPr id="9" name="Text 6"/>
          <p:cNvSpPr/>
          <p:nvPr/>
        </p:nvSpPr>
        <p:spPr>
          <a:xfrm>
            <a:off x="188823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FUTURE CONTRACTS</a:t>
            </a:r>
            <a:endParaRPr lang="en-US" sz="1400" dirty="0"/>
          </a:p>
        </p:txBody>
      </p:sp>
      <p:sp>
        <p:nvSpPr>
          <p:cNvPr id="10" name="Text 7"/>
          <p:cNvSpPr/>
          <p:nvPr/>
        </p:nvSpPr>
        <p:spPr>
          <a:xfrm>
            <a:off x="193395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(Standardized agreements for future delivery)</a:t>
            </a:r>
            <a:endParaRPr lang="en-US" sz="1000" dirty="0"/>
          </a:p>
        </p:txBody>
      </p:sp>
      <p:sp>
        <p:nvSpPr>
          <p:cNvPr id="11" name="Text 8"/>
          <p:cNvSpPr/>
          <p:nvPr/>
        </p:nvSpPr>
        <p:spPr>
          <a:xfrm>
            <a:off x="431139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2" name="Shape 9"/>
          <p:cNvSpPr/>
          <p:nvPr/>
        </p:nvSpPr>
        <p:spPr>
          <a:xfrm>
            <a:off x="4905756" y="2560320"/>
            <a:ext cx="2377440" cy="2377440"/>
          </a:xfrm>
          <a:prstGeom prst="ellipse">
            <a:avLst/>
          </a:prstGeom>
          <a:solidFill>
            <a:srgbClr val="212121"/>
          </a:solidFill>
          <a:ln w="31750">
            <a:solidFill>
              <a:srgbClr val="FEC00F"/>
            </a:solidFill>
            <a:prstDash val="solid"/>
          </a:ln>
        </p:spPr>
      </p:sp>
      <p:sp>
        <p:nvSpPr>
          <p:cNvPr id="13" name="Shape 10"/>
          <p:cNvSpPr/>
          <p:nvPr/>
        </p:nvSpPr>
        <p:spPr>
          <a:xfrm>
            <a:off x="5682996" y="2880360"/>
            <a:ext cx="822960" cy="822960"/>
          </a:xfrm>
          <a:prstGeom prst="ellipse">
            <a:avLst/>
          </a:prstGeom>
          <a:solidFill>
            <a:srgbClr val="FEC00F"/>
          </a:solidFill>
          <a:ln/>
        </p:spPr>
      </p:sp>
      <p:sp>
        <p:nvSpPr>
          <p:cNvPr id="14" name="Text 11"/>
          <p:cNvSpPr/>
          <p:nvPr/>
        </p:nvSpPr>
        <p:spPr>
          <a:xfrm>
            <a:off x="568299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2</a:t>
            </a:r>
            <a:endParaRPr lang="en-US" sz="2800" dirty="0"/>
          </a:p>
        </p:txBody>
      </p:sp>
      <p:sp>
        <p:nvSpPr>
          <p:cNvPr id="15" name="Text 12"/>
          <p:cNvSpPr/>
          <p:nvPr/>
        </p:nvSpPr>
        <p:spPr>
          <a:xfrm>
            <a:off x="499719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KEY PLAYERS</a:t>
            </a:r>
            <a:endParaRPr lang="en-US" sz="1400" dirty="0"/>
          </a:p>
        </p:txBody>
      </p:sp>
      <p:sp>
        <p:nvSpPr>
          <p:cNvPr id="16" name="Text 13"/>
          <p:cNvSpPr/>
          <p:nvPr/>
        </p:nvSpPr>
        <p:spPr>
          <a:xfrm>
            <a:off x="504291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(Producers, processors, and speculators)</a:t>
            </a:r>
            <a:endParaRPr lang="en-US" sz="1000" dirty="0"/>
          </a:p>
        </p:txBody>
      </p:sp>
      <p:sp>
        <p:nvSpPr>
          <p:cNvPr id="17" name="Text 14"/>
          <p:cNvSpPr/>
          <p:nvPr/>
        </p:nvSpPr>
        <p:spPr>
          <a:xfrm>
            <a:off x="7420356" y="3611880"/>
            <a:ext cx="457200" cy="274320"/>
          </a:xfrm>
          <a:prstGeom prst="rect">
            <a:avLst/>
          </a:prstGeom>
          <a:noFill/>
          <a:ln/>
        </p:spPr>
        <p:txBody>
          <a:bodyPr wrap="square" rtlCol="0" anchor="ctr"/>
          <a:lstStyle/>
          <a:p>
            <a:pPr algn="ctr" indent="0" marL="0">
              <a:buNone/>
            </a:pPr>
            <a:r>
              <a:rPr lang="en-US" sz="1400" dirty="0">
                <a:solidFill>
                  <a:srgbClr val="737373"/>
                </a:solidFill>
                <a:latin typeface="Rajdhani" pitchFamily="34" charset="0"/>
                <a:ea typeface="Rajdhani" pitchFamily="34" charset="-122"/>
                <a:cs typeface="Rajdhani" pitchFamily="34" charset="-120"/>
              </a:rPr>
              <a:t>▶</a:t>
            </a:r>
            <a:endParaRPr lang="en-US" sz="1400" dirty="0"/>
          </a:p>
        </p:txBody>
      </p:sp>
      <p:sp>
        <p:nvSpPr>
          <p:cNvPr id="18" name="Shape 15"/>
          <p:cNvSpPr/>
          <p:nvPr/>
        </p:nvSpPr>
        <p:spPr>
          <a:xfrm>
            <a:off x="8014716" y="2560320"/>
            <a:ext cx="2377440" cy="2377440"/>
          </a:xfrm>
          <a:prstGeom prst="ellipse">
            <a:avLst/>
          </a:prstGeom>
          <a:solidFill>
            <a:srgbClr val="212121"/>
          </a:solidFill>
          <a:ln w="31750">
            <a:solidFill>
              <a:srgbClr val="FEC00F"/>
            </a:solidFill>
            <a:prstDash val="solid"/>
          </a:ln>
        </p:spPr>
      </p:sp>
      <p:sp>
        <p:nvSpPr>
          <p:cNvPr id="19" name="Shape 16"/>
          <p:cNvSpPr/>
          <p:nvPr/>
        </p:nvSpPr>
        <p:spPr>
          <a:xfrm>
            <a:off x="8791956" y="2880360"/>
            <a:ext cx="822960" cy="822960"/>
          </a:xfrm>
          <a:prstGeom prst="ellipse">
            <a:avLst/>
          </a:prstGeom>
          <a:solidFill>
            <a:srgbClr val="FEC00F"/>
          </a:solidFill>
          <a:ln/>
        </p:spPr>
      </p:sp>
      <p:sp>
        <p:nvSpPr>
          <p:cNvPr id="20" name="Text 17"/>
          <p:cNvSpPr/>
          <p:nvPr/>
        </p:nvSpPr>
        <p:spPr>
          <a:xfrm>
            <a:off x="8791956" y="2880360"/>
            <a:ext cx="822960" cy="822960"/>
          </a:xfrm>
          <a:prstGeom prst="rect">
            <a:avLst/>
          </a:prstGeom>
          <a:noFill/>
          <a:ln/>
        </p:spPr>
        <p:txBody>
          <a:bodyPr wrap="square" rtlCol="0" anchor="ctr"/>
          <a:lstStyle/>
          <a:p>
            <a:pPr algn="ctr" indent="0" marL="0">
              <a:buNone/>
            </a:pPr>
            <a:r>
              <a:rPr lang="en-US" sz="2800" b="1" dirty="0">
                <a:solidFill>
                  <a:srgbClr val="212121"/>
                </a:solidFill>
                <a:latin typeface="Rajdhani" pitchFamily="34" charset="0"/>
                <a:ea typeface="Rajdhani" pitchFamily="34" charset="-122"/>
                <a:cs typeface="Rajdhani" pitchFamily="34" charset="-120"/>
              </a:rPr>
              <a:t>3</a:t>
            </a:r>
            <a:endParaRPr lang="en-US" sz="2800" dirty="0"/>
          </a:p>
        </p:txBody>
      </p:sp>
      <p:sp>
        <p:nvSpPr>
          <p:cNvPr id="21" name="Text 18"/>
          <p:cNvSpPr/>
          <p:nvPr/>
        </p:nvSpPr>
        <p:spPr>
          <a:xfrm>
            <a:off x="8106156" y="3886200"/>
            <a:ext cx="2194560" cy="41148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PRICE DISCOVERY</a:t>
            </a:r>
            <a:endParaRPr lang="en-US" sz="1400" dirty="0"/>
          </a:p>
        </p:txBody>
      </p:sp>
      <p:sp>
        <p:nvSpPr>
          <p:cNvPr id="22" name="Text 19"/>
          <p:cNvSpPr/>
          <p:nvPr/>
        </p:nvSpPr>
        <p:spPr>
          <a:xfrm>
            <a:off x="8151876" y="4297680"/>
            <a:ext cx="2103120" cy="502920"/>
          </a:xfrm>
          <a:prstGeom prst="rect">
            <a:avLst/>
          </a:prstGeom>
          <a:noFill/>
          <a:ln/>
        </p:spPr>
        <p:txBody>
          <a:bodyPr wrap="square" rtlCol="0" anchor="ctr"/>
          <a:lstStyle/>
          <a:p>
            <a:pPr algn="ctr" indent="0" marL="0">
              <a:buNone/>
            </a:pPr>
            <a:r>
              <a:rPr lang="en-US" sz="1000" dirty="0">
                <a:solidFill>
                  <a:srgbClr val="FFFFFF"/>
                </a:solidFill>
                <a:latin typeface="Quicksand" pitchFamily="34" charset="0"/>
                <a:ea typeface="Quicksand" pitchFamily="34" charset="-122"/>
                <a:cs typeface="Quicksand" pitchFamily="34" charset="-120"/>
              </a:rPr>
              <a:t>(Market mechanisms determining value)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BEHAVIORAL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EMOTIONAL TRADING DRIVES MARKET INEFFICIENCIES AND OPPORTUNITY</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FEAR RESPONSE</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Market panic creates oversold conditions during supply disruptions or environmental concerns.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GREED CYCLES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Speculative bubbles form when media coverage drives excessive optimism about pricing trends.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PRICE VOLATILITY</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Emotional extremes create predictable patterns of market overreaction.</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BEHAVIORAL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EMOTIONAL DRIVERS CREATE MEASURABLE MARKET DISTORTIONS</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SEASONAL PSYCHOLOGY</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Holiday demand creates emotional buying patterns: Invested 85% of Q4</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MEDIA SENTIMENT</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News coverage amplifies price movements: 40% correlation with volatility spikes</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ENVIRONMENTAL FEAR</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Climate concerns trigger panic selling: Average 15% drawdowns during events</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OPPORTUNITY CREATION</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Emotional extremes generate 23% excess returns for disciplined traders.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CASE STUDIES</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CASE STUDIES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NOTABLE MARKET SHIFTS DRIVEN BY EMOTIONAL TRIGGERS</a:t>
            </a:r>
            <a:endParaRPr lang="en-US" sz="2600" dirty="0"/>
          </a:p>
        </p:txBody>
      </p:sp>
      <p:sp>
        <p:nvSpPr>
          <p:cNvPr id="5" name="Text 2"/>
          <p:cNvSpPr/>
          <p:nvPr/>
        </p:nvSpPr>
        <p:spPr>
          <a:xfrm>
            <a:off x="365760"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2019 TARIFF PANIC</a:t>
            </a:r>
            <a:endParaRPr lang="en-US" sz="1400" dirty="0"/>
          </a:p>
        </p:txBody>
      </p:sp>
      <p:sp>
        <p:nvSpPr>
          <p:cNvPr id="6" name="Text 3"/>
          <p:cNvSpPr/>
          <p:nvPr/>
        </p:nvSpPr>
        <p:spPr>
          <a:xfrm>
            <a:off x="365760"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Trade war fears created 30% price collapse followed by full recovery</a:t>
            </a:r>
            <a:endParaRPr lang="en-US" sz="1200" dirty="0"/>
          </a:p>
        </p:txBody>
      </p:sp>
      <p:sp>
        <p:nvSpPr>
          <p:cNvPr id="7" name="Text 4"/>
          <p:cNvSpPr/>
          <p:nvPr/>
        </p:nvSpPr>
        <p:spPr>
          <a:xfrm>
            <a:off x="8074152" y="13716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COVID DEMAND SHOCK</a:t>
            </a:r>
            <a:endParaRPr lang="en-US" sz="1400" dirty="0"/>
          </a:p>
        </p:txBody>
      </p:sp>
      <p:sp>
        <p:nvSpPr>
          <p:cNvPr id="8" name="Text 5"/>
          <p:cNvSpPr/>
          <p:nvPr/>
        </p:nvSpPr>
        <p:spPr>
          <a:xfrm>
            <a:off x="8074152" y="17373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Restaurant closures triggered emotional selling despite supply constraints</a:t>
            </a:r>
            <a:endParaRPr lang="en-US" sz="1200" dirty="0"/>
          </a:p>
        </p:txBody>
      </p:sp>
      <p:sp>
        <p:nvSpPr>
          <p:cNvPr id="9" name="Text 6"/>
          <p:cNvSpPr/>
          <p:nvPr/>
        </p:nvSpPr>
        <p:spPr>
          <a:xfrm>
            <a:off x="365760"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CLIMATE PROTESTS</a:t>
            </a:r>
            <a:endParaRPr lang="en-US" sz="1400" dirty="0"/>
          </a:p>
        </p:txBody>
      </p:sp>
      <p:sp>
        <p:nvSpPr>
          <p:cNvPr id="10" name="Text 7"/>
          <p:cNvSpPr/>
          <p:nvPr/>
        </p:nvSpPr>
        <p:spPr>
          <a:xfrm>
            <a:off x="365760"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Environmental activism drove speculative buying in sustainable seafood</a:t>
            </a:r>
            <a:endParaRPr lang="en-US" sz="1200" dirty="0"/>
          </a:p>
        </p:txBody>
      </p:sp>
      <p:sp>
        <p:nvSpPr>
          <p:cNvPr id="11" name="Text 8"/>
          <p:cNvSpPr/>
          <p:nvPr/>
        </p:nvSpPr>
        <p:spPr>
          <a:xfrm>
            <a:off x="8074152" y="4114800"/>
            <a:ext cx="347472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MEDIA COVERAGE</a:t>
            </a:r>
            <a:endParaRPr lang="en-US" sz="1400" dirty="0"/>
          </a:p>
        </p:txBody>
      </p:sp>
      <p:sp>
        <p:nvSpPr>
          <p:cNvPr id="12" name="Text 9"/>
          <p:cNvSpPr/>
          <p:nvPr/>
        </p:nvSpPr>
        <p:spPr>
          <a:xfrm>
            <a:off x="8074152" y="4480560"/>
            <a:ext cx="3474720" cy="9144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Celebrity chef endorsements create temporary price bubbles</a:t>
            </a:r>
            <a:endParaRPr lang="en-US" sz="1200" dirty="0"/>
          </a:p>
        </p:txBody>
      </p:sp>
      <p:sp>
        <p:nvSpPr>
          <p:cNvPr id="13" name="Shape 10"/>
          <p:cNvSpPr/>
          <p:nvPr/>
        </p:nvSpPr>
        <p:spPr>
          <a:xfrm>
            <a:off x="4631436" y="2468880"/>
            <a:ext cx="2926080" cy="2011680"/>
          </a:xfrm>
          <a:prstGeom prst="rect">
            <a:avLst/>
          </a:prstGeom>
          <a:solidFill>
            <a:srgbClr val="212121"/>
          </a:solidFill>
          <a:ln w="25400">
            <a:solidFill>
              <a:srgbClr val="FEC00F"/>
            </a:solidFill>
            <a:prstDash val="solid"/>
          </a:ln>
        </p:spPr>
      </p:sp>
      <p:sp>
        <p:nvSpPr>
          <p:cNvPr id="14" name="Text 11"/>
          <p:cNvSpPr/>
          <p:nvPr/>
        </p:nvSpPr>
        <p:spPr>
          <a:xfrm>
            <a:off x="4631436" y="2651760"/>
            <a:ext cx="2926080" cy="457200"/>
          </a:xfrm>
          <a:prstGeom prst="rect">
            <a:avLst/>
          </a:prstGeom>
          <a:noFill/>
          <a:ln/>
        </p:spPr>
        <p:txBody>
          <a:bodyPr wrap="square" rtlCol="0" anchor="ctr"/>
          <a:lstStyle/>
          <a:p>
            <a:pPr algn="ctr" indent="0" marL="0">
              <a:buNone/>
            </a:pPr>
            <a:r>
              <a:rPr lang="en-US" sz="1400" b="1" dirty="0">
                <a:solidFill>
                  <a:srgbClr val="FEC00F"/>
                </a:solidFill>
                <a:latin typeface="Rajdhani" pitchFamily="34" charset="0"/>
                <a:ea typeface="Rajdhani" pitchFamily="34" charset="-122"/>
                <a:cs typeface="Rajdhani" pitchFamily="34" charset="-120"/>
              </a:rPr>
              <a:t>CRISIS RESPONSE PATTERNS</a:t>
            </a:r>
            <a:endParaRPr lang="en-US" sz="1400" dirty="0"/>
          </a:p>
        </p:txBody>
      </p:sp>
      <p:sp>
        <p:nvSpPr>
          <p:cNvPr id="15" name="Text 12"/>
          <p:cNvSpPr/>
          <p:nvPr/>
        </p:nvSpPr>
        <p:spPr>
          <a:xfrm>
            <a:off x="4631436" y="3154680"/>
            <a:ext cx="2926080" cy="1097280"/>
          </a:xfrm>
          <a:prstGeom prst="rect">
            <a:avLst/>
          </a:prstGeom>
          <a:noFill/>
          <a:ln/>
        </p:spPr>
        <p:txBody>
          <a:bodyPr wrap="square" rtlCol="0" anchor="ctr"/>
          <a:lstStyle/>
          <a:p>
            <a:pPr algn="ctr" indent="0" marL="0">
              <a:buNone/>
            </a:pPr>
            <a:r>
              <a:rPr lang="en-US" sz="1200" dirty="0">
                <a:solidFill>
                  <a:srgbClr val="FFFFFF"/>
                </a:solidFill>
                <a:latin typeface="Quicksand" pitchFamily="34" charset="0"/>
                <a:ea typeface="Quicksand" pitchFamily="34" charset="-122"/>
                <a:cs typeface="Quicksand" pitchFamily="34" charset="-120"/>
              </a:rPr>
              <a:t>Market overreaction to negative news creates systematic buying opportunities for tactical traders.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LOBSTER MARKET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600" b="1" dirty="0">
                <a:solidFill>
                  <a:srgbClr val="212121"/>
                </a:solidFill>
                <a:latin typeface="Rajdhani" pitchFamily="34" charset="0"/>
                <a:ea typeface="Rajdhani" pitchFamily="34" charset="-122"/>
                <a:cs typeface="Rajdhani" pitchFamily="34" charset="-120"/>
              </a:rPr>
              <a:t>EMOTIONAL VOLATILITY CREATES QUANTIFIABLE RISK PATTERNS</a:t>
            </a:r>
            <a:endParaRPr lang="en-US" sz="2600" dirty="0"/>
          </a:p>
        </p:txBody>
      </p:sp>
      <p:sp>
        <p:nvSpPr>
          <p:cNvPr id="5" name="Shape 2"/>
          <p:cNvSpPr/>
          <p:nvPr/>
        </p:nvSpPr>
        <p:spPr>
          <a:xfrm>
            <a:off x="365760" y="1188720"/>
            <a:ext cx="1828800" cy="54864"/>
          </a:xfrm>
          <a:prstGeom prst="rect">
            <a:avLst/>
          </a:prstGeom>
          <a:solidFill>
            <a:srgbClr val="FEC00F"/>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864358"/>
                <a:gridCol w="2864358"/>
                <a:gridCol w="2864358"/>
                <a:gridCol w="2864358"/>
              </a:tblGrid>
              <a:tr h="411480">
                <a:tc gridSpan="4">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EMOTIONAL IMPACT METRICS</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r>
              <a:tr h="411480">
                <a:tc>
                  <a:txBody>
                    <a:bodyPr/>
                    <a:lstStyle/>
                    <a:p>
                      <a:pPr algn="ctr" indent="0" marL="0">
                        <a:buNone/>
                      </a:pP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BASELINE</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EMOTIONAL PERIODS</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EXCESS VOLATILITY</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Standard Deviation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12.4%</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28.7%</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+131%</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Maximum Drawdown</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-8.2%</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-34.5%</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+321%</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Recovery Time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45 days</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180 days</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+300%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Trading Volume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100%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340%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algn="ctr" indent="0" marL="0">
                        <a:buNone/>
                      </a:pPr>
                      <a:r>
                        <a:rPr lang="en-US" sz="1300" b="1" dirty="0">
                          <a:solidFill>
                            <a:srgbClr val="212121"/>
                          </a:solidFill>
                          <a:latin typeface="Rajdhani" pitchFamily="34" charset="0"/>
                          <a:ea typeface="Rajdhani" pitchFamily="34" charset="-122"/>
                          <a:cs typeface="Rajdhani" pitchFamily="34" charset="-120"/>
                        </a:rPr>
                        <a:t>+240%</a:t>
                      </a:r>
                      <a:endParaRPr lang="en-US" sz="13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bl>
          </a:graphicData>
        </a:graphic>
      </p:graphicFrame>
      <p:sp>
        <p:nvSpPr>
          <p:cNvPr id="7" name="Text 3"/>
          <p:cNvSpPr/>
          <p:nvPr/>
        </p:nvSpPr>
        <p:spPr>
          <a:xfrm>
            <a:off x="365760" y="6355080"/>
            <a:ext cx="11457432" cy="41148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Analysis based on lobster futures data 2015-2024. Source: CME Group and market sentiment analysis.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RISK MANAGEMENT</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RISK MANAGEMENT</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822960"/>
          </a:xfrm>
          <a:prstGeom prst="rect">
            <a:avLst/>
          </a:prstGeom>
          <a:noFill/>
          <a:ln/>
        </p:spPr>
        <p:txBody>
          <a:bodyPr wrap="square" rtlCol="0" anchor="ctr"/>
          <a:lstStyle/>
          <a:p>
            <a:pPr indent="0" marL="0">
              <a:buNone/>
            </a:pPr>
            <a:r>
              <a:rPr lang="en-US" sz="2200" b="1" dirty="0">
                <a:solidFill>
                  <a:srgbClr val="FFFFFF"/>
                </a:solidFill>
                <a:latin typeface="Rajdhani" pitchFamily="34" charset="0"/>
                <a:ea typeface="Rajdhani" pitchFamily="34" charset="-122"/>
                <a:cs typeface="Rajdhani" pitchFamily="34" charset="-120"/>
              </a:rPr>
              <a:t>SUCCESSFUL TRADERS BUILD SYSTEMS TO CONQUER EMOTIONAL EXTREMES</a:t>
            </a:r>
            <a:endParaRPr lang="en-US" sz="2200" dirty="0"/>
          </a:p>
        </p:txBody>
      </p:sp>
      <p:sp>
        <p:nvSpPr>
          <p:cNvPr id="5" name="Shape 2"/>
          <p:cNvSpPr/>
          <p:nvPr/>
        </p:nvSpPr>
        <p:spPr>
          <a:xfrm>
            <a:off x="365760"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6" name="Text 3"/>
          <p:cNvSpPr/>
          <p:nvPr/>
        </p:nvSpPr>
        <p:spPr>
          <a:xfrm>
            <a:off x="3956304"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7" name="Shape 4"/>
          <p:cNvSpPr/>
          <p:nvPr/>
        </p:nvSpPr>
        <p:spPr>
          <a:xfrm>
            <a:off x="640080" y="1371600"/>
            <a:ext cx="3087624" cy="365760"/>
          </a:xfrm>
          <a:prstGeom prst="roundRect">
            <a:avLst>
              <a:gd name="adj" fmla="val 50000"/>
            </a:avLst>
          </a:prstGeom>
          <a:solidFill>
            <a:srgbClr val="444444"/>
          </a:solidFill>
          <a:ln/>
        </p:spPr>
      </p:sp>
      <p:sp>
        <p:nvSpPr>
          <p:cNvPr id="8" name="Text 5"/>
          <p:cNvSpPr/>
          <p:nvPr/>
        </p:nvSpPr>
        <p:spPr>
          <a:xfrm>
            <a:off x="640080"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SYSTEMATIC RULES</a:t>
            </a:r>
            <a:endParaRPr lang="en-US" sz="1100" dirty="0"/>
          </a:p>
        </p:txBody>
      </p:sp>
      <p:sp>
        <p:nvSpPr>
          <p:cNvPr id="9" name="Text 6"/>
          <p:cNvSpPr/>
          <p:nvPr/>
        </p:nvSpPr>
        <p:spPr>
          <a:xfrm>
            <a:off x="502920"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Pre-defined entry and exit criteria eliminate emotional decision-making during market stress.</a:t>
            </a:r>
            <a:endParaRPr lang="en-US" sz="1300" dirty="0"/>
          </a:p>
        </p:txBody>
      </p:sp>
      <p:sp>
        <p:nvSpPr>
          <p:cNvPr id="10" name="Shape 7"/>
          <p:cNvSpPr/>
          <p:nvPr/>
        </p:nvSpPr>
        <p:spPr>
          <a:xfrm>
            <a:off x="4093464" y="1554480"/>
            <a:ext cx="3636264" cy="4937760"/>
          </a:xfrm>
          <a:prstGeom prst="roundRect">
            <a:avLst>
              <a:gd name="adj" fmla="val 3772"/>
            </a:avLst>
          </a:prstGeom>
          <a:solidFill>
            <a:srgbClr val="212121"/>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1" name="Text 8"/>
          <p:cNvSpPr/>
          <p:nvPr/>
        </p:nvSpPr>
        <p:spPr>
          <a:xfrm>
            <a:off x="7684008" y="3749040"/>
            <a:ext cx="274320" cy="548640"/>
          </a:xfrm>
          <a:prstGeom prst="rect">
            <a:avLst/>
          </a:prstGeom>
          <a:noFill/>
          <a:ln/>
        </p:spPr>
        <p:txBody>
          <a:bodyPr wrap="square" rtlCol="0" anchor="ctr"/>
          <a:lstStyle/>
          <a:p>
            <a:pPr algn="ctr" indent="0" marL="0">
              <a:buNone/>
            </a:pPr>
            <a:r>
              <a:rPr lang="en-US" sz="2400" b="1" dirty="0">
                <a:solidFill>
                  <a:srgbClr val="FEC00F"/>
                </a:solidFill>
                <a:latin typeface="Rajdhani" pitchFamily="34" charset="0"/>
                <a:ea typeface="Rajdhani" pitchFamily="34" charset="-122"/>
                <a:cs typeface="Rajdhani" pitchFamily="34" charset="-120"/>
              </a:rPr>
              <a:t>=</a:t>
            </a:r>
            <a:endParaRPr lang="en-US" sz="2400" dirty="0"/>
          </a:p>
        </p:txBody>
      </p:sp>
      <p:sp>
        <p:nvSpPr>
          <p:cNvPr id="12" name="Shape 9"/>
          <p:cNvSpPr/>
          <p:nvPr/>
        </p:nvSpPr>
        <p:spPr>
          <a:xfrm>
            <a:off x="4367784" y="1371600"/>
            <a:ext cx="3087624" cy="365760"/>
          </a:xfrm>
          <a:prstGeom prst="roundRect">
            <a:avLst>
              <a:gd name="adj" fmla="val 50000"/>
            </a:avLst>
          </a:prstGeom>
          <a:solidFill>
            <a:srgbClr val="444444"/>
          </a:solidFill>
          <a:ln/>
        </p:spPr>
      </p:sp>
      <p:sp>
        <p:nvSpPr>
          <p:cNvPr id="13" name="Text 10"/>
          <p:cNvSpPr/>
          <p:nvPr/>
        </p:nvSpPr>
        <p:spPr>
          <a:xfrm>
            <a:off x="4367784" y="1371600"/>
            <a:ext cx="3087624" cy="365760"/>
          </a:xfrm>
          <a:prstGeom prst="rect">
            <a:avLst/>
          </a:prstGeom>
          <a:noFill/>
          <a:ln/>
        </p:spPr>
        <p:txBody>
          <a:bodyPr wrap="square" rtlCol="0" anchor="ctr"/>
          <a:lstStyle/>
          <a:p>
            <a:pPr algn="ctr" indent="0" marL="0">
              <a:buNone/>
            </a:pPr>
            <a:r>
              <a:rPr lang="en-US" sz="1100" b="1" dirty="0">
                <a:solidFill>
                  <a:srgbClr val="FEC00F"/>
                </a:solidFill>
                <a:latin typeface="Rajdhani" pitchFamily="34" charset="0"/>
                <a:ea typeface="Rajdhani" pitchFamily="34" charset="-122"/>
                <a:cs typeface="Rajdhani" pitchFamily="34" charset="-120"/>
              </a:rPr>
              <a:t>RISK CONTROLS</a:t>
            </a:r>
            <a:endParaRPr lang="en-US" sz="1100" dirty="0"/>
          </a:p>
        </p:txBody>
      </p:sp>
      <p:sp>
        <p:nvSpPr>
          <p:cNvPr id="14" name="Text 11"/>
          <p:cNvSpPr/>
          <p:nvPr/>
        </p:nvSpPr>
        <p:spPr>
          <a:xfrm>
            <a:off x="4230624" y="1874520"/>
            <a:ext cx="3361944" cy="4389120"/>
          </a:xfrm>
          <a:prstGeom prst="rect">
            <a:avLst/>
          </a:prstGeom>
          <a:noFill/>
          <a:ln/>
        </p:spPr>
        <p:txBody>
          <a:bodyPr wrap="square" rtlCol="0" anchor="ctr"/>
          <a:lstStyle/>
          <a:p>
            <a:pPr algn="ctr" indent="0" marL="0">
              <a:buNone/>
            </a:pPr>
            <a:r>
              <a:rPr lang="en-US" sz="1300" dirty="0">
                <a:solidFill>
                  <a:srgbClr val="FFFFFF"/>
                </a:solidFill>
                <a:latin typeface="Quicksand" pitchFamily="34" charset="0"/>
                <a:ea typeface="Quicksand" pitchFamily="34" charset="-122"/>
                <a:cs typeface="Quicksand" pitchFamily="34" charset="-120"/>
              </a:rPr>
              <a:t>Position sizing and stop-loss protocols limit exposure during volatile emotional periods.</a:t>
            </a:r>
            <a:endParaRPr lang="en-US" sz="1300" dirty="0"/>
          </a:p>
        </p:txBody>
      </p:sp>
      <p:sp>
        <p:nvSpPr>
          <p:cNvPr id="15" name="Shape 12"/>
          <p:cNvSpPr/>
          <p:nvPr/>
        </p:nvSpPr>
        <p:spPr>
          <a:xfrm>
            <a:off x="7821168" y="1554480"/>
            <a:ext cx="3636264" cy="4937760"/>
          </a:xfrm>
          <a:prstGeom prst="roundRect">
            <a:avLst>
              <a:gd name="adj" fmla="val 3772"/>
            </a:avLst>
          </a:prstGeom>
          <a:solidFill>
            <a:srgbClr val="FEC00F"/>
          </a:solidFill>
          <a:ln w="25400">
            <a:solidFill>
              <a:srgbClr val="FEC00F"/>
            </a:solidFill>
            <a:prstDash val="solid"/>
          </a:ln>
          <a:effectLst>
            <a:outerShdw sx="100000" sy="100000" kx="0" ky="0" algn="bl" rotWithShape="0" blurRad="76200" dist="25400" dir="16200000">
              <a:srgbClr val="000000">
                <a:alpha val="20000"/>
              </a:srgbClr>
            </a:outerShdw>
          </a:effectLst>
        </p:spPr>
      </p:sp>
      <p:sp>
        <p:nvSpPr>
          <p:cNvPr id="16" name="Shape 13"/>
          <p:cNvSpPr/>
          <p:nvPr/>
        </p:nvSpPr>
        <p:spPr>
          <a:xfrm>
            <a:off x="8095488" y="1371600"/>
            <a:ext cx="3087624" cy="365760"/>
          </a:xfrm>
          <a:prstGeom prst="roundRect">
            <a:avLst>
              <a:gd name="adj" fmla="val 50000"/>
            </a:avLst>
          </a:prstGeom>
          <a:solidFill>
            <a:srgbClr val="FEC00F"/>
          </a:solidFill>
          <a:ln/>
        </p:spPr>
      </p:sp>
      <p:sp>
        <p:nvSpPr>
          <p:cNvPr id="17" name="Text 14"/>
          <p:cNvSpPr/>
          <p:nvPr/>
        </p:nvSpPr>
        <p:spPr>
          <a:xfrm>
            <a:off x="8095488" y="1371600"/>
            <a:ext cx="3087624" cy="365760"/>
          </a:xfrm>
          <a:prstGeom prst="rect">
            <a:avLst/>
          </a:prstGeom>
          <a:noFill/>
          <a:ln/>
        </p:spPr>
        <p:txBody>
          <a:bodyPr wrap="square" rtlCol="0" anchor="ctr"/>
          <a:lstStyle/>
          <a:p>
            <a:pPr algn="ctr" indent="0" marL="0">
              <a:buNone/>
            </a:pPr>
            <a:r>
              <a:rPr lang="en-US" sz="1100" b="1" dirty="0">
                <a:solidFill>
                  <a:srgbClr val="212121"/>
                </a:solidFill>
                <a:latin typeface="Rajdhani" pitchFamily="34" charset="0"/>
                <a:ea typeface="Rajdhani" pitchFamily="34" charset="-122"/>
                <a:cs typeface="Rajdhani" pitchFamily="34" charset="-120"/>
              </a:rPr>
              <a:t>MARKET RESILIENCE</a:t>
            </a:r>
            <a:endParaRPr lang="en-US" sz="1100" dirty="0"/>
          </a:p>
        </p:txBody>
      </p:sp>
      <p:sp>
        <p:nvSpPr>
          <p:cNvPr id="18" name="Text 15"/>
          <p:cNvSpPr/>
          <p:nvPr/>
        </p:nvSpPr>
        <p:spPr>
          <a:xfrm>
            <a:off x="7958328" y="1874520"/>
            <a:ext cx="3361944" cy="438912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Disciplined approach captures excess returns from emotional market inefficiencies.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LOBSTER MARKET ANALYSIS</a:t>
            </a:r>
            <a:endParaRPr lang="en-US" sz="1100" dirty="0"/>
          </a:p>
        </p:txBody>
      </p:sp>
      <p:pic>
        <p:nvPicPr>
          <p:cNvPr id="3"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212121"/>
                </a:solidFill>
                <a:latin typeface="Rajdhani" pitchFamily="34" charset="0"/>
                <a:ea typeface="Rajdhani" pitchFamily="34" charset="-122"/>
                <a:cs typeface="Rajdhani" pitchFamily="34" charset="-120"/>
              </a:rPr>
              <a:t>EMOTIONAL INTELLIGENCE DELIVERS SUPERIOR RISK-ADJUSTED RETURNS</a:t>
            </a:r>
            <a:endParaRPr lang="en-US" sz="2800" dirty="0"/>
          </a:p>
        </p:txBody>
      </p:sp>
      <p:sp>
        <p:nvSpPr>
          <p:cNvPr id="5" name="Shape 2"/>
          <p:cNvSpPr/>
          <p:nvPr/>
        </p:nvSpPr>
        <p:spPr>
          <a:xfrm>
            <a:off x="365760" y="1188720"/>
            <a:ext cx="1828800" cy="54864"/>
          </a:xfrm>
          <a:prstGeom prst="rect">
            <a:avLst/>
          </a:prstGeom>
          <a:solidFill>
            <a:srgbClr val="FEC00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371600"/>
          <a:ext cx="11457432" cy="914400"/>
        </p:xfrm>
        <a:graphic>
          <a:graphicData uri="http://schemas.openxmlformats.org/drawingml/2006/table">
            <a:tbl>
              <a:tblPr/>
              <a:tblGrid>
                <a:gridCol w="2291486"/>
                <a:gridCol w="2291486"/>
                <a:gridCol w="2291486"/>
                <a:gridCol w="2291486"/>
                <a:gridCol w="2291486"/>
              </a:tblGrid>
              <a:tr h="411480">
                <a:tc gridSpan="5">
                  <a:txBody>
                    <a:bodyPr/>
                    <a:lstStyle/>
                    <a:p>
                      <a:pPr algn="ctr" indent="0" marL="0">
                        <a:buNone/>
                      </a:pPr>
                      <a:r>
                        <a:rPr lang="en-US" sz="1400" b="1" dirty="0">
                          <a:solidFill>
                            <a:srgbClr val="212121"/>
                          </a:solidFill>
                          <a:latin typeface="Rajdhani" pitchFamily="34" charset="0"/>
                          <a:ea typeface="Rajdhani" pitchFamily="34" charset="-122"/>
                          <a:cs typeface="Rajdhani" pitchFamily="34" charset="-120"/>
                        </a:rPr>
                        <a:t>PERFORMANCE COMPARISON</a:t>
                      </a:r>
                      <a:endParaRPr lang="en-US" sz="14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EC00F"/>
                    </a:solidFill>
                  </a:tcPr>
                </a:tc>
                <a:tc hMerge="1">
                  <a:tcPr/>
                </a:tc>
                <a:tc hMerge="1">
                  <a:tcPr/>
                </a:tc>
                <a:tc hMerge="1">
                  <a:tcPr/>
                </a:tc>
                <a:tc hMerge="1">
                  <a:tcPr/>
                </a:tc>
              </a:tr>
              <a:tr h="411480">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TRADING APPROACH</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ANNUAL RETURN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MAX DRAWDOWN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SHARPE RATIO</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c>
                  <a:txBody>
                    <a:bodyPr/>
                    <a:lstStyle/>
                    <a:p>
                      <a:pPr algn="ctr" indent="0" marL="0">
                        <a:buNone/>
                      </a:pPr>
                      <a:r>
                        <a:rPr lang="en-US" sz="1200" b="1" dirty="0">
                          <a:solidFill>
                            <a:srgbClr val="FFFFFF"/>
                          </a:solidFill>
                          <a:latin typeface="Rajdhani" pitchFamily="34" charset="0"/>
                          <a:ea typeface="Rajdhani" pitchFamily="34" charset="-122"/>
                          <a:cs typeface="Rajdhani" pitchFamily="34" charset="-120"/>
                        </a:rPr>
                        <a:t>EMOTIONAL CORRELATION</a:t>
                      </a:r>
                      <a:endParaRPr lang="en-US" sz="1200" dirty="0">
                        <a:latin typeface="Rajdhani" charset="0"/>
                        <a:ea typeface="Rajdhani" charset="0"/>
                        <a:cs typeface="Rajdhani"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212121"/>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Emotional Traders</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8.4%</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-45.2%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0.31</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0.89</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Systematic Approach</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14.7%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-18.6%</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0.67</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0.23</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5F5F5"/>
                    </a:solidFill>
                  </a:tcPr>
                </a:tc>
              </a:tr>
              <a:tr h="411480">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Buy &amp; Hold Baseline</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6.2%</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-34.8%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0.28</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Quicksand" pitchFamily="34" charset="0"/>
                          <a:ea typeface="Quicksand" pitchFamily="34" charset="-122"/>
                          <a:cs typeface="Quicksand" pitchFamily="34" charset="-120"/>
                        </a:rPr>
                        <a:t>0.95</a:t>
                      </a:r>
                      <a:endParaRPr lang="en-US" sz="1200" dirty="0">
                        <a:latin typeface="Quicksand" charset="0"/>
                        <a:ea typeface="Quicksand" charset="0"/>
                        <a:cs typeface="Quicksand" charset="0"/>
                      </a:endParaRPr>
                    </a:p>
                  </a:txBody>
                  <a:tcPr marL="91440" marR="91440" marT="45720" marB="45720">
                    <a:lnL w="12700" cap="flat" cmpd="sng" algn="ctr">
                      <a:solidFill>
                        <a:srgbClr val="C6C6C6"/>
                      </a:solidFill>
                      <a:prstDash val="solid"/>
                      <a:round/>
                      <a:headEnd type="none" w="med" len="med"/>
                      <a:tailEnd type="none" w="med" len="med"/>
                    </a:lnL>
                    <a:lnR w="12700" cap="flat" cmpd="sng" algn="ctr">
                      <a:solidFill>
                        <a:srgbClr val="C6C6C6"/>
                      </a:solidFill>
                      <a:prstDash val="solid"/>
                      <a:round/>
                      <a:headEnd type="none" w="med" len="med"/>
                      <a:tailEnd type="none" w="med" len="med"/>
                    </a:lnR>
                    <a:lnT w="12700" cap="flat" cmpd="sng" algn="ctr">
                      <a:solidFill>
                        <a:srgbClr val="C6C6C6"/>
                      </a:solidFill>
                      <a:prstDash val="solid"/>
                      <a:round/>
                      <a:headEnd type="none" w="med" len="med"/>
                      <a:tailEnd type="none" w="med" len="med"/>
                    </a:lnT>
                    <a:lnB w="12700" cap="flat" cmpd="sng" algn="ctr">
                      <a:solidFill>
                        <a:srgbClr val="C6C6C6"/>
                      </a:solidFill>
                      <a:prstDash val="solid"/>
                      <a:round/>
                      <a:headEnd type="none" w="med" len="med"/>
                      <a:tailEnd type="none" w="med" len="med"/>
                    </a:lnB>
                    <a:solidFill>
                      <a:srgbClr val="FFFFFF"/>
                    </a:solidFill>
                  </a:tcPr>
                </a:tc>
              </a:tr>
            </a:tbl>
          </a:graphicData>
        </a:graphic>
      </p:graphicFrame>
      <p:sp>
        <p:nvSpPr>
          <p:cNvPr id="7" name="Text 3"/>
          <p:cNvSpPr/>
          <p:nvPr/>
        </p:nvSpPr>
        <p:spPr>
          <a:xfrm>
            <a:off x="365760" y="6446520"/>
            <a:ext cx="11457432" cy="320040"/>
          </a:xfrm>
          <a:prstGeom prst="rect">
            <a:avLst/>
          </a:prstGeom>
          <a:noFill/>
          <a:ln/>
        </p:spPr>
        <p:txBody>
          <a:bodyPr wrap="square" rtlCol="0" anchor="ctr"/>
          <a:lstStyle/>
          <a:p>
            <a:pPr indent="0" marL="0">
              <a:buNone/>
            </a:pPr>
            <a:r>
              <a:rPr lang="en-US" sz="900" i="1" dirty="0">
                <a:solidFill>
                  <a:srgbClr val="737373"/>
                </a:solidFill>
                <a:latin typeface="Quicksand" pitchFamily="34" charset="0"/>
                <a:ea typeface="Quicksand" pitchFamily="34" charset="-122"/>
                <a:cs typeface="Quicksand" pitchFamily="34" charset="-120"/>
              </a:rPr>
              <a:t>Backtest results 2015-2024. Source: Proprietary analysis of lobster futures performance.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LOBSTER MARKET ANALYSIS</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640080"/>
          </a:xfrm>
          <a:prstGeom prst="rect">
            <a:avLst/>
          </a:prstGeom>
          <a:noFill/>
          <a:ln/>
        </p:spPr>
        <p:txBody>
          <a:bodyPr wrap="square" rtlCol="0" anchor="ctr"/>
          <a:lstStyle/>
          <a:p>
            <a:pPr indent="0" marL="0">
              <a:buNone/>
            </a:pPr>
            <a:r>
              <a:rPr lang="en-US" sz="2800" b="1" dirty="0">
                <a:solidFill>
                  <a:srgbClr val="FFFFFF"/>
                </a:solidFill>
                <a:latin typeface="Rajdhani" pitchFamily="34" charset="0"/>
                <a:ea typeface="Rajdhani" pitchFamily="34" charset="-122"/>
                <a:cs typeface="Rajdhani" pitchFamily="34" charset="-120"/>
              </a:rPr>
              <a:t>HOW ARE TRADERS USING EMOTIONAL ANALYSIS?</a:t>
            </a:r>
            <a:endParaRPr lang="en-US" sz="2800" dirty="0"/>
          </a:p>
        </p:txBody>
      </p:sp>
      <p:sp>
        <p:nvSpPr>
          <p:cNvPr id="5" name="Shape 2"/>
          <p:cNvSpPr/>
          <p:nvPr/>
        </p:nvSpPr>
        <p:spPr>
          <a:xfrm>
            <a:off x="365760" y="1554480"/>
            <a:ext cx="2560320" cy="2560320"/>
          </a:xfrm>
          <a:prstGeom prst="ellipse">
            <a:avLst/>
          </a:prstGeom>
          <a:solidFill>
            <a:srgbClr val="212121"/>
          </a:solidFill>
          <a:ln w="38100">
            <a:solidFill>
              <a:srgbClr val="FEC00F"/>
            </a:solidFill>
            <a:prstDash val="solid"/>
          </a:ln>
        </p:spPr>
      </p:sp>
      <p:sp>
        <p:nvSpPr>
          <p:cNvPr id="6" name="Text 3"/>
          <p:cNvSpPr/>
          <p:nvPr/>
        </p:nvSpPr>
        <p:spPr>
          <a:xfrm>
            <a:off x="457200"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CONTRARIAN POSITIONING</a:t>
            </a:r>
            <a:endParaRPr lang="en-US" sz="1300" dirty="0"/>
          </a:p>
        </p:txBody>
      </p:sp>
      <p:sp>
        <p:nvSpPr>
          <p:cNvPr id="7" name="Text 4"/>
          <p:cNvSpPr/>
          <p:nvPr/>
        </p:nvSpPr>
        <p:spPr>
          <a:xfrm>
            <a:off x="457200"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Fade extreme sentiment readings to capture mean reversion opportunities.</a:t>
            </a:r>
            <a:endParaRPr lang="en-US" sz="1100" dirty="0"/>
          </a:p>
        </p:txBody>
      </p:sp>
      <p:sp>
        <p:nvSpPr>
          <p:cNvPr id="8" name="Shape 5"/>
          <p:cNvSpPr/>
          <p:nvPr/>
        </p:nvSpPr>
        <p:spPr>
          <a:xfrm>
            <a:off x="3331464" y="1554480"/>
            <a:ext cx="2560320" cy="2560320"/>
          </a:xfrm>
          <a:prstGeom prst="ellipse">
            <a:avLst/>
          </a:prstGeom>
          <a:solidFill>
            <a:srgbClr val="212121"/>
          </a:solidFill>
          <a:ln w="38100">
            <a:solidFill>
              <a:srgbClr val="FEC00F"/>
            </a:solidFill>
            <a:prstDash val="solid"/>
          </a:ln>
        </p:spPr>
      </p:sp>
      <p:sp>
        <p:nvSpPr>
          <p:cNvPr id="9" name="Text 6"/>
          <p:cNvSpPr/>
          <p:nvPr/>
        </p:nvSpPr>
        <p:spPr>
          <a:xfrm>
            <a:off x="3422904"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VOLATILITY TRADING</a:t>
            </a:r>
            <a:endParaRPr lang="en-US" sz="1300" dirty="0"/>
          </a:p>
        </p:txBody>
      </p:sp>
      <p:sp>
        <p:nvSpPr>
          <p:cNvPr id="10" name="Text 7"/>
          <p:cNvSpPr/>
          <p:nvPr/>
        </p:nvSpPr>
        <p:spPr>
          <a:xfrm>
            <a:off x="3422904"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Profit from elevated option premiums during emotional market periods.</a:t>
            </a:r>
            <a:endParaRPr lang="en-US" sz="1100" dirty="0"/>
          </a:p>
        </p:txBody>
      </p:sp>
      <p:sp>
        <p:nvSpPr>
          <p:cNvPr id="11" name="Shape 8"/>
          <p:cNvSpPr/>
          <p:nvPr/>
        </p:nvSpPr>
        <p:spPr>
          <a:xfrm>
            <a:off x="6297168" y="1554480"/>
            <a:ext cx="2560320" cy="2560320"/>
          </a:xfrm>
          <a:prstGeom prst="ellipse">
            <a:avLst/>
          </a:prstGeom>
          <a:solidFill>
            <a:srgbClr val="212121"/>
          </a:solidFill>
          <a:ln w="38100">
            <a:solidFill>
              <a:srgbClr val="FEC00F"/>
            </a:solidFill>
            <a:prstDash val="solid"/>
          </a:ln>
        </p:spPr>
      </p:sp>
      <p:sp>
        <p:nvSpPr>
          <p:cNvPr id="12" name="Text 9"/>
          <p:cNvSpPr/>
          <p:nvPr/>
        </p:nvSpPr>
        <p:spPr>
          <a:xfrm>
            <a:off x="6388608"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SEASONAL STRATEGIES</a:t>
            </a:r>
            <a:endParaRPr lang="en-US" sz="1300" dirty="0"/>
          </a:p>
        </p:txBody>
      </p:sp>
      <p:sp>
        <p:nvSpPr>
          <p:cNvPr id="13" name="Text 10"/>
          <p:cNvSpPr/>
          <p:nvPr/>
        </p:nvSpPr>
        <p:spPr>
          <a:xfrm>
            <a:off x="6388608"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Anticipate predictable emotional cycles around holiday demand periods.</a:t>
            </a:r>
            <a:endParaRPr lang="en-US" sz="1100" dirty="0"/>
          </a:p>
        </p:txBody>
      </p:sp>
      <p:sp>
        <p:nvSpPr>
          <p:cNvPr id="14" name="Shape 11"/>
          <p:cNvSpPr/>
          <p:nvPr/>
        </p:nvSpPr>
        <p:spPr>
          <a:xfrm>
            <a:off x="9262872" y="1554480"/>
            <a:ext cx="2560320" cy="2560320"/>
          </a:xfrm>
          <a:prstGeom prst="ellipse">
            <a:avLst/>
          </a:prstGeom>
          <a:solidFill>
            <a:srgbClr val="212121"/>
          </a:solidFill>
          <a:ln w="38100">
            <a:solidFill>
              <a:srgbClr val="FEC00F"/>
            </a:solidFill>
            <a:prstDash val="solid"/>
          </a:ln>
        </p:spPr>
      </p:sp>
      <p:sp>
        <p:nvSpPr>
          <p:cNvPr id="15" name="Text 12"/>
          <p:cNvSpPr/>
          <p:nvPr/>
        </p:nvSpPr>
        <p:spPr>
          <a:xfrm>
            <a:off x="9354312" y="1920240"/>
            <a:ext cx="2377440" cy="502920"/>
          </a:xfrm>
          <a:prstGeom prst="rect">
            <a:avLst/>
          </a:prstGeom>
          <a:noFill/>
          <a:ln/>
        </p:spPr>
        <p:txBody>
          <a:bodyPr wrap="square" rtlCol="0" anchor="ctr"/>
          <a:lstStyle/>
          <a:p>
            <a:pPr algn="ctr" indent="0" marL="0">
              <a:buNone/>
            </a:pPr>
            <a:r>
              <a:rPr lang="en-US" sz="1300" b="1" dirty="0">
                <a:solidFill>
                  <a:srgbClr val="FEC00F"/>
                </a:solidFill>
                <a:latin typeface="Rajdhani" pitchFamily="34" charset="0"/>
                <a:ea typeface="Rajdhani" pitchFamily="34" charset="-122"/>
                <a:cs typeface="Rajdhani" pitchFamily="34" charset="-120"/>
              </a:rPr>
              <a:t>RISK MANAGEMENT</a:t>
            </a:r>
            <a:endParaRPr lang="en-US" sz="1300" dirty="0"/>
          </a:p>
        </p:txBody>
      </p:sp>
      <p:sp>
        <p:nvSpPr>
          <p:cNvPr id="16" name="Text 13"/>
          <p:cNvSpPr/>
          <p:nvPr/>
        </p:nvSpPr>
        <p:spPr>
          <a:xfrm>
            <a:off x="9354312" y="2468880"/>
            <a:ext cx="2377440" cy="1280160"/>
          </a:xfrm>
          <a:prstGeom prst="rect">
            <a:avLst/>
          </a:prstGeom>
          <a:noFill/>
          <a:ln/>
        </p:spPr>
        <p:txBody>
          <a:bodyPr wrap="square" rtlCol="0" anchor="ctr"/>
          <a:lstStyle/>
          <a:p>
            <a:pPr algn="ctr" indent="0" marL="0">
              <a:buNone/>
            </a:pPr>
            <a:r>
              <a:rPr lang="en-US" sz="1100" dirty="0">
                <a:solidFill>
                  <a:srgbClr val="FFFFFF"/>
                </a:solidFill>
                <a:latin typeface="Quicksand" pitchFamily="34" charset="0"/>
                <a:ea typeface="Quicksand" pitchFamily="34" charset="-122"/>
                <a:cs typeface="Quicksand" pitchFamily="34" charset="-120"/>
              </a:rPr>
              <a:t>Reduce position sizes when sentiment indicators signal dangerous extremes.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black.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731520" y="2286000"/>
            <a:ext cx="10725912" cy="1828800"/>
          </a:xfrm>
          <a:prstGeom prst="rect">
            <a:avLst/>
          </a:prstGeom>
          <a:noFill/>
          <a:ln/>
        </p:spPr>
        <p:txBody>
          <a:bodyPr wrap="square" rtlCol="0" anchor="ctr"/>
          <a:lstStyle/>
          <a:p>
            <a:pPr algn="ctr" indent="0" marL="0">
              <a:buNone/>
            </a:pPr>
            <a:r>
              <a:rPr lang="en-US" sz="4400" b="1" dirty="0">
                <a:solidFill>
                  <a:srgbClr val="212121"/>
                </a:solidFill>
                <a:latin typeface="Rajdhani" pitchFamily="34" charset="0"/>
                <a:ea typeface="Rajdhani" pitchFamily="34" charset="-122"/>
                <a:cs typeface="Rajdhani" pitchFamily="34" charset="-120"/>
              </a:rPr>
              <a:t>FUTURE OUTLOOK</a:t>
            </a:r>
            <a:endParaRPr lang="en-US" sz="4400" dirty="0"/>
          </a:p>
        </p:txBody>
      </p:sp>
      <p:sp>
        <p:nvSpPr>
          <p:cNvPr id="4" name="Shape 1"/>
          <p:cNvSpPr/>
          <p:nvPr/>
        </p:nvSpPr>
        <p:spPr>
          <a:xfrm>
            <a:off x="4722876" y="4251960"/>
            <a:ext cx="2743200" cy="73152"/>
          </a:xfrm>
          <a:prstGeom prst="rect">
            <a:avLst/>
          </a:prstGeom>
          <a:solidFill>
            <a:srgbClr val="FEC00F"/>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2121"/>
        </a:solidFill>
      </p:bgPr>
    </p:bg>
    <p:spTree>
      <p:nvGrpSpPr>
        <p:cNvPr id="1" name=""/>
        <p:cNvGrpSpPr/>
        <p:nvPr/>
      </p:nvGrpSpPr>
      <p:grpSpPr>
        <a:xfrm>
          <a:off x="0" y="0"/>
          <a:ext cx="0" cy="0"/>
          <a:chOff x="0" y="0"/>
          <a:chExt cx="0" cy="0"/>
        </a:xfrm>
      </p:grpSpPr>
      <p:sp>
        <p:nvSpPr>
          <p:cNvPr id="2" name="Text 0"/>
          <p:cNvSpPr/>
          <p:nvPr/>
        </p:nvSpPr>
        <p:spPr>
          <a:xfrm>
            <a:off x="365760" y="137160"/>
            <a:ext cx="5486400" cy="320040"/>
          </a:xfrm>
          <a:prstGeom prst="rect">
            <a:avLst/>
          </a:prstGeom>
          <a:noFill/>
          <a:ln/>
        </p:spPr>
        <p:txBody>
          <a:bodyPr wrap="square" rtlCol="0" anchor="ctr"/>
          <a:lstStyle/>
          <a:p>
            <a:pPr algn="l" indent="0" marL="0">
              <a:buNone/>
            </a:pPr>
            <a:r>
              <a:rPr lang="en-US" sz="1100" b="1" dirty="0">
                <a:solidFill>
                  <a:srgbClr val="FEC00F"/>
                </a:solidFill>
                <a:latin typeface="Rajdhani" pitchFamily="34" charset="0"/>
                <a:ea typeface="Rajdhani" pitchFamily="34" charset="-122"/>
                <a:cs typeface="Rajdhani" pitchFamily="34" charset="-120"/>
              </a:rPr>
              <a:t>FUTURE OUTLOOK</a:t>
            </a:r>
            <a:endParaRPr lang="en-US" sz="1100" dirty="0"/>
          </a:p>
        </p:txBody>
      </p:sp>
      <p:pic>
        <p:nvPicPr>
          <p:cNvPr id="3"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4" name="Text 1"/>
          <p:cNvSpPr/>
          <p:nvPr/>
        </p:nvSpPr>
        <p:spPr>
          <a:xfrm>
            <a:off x="365760" y="502920"/>
            <a:ext cx="10817352" cy="594360"/>
          </a:xfrm>
          <a:prstGeom prst="rect">
            <a:avLst/>
          </a:prstGeom>
          <a:noFill/>
          <a:ln/>
        </p:spPr>
        <p:txBody>
          <a:bodyPr wrap="square" rtlCol="0" anchor="ctr"/>
          <a:lstStyle/>
          <a:p>
            <a:pPr indent="0" marL="0">
              <a:buNone/>
            </a:pPr>
            <a:r>
              <a:rPr lang="en-US" sz="2600" b="1" dirty="0">
                <a:solidFill>
                  <a:srgbClr val="FFFFFF"/>
                </a:solidFill>
                <a:latin typeface="Rajdhani" pitchFamily="34" charset="0"/>
                <a:ea typeface="Rajdhani" pitchFamily="34" charset="-122"/>
                <a:cs typeface="Rajdhani" pitchFamily="34" charset="-120"/>
              </a:rPr>
              <a:t>LONG-TERM TRENDS WILL AMPLIFY EMOTIONAL MARKET DYNAMICS</a:t>
            </a:r>
            <a:endParaRPr lang="en-US" sz="2600" dirty="0"/>
          </a:p>
        </p:txBody>
      </p:sp>
      <p:sp>
        <p:nvSpPr>
          <p:cNvPr id="5" name="Shape 2"/>
          <p:cNvSpPr/>
          <p:nvPr/>
        </p:nvSpPr>
        <p:spPr>
          <a:xfrm>
            <a:off x="365760" y="1691640"/>
            <a:ext cx="4572000" cy="1280160"/>
          </a:xfrm>
          <a:prstGeom prst="rect">
            <a:avLst/>
          </a:prstGeom>
          <a:solidFill>
            <a:srgbClr val="212121"/>
          </a:solidFill>
          <a:ln w="25400">
            <a:solidFill>
              <a:srgbClr val="FEC00F"/>
            </a:solidFill>
            <a:prstDash val="solid"/>
          </a:ln>
        </p:spPr>
      </p:sp>
      <p:sp>
        <p:nvSpPr>
          <p:cNvPr id="6" name="Text 3"/>
          <p:cNvSpPr/>
          <p:nvPr/>
        </p:nvSpPr>
        <p:spPr>
          <a:xfrm>
            <a:off x="548640" y="178308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CLIMATE ANXIETY</a:t>
            </a:r>
            <a:endParaRPr lang="en-US" sz="1400" dirty="0"/>
          </a:p>
        </p:txBody>
      </p:sp>
      <p:sp>
        <p:nvSpPr>
          <p:cNvPr id="7" name="Text 4"/>
          <p:cNvSpPr/>
          <p:nvPr/>
        </p:nvSpPr>
        <p:spPr>
          <a:xfrm>
            <a:off x="548640" y="219456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Increasing environmental concerns will drive more volatile emotional responses</a:t>
            </a:r>
            <a:endParaRPr lang="en-US" sz="1200" dirty="0"/>
          </a:p>
        </p:txBody>
      </p:sp>
      <p:sp>
        <p:nvSpPr>
          <p:cNvPr id="8" name="Shape 5"/>
          <p:cNvSpPr/>
          <p:nvPr/>
        </p:nvSpPr>
        <p:spPr>
          <a:xfrm>
            <a:off x="365760" y="3154680"/>
            <a:ext cx="4572000" cy="1280160"/>
          </a:xfrm>
          <a:prstGeom prst="rect">
            <a:avLst/>
          </a:prstGeom>
          <a:solidFill>
            <a:srgbClr val="212121"/>
          </a:solidFill>
          <a:ln w="25400">
            <a:solidFill>
              <a:srgbClr val="FEC00F"/>
            </a:solidFill>
            <a:prstDash val="solid"/>
          </a:ln>
        </p:spPr>
      </p:sp>
      <p:sp>
        <p:nvSpPr>
          <p:cNvPr id="9" name="Text 6"/>
          <p:cNvSpPr/>
          <p:nvPr/>
        </p:nvSpPr>
        <p:spPr>
          <a:xfrm>
            <a:off x="548640" y="324612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SOCIAL MEDIA</a:t>
            </a:r>
            <a:endParaRPr lang="en-US" sz="1400" dirty="0"/>
          </a:p>
        </p:txBody>
      </p:sp>
      <p:sp>
        <p:nvSpPr>
          <p:cNvPr id="10" name="Text 7"/>
          <p:cNvSpPr/>
          <p:nvPr/>
        </p:nvSpPr>
        <p:spPr>
          <a:xfrm>
            <a:off x="548640" y="365760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Real-time sentiment transmission accelerates emotional contagion effects</a:t>
            </a:r>
            <a:endParaRPr lang="en-US" sz="1200" dirty="0"/>
          </a:p>
        </p:txBody>
      </p:sp>
      <p:sp>
        <p:nvSpPr>
          <p:cNvPr id="11" name="Shape 8"/>
          <p:cNvSpPr/>
          <p:nvPr/>
        </p:nvSpPr>
        <p:spPr>
          <a:xfrm>
            <a:off x="365760" y="4617720"/>
            <a:ext cx="4572000" cy="1280160"/>
          </a:xfrm>
          <a:prstGeom prst="rect">
            <a:avLst/>
          </a:prstGeom>
          <a:solidFill>
            <a:srgbClr val="212121"/>
          </a:solidFill>
          <a:ln w="25400">
            <a:solidFill>
              <a:srgbClr val="FEC00F"/>
            </a:solidFill>
            <a:prstDash val="solid"/>
          </a:ln>
        </p:spPr>
      </p:sp>
      <p:sp>
        <p:nvSpPr>
          <p:cNvPr id="12" name="Text 9"/>
          <p:cNvSpPr/>
          <p:nvPr/>
        </p:nvSpPr>
        <p:spPr>
          <a:xfrm>
            <a:off x="548640" y="4709160"/>
            <a:ext cx="4206240" cy="365760"/>
          </a:xfrm>
          <a:prstGeom prst="rect">
            <a:avLst/>
          </a:prstGeom>
          <a:noFill/>
          <a:ln/>
        </p:spPr>
        <p:txBody>
          <a:bodyPr wrap="square" rtlCol="0" anchor="ctr"/>
          <a:lstStyle/>
          <a:p>
            <a:pPr indent="0" marL="0">
              <a:buNone/>
            </a:pPr>
            <a:r>
              <a:rPr lang="en-US" sz="1400" b="1" dirty="0">
                <a:solidFill>
                  <a:srgbClr val="FEC00F"/>
                </a:solidFill>
                <a:latin typeface="Rajdhani" pitchFamily="34" charset="0"/>
                <a:ea typeface="Rajdhani" pitchFamily="34" charset="-122"/>
                <a:cs typeface="Rajdhani" pitchFamily="34" charset="-120"/>
              </a:rPr>
              <a:t>ESG MANDATES</a:t>
            </a:r>
            <a:endParaRPr lang="en-US" sz="1400" dirty="0"/>
          </a:p>
        </p:txBody>
      </p:sp>
      <p:sp>
        <p:nvSpPr>
          <p:cNvPr id="13" name="Text 10"/>
          <p:cNvSpPr/>
          <p:nvPr/>
        </p:nvSpPr>
        <p:spPr>
          <a:xfrm>
            <a:off x="548640" y="5120640"/>
            <a:ext cx="4206240" cy="685800"/>
          </a:xfrm>
          <a:prstGeom prst="rect">
            <a:avLst/>
          </a:prstGeom>
          <a:noFill/>
          <a:ln/>
        </p:spPr>
        <p:txBody>
          <a:bodyPr wrap="square" rtlCol="0" anchor="ctr"/>
          <a:lstStyle/>
          <a:p>
            <a:pPr indent="0" marL="0">
              <a:buNone/>
            </a:pPr>
            <a:r>
              <a:rPr lang="en-US" sz="1200" dirty="0">
                <a:solidFill>
                  <a:srgbClr val="FFFFFF"/>
                </a:solidFill>
                <a:latin typeface="Quicksand" pitchFamily="34" charset="0"/>
                <a:ea typeface="Quicksand" pitchFamily="34" charset="-122"/>
                <a:cs typeface="Quicksand" pitchFamily="34" charset="-120"/>
              </a:rPr>
              <a:t>Institutional sustainability requirements create new emotional buying pressures</a:t>
            </a:r>
            <a:endParaRPr lang="en-US" sz="1200" dirty="0"/>
          </a:p>
        </p:txBody>
      </p:sp>
      <p:sp>
        <p:nvSpPr>
          <p:cNvPr id="14" name="Text 11"/>
          <p:cNvSpPr/>
          <p:nvPr/>
        </p:nvSpPr>
        <p:spPr>
          <a:xfrm>
            <a:off x="4937760" y="3520440"/>
            <a:ext cx="731520" cy="731520"/>
          </a:xfrm>
          <a:prstGeom prst="rect">
            <a:avLst/>
          </a:prstGeom>
          <a:noFill/>
          <a:ln/>
        </p:spPr>
        <p:txBody>
          <a:bodyPr wrap="square" rtlCol="0" anchor="ctr"/>
          <a:lstStyle/>
          <a:p>
            <a:pPr algn="ctr" indent="0" marL="0">
              <a:buNone/>
            </a:pPr>
            <a:r>
              <a:rPr lang="en-US" sz="3600" dirty="0">
                <a:solidFill>
                  <a:srgbClr val="FEC00F"/>
                </a:solidFill>
                <a:latin typeface="Rajdhani" pitchFamily="34" charset="0"/>
                <a:ea typeface="Rajdhani" pitchFamily="34" charset="-122"/>
                <a:cs typeface="Rajdhani" pitchFamily="34" charset="-120"/>
              </a:rPr>
              <a:t>→</a:t>
            </a:r>
            <a:endParaRPr lang="en-US" sz="3600" dirty="0"/>
          </a:p>
        </p:txBody>
      </p:sp>
      <p:sp>
        <p:nvSpPr>
          <p:cNvPr id="15" name="Shape 12"/>
          <p:cNvSpPr/>
          <p:nvPr/>
        </p:nvSpPr>
        <p:spPr>
          <a:xfrm>
            <a:off x="5852160" y="1691640"/>
            <a:ext cx="5971032" cy="4206240"/>
          </a:xfrm>
          <a:prstGeom prst="rect">
            <a:avLst/>
          </a:prstGeom>
          <a:solidFill>
            <a:srgbClr val="FEC00F"/>
          </a:solidFill>
          <a:ln/>
        </p:spPr>
      </p:sp>
      <p:sp>
        <p:nvSpPr>
          <p:cNvPr id="16" name="Text 13"/>
          <p:cNvSpPr/>
          <p:nvPr/>
        </p:nvSpPr>
        <p:spPr>
          <a:xfrm>
            <a:off x="6035040" y="1874520"/>
            <a:ext cx="5605272" cy="502920"/>
          </a:xfrm>
          <a:prstGeom prst="rect">
            <a:avLst/>
          </a:prstGeom>
          <a:noFill/>
          <a:ln/>
        </p:spPr>
        <p:txBody>
          <a:bodyPr wrap="square" rtlCol="0" anchor="ctr"/>
          <a:lstStyle/>
          <a:p>
            <a:pPr algn="ctr" indent="0" marL="0">
              <a:buNone/>
            </a:pPr>
            <a:r>
              <a:rPr lang="en-US" sz="1500" b="1" dirty="0">
                <a:solidFill>
                  <a:srgbClr val="212121"/>
                </a:solidFill>
                <a:latin typeface="Rajdhani" pitchFamily="34" charset="0"/>
                <a:ea typeface="Rajdhani" pitchFamily="34" charset="-122"/>
                <a:cs typeface="Rajdhani" pitchFamily="34" charset="-120"/>
              </a:rPr>
              <a:t>GREATER OPPORTUNITY</a:t>
            </a:r>
            <a:endParaRPr lang="en-US" sz="1500" dirty="0"/>
          </a:p>
        </p:txBody>
      </p:sp>
      <p:sp>
        <p:nvSpPr>
          <p:cNvPr id="17" name="Text 14"/>
          <p:cNvSpPr/>
          <p:nvPr/>
        </p:nvSpPr>
        <p:spPr>
          <a:xfrm>
            <a:off x="6035040" y="2468880"/>
            <a:ext cx="5605272" cy="3200400"/>
          </a:xfrm>
          <a:prstGeom prst="rect">
            <a:avLst/>
          </a:prstGeom>
          <a:noFill/>
          <a:ln/>
        </p:spPr>
        <p:txBody>
          <a:bodyPr wrap="square" rtlCol="0" anchor="ctr"/>
          <a:lstStyle/>
          <a:p>
            <a:pPr algn="ctr" indent="0" marL="0">
              <a:buNone/>
            </a:pPr>
            <a:r>
              <a:rPr lang="en-US" sz="1300" dirty="0">
                <a:solidFill>
                  <a:srgbClr val="212121"/>
                </a:solidFill>
                <a:latin typeface="Quicksand" pitchFamily="34" charset="0"/>
                <a:ea typeface="Quicksand" pitchFamily="34" charset="-122"/>
                <a:cs typeface="Quicksand" pitchFamily="34" charset="-120"/>
              </a:rPr>
              <a:t>More emotional volatility means higher returns for systematic, disciplined traders.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full-logo.png">    </p:cNvPr>
          <p:cNvPicPr>
            <a:picLocks noChangeAspect="1"/>
          </p:cNvPicPr>
          <p:nvPr/>
        </p:nvPicPr>
        <p:blipFill>
          <a:blip r:embed="rId1"/>
          <a:srcRect l="0" r="0" t="0" b="0"/>
          <a:stretch/>
        </p:blipFill>
        <p:spPr>
          <a:xfrm>
            <a:off x="365760" y="228600"/>
            <a:ext cx="1828800" cy="594360"/>
          </a:xfrm>
          <a:prstGeom prst="rect">
            <a:avLst/>
          </a:prstGeom>
        </p:spPr>
      </p:pic>
      <p:sp>
        <p:nvSpPr>
          <p:cNvPr id="3" name="Text 0"/>
          <p:cNvSpPr/>
          <p:nvPr/>
        </p:nvSpPr>
        <p:spPr>
          <a:xfrm>
            <a:off x="365760" y="2286000"/>
            <a:ext cx="11457432" cy="1371600"/>
          </a:xfrm>
          <a:prstGeom prst="rect">
            <a:avLst/>
          </a:prstGeom>
          <a:noFill/>
          <a:ln/>
        </p:spPr>
        <p:txBody>
          <a:bodyPr wrap="square" rtlCol="0" anchor="ctr"/>
          <a:lstStyle/>
          <a:p>
            <a:pPr algn="ctr" indent="0" marL="0">
              <a:buNone/>
            </a:pPr>
            <a:r>
              <a:rPr lang="en-US" sz="6000" b="1" dirty="0">
                <a:solidFill>
                  <a:srgbClr val="FFFFFF"/>
                </a:solidFill>
                <a:latin typeface="Rajdhani" pitchFamily="34" charset="0"/>
                <a:ea typeface="Rajdhani" pitchFamily="34" charset="-122"/>
                <a:cs typeface="Rajdhani" pitchFamily="34" charset="-120"/>
              </a:rPr>
              <a:t>THANK YOU!</a:t>
            </a:r>
            <a:endParaRPr lang="en-US" sz="6000" dirty="0"/>
          </a:p>
        </p:txBody>
      </p:sp>
      <p:sp>
        <p:nvSpPr>
          <p:cNvPr id="4" name="Text 1"/>
          <p:cNvSpPr/>
          <p:nvPr/>
        </p:nvSpPr>
        <p:spPr>
          <a:xfrm>
            <a:off x="365760" y="3840480"/>
            <a:ext cx="11457432" cy="548640"/>
          </a:xfrm>
          <a:prstGeom prst="rect">
            <a:avLst/>
          </a:prstGeom>
          <a:noFill/>
          <a:ln/>
        </p:spPr>
        <p:txBody>
          <a:bodyPr wrap="square" rtlCol="0" anchor="ctr"/>
          <a:lstStyle/>
          <a:p>
            <a:pPr algn="ctr" indent="0" marL="0">
              <a:buNone/>
            </a:pPr>
            <a:r>
              <a:rPr lang="en-US" sz="1600" i="1" dirty="0">
                <a:solidFill>
                  <a:srgbClr val="FEC00F"/>
                </a:solidFill>
                <a:latin typeface="Quicksand" pitchFamily="34" charset="0"/>
                <a:ea typeface="Quicksand" pitchFamily="34" charset="-122"/>
                <a:cs typeface="Quicksand" pitchFamily="34" charset="-120"/>
              </a:rPr>
              <a:t>We have a team of regional consultants ready to help.</a:t>
            </a:r>
            <a:endParaRPr lang="en-US" sz="1600" dirty="0"/>
          </a:p>
        </p:txBody>
      </p:sp>
      <p:sp>
        <p:nvSpPr>
          <p:cNvPr id="5" name="Text 2"/>
          <p:cNvSpPr/>
          <p:nvPr/>
        </p:nvSpPr>
        <p:spPr>
          <a:xfrm>
            <a:off x="365760" y="4754880"/>
            <a:ext cx="11457432" cy="365760"/>
          </a:xfrm>
          <a:prstGeom prst="rect">
            <a:avLst/>
          </a:prstGeom>
          <a:noFill/>
          <a:ln/>
        </p:spPr>
        <p:txBody>
          <a:bodyPr wrap="square" rtlCol="0" anchor="ctr"/>
          <a:lstStyle/>
          <a:p>
            <a:pPr algn="ctr" indent="0" marL="0">
              <a:buNone/>
            </a:pPr>
            <a:r>
              <a:rPr lang="en-US" sz="1400" u="sng" dirty="0">
                <a:solidFill>
                  <a:srgbClr val="FFFFFF"/>
                </a:solidFill>
                <a:latin typeface="Quicksand" pitchFamily="34" charset="0"/>
                <a:ea typeface="Quicksand" pitchFamily="34" charset="-122"/>
                <a:cs typeface="Quicksand" pitchFamily="34" charset="-120"/>
                <a:hlinkClick r:id="rId2" invalidUrl="" action="" tgtFrame="" tooltip="" history="1" highlightClick="0" endSnd="0">
                  <a:extLst>
                    <a:ext uri="{A12FA001-AC4F-418D-AE19-62706E023703}">
                      <ahyp:hlinkClr xmlns:ahyp="http://schemas.microsoft.com/office/drawing/2018/hyperlinkcolor" val="tx"/>
                    </a:ext>
                  </a:extLst>
                </a:hlinkClick>
              </a:rPr>
              <a:t>potomac.com</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2200" b="1" dirty="0">
                <a:solidFill>
                  <a:srgbClr val="FEC00F"/>
                </a:solidFill>
                <a:latin typeface="Rajdhani" pitchFamily="34" charset="0"/>
                <a:ea typeface="Rajdhani" pitchFamily="34" charset="-122"/>
                <a:cs typeface="Rajdhani" pitchFamily="34" charset="-120"/>
              </a:rPr>
              <a:t>DISCLOSURES</a:t>
            </a:r>
            <a:endParaRPr lang="en-US" sz="2200" dirty="0"/>
          </a:p>
        </p:txBody>
      </p:sp>
      <p:sp>
        <p:nvSpPr>
          <p:cNvPr id="4" name="Text 1"/>
          <p:cNvSpPr/>
          <p:nvPr/>
        </p:nvSpPr>
        <p:spPr>
          <a:xfrm>
            <a:off x="365760" y="822960"/>
            <a:ext cx="11457432" cy="5852160"/>
          </a:xfrm>
          <a:prstGeom prst="rect">
            <a:avLst/>
          </a:prstGeom>
          <a:noFill/>
          <a:ln/>
        </p:spPr>
        <p:txBody>
          <a:bodyPr wrap="square" rtlCol="0" anchor="ctr"/>
          <a:lstStyle/>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Potomac is a registered investment adviser. Registration with the SEC does not imply a certain level of skill or training. The information presented herein is for informational and educational purposes only and is not intended as investment advice. Past performance does not guarantee future results. All investing involves risk, including possible loss of principal. The strategies described may not be suitable for all investors.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Indices referenced are unmanaged and cannot be invested in directly. The S&amp;P 500 Index is a market-capitalization-weighted index of 500 leading publicly traded companies in the U.S.</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Please refer to Potomac's Form ADV Part 2A for additional information about our services, fees, and risks. A copy is available at www.adviserinfo.sec.gov or by contacting us at info@potomac.com.</a:t>
            </a:r>
            <a:endParaRPr lang="en-US" sz="950" dirty="0"/>
          </a:p>
          <a:p>
            <a:pPr indent="0" marL="0">
              <a:lnSpc>
                <a:spcPct val="110000"/>
              </a:lnSpc>
              <a:buNone/>
            </a:pPr>
            <a:endParaRPr lang="en-US" sz="950" dirty="0"/>
          </a:p>
          <a:p>
            <a:pPr indent="0" marL="0">
              <a:lnSpc>
                <a:spcPct val="110000"/>
              </a:lnSpc>
              <a:buNone/>
            </a:pPr>
            <a:r>
              <a:rPr lang="en-US" sz="950" dirty="0">
                <a:solidFill>
                  <a:srgbClr val="FFFFFF"/>
                </a:solidFill>
                <a:latin typeface="Quicksand" pitchFamily="34" charset="0"/>
                <a:ea typeface="Quicksand" pitchFamily="34" charset="-122"/>
                <a:cs typeface="Quicksand" pitchFamily="34" charset="-120"/>
              </a:rPr>
              <a:t>PFM-508-20260221</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12121"/>
        </a:solidFill>
      </p:bgPr>
    </p:bg>
    <p:spTree>
      <p:nvGrpSpPr>
        <p:cNvPr id="1" name=""/>
        <p:cNvGrpSpPr/>
        <p:nvPr/>
      </p:nvGrpSpPr>
      <p:grpSpPr>
        <a:xfrm>
          <a:off x="0" y="0"/>
          <a:ext cx="0" cy="0"/>
          <a:chOff x="0" y="0"/>
          <a:chExt cx="0" cy="0"/>
        </a:xfrm>
      </p:grpSpPr>
      <p:pic>
        <p:nvPicPr>
          <p:cNvPr id="2" name="Image 0" descr="C:\Users\SohaibAli\Documents\PresenterByPotomac\app\skills\JSPPTXPotomac\brand-assets\logos\potomac-icon-white.png">    </p:cNvPr>
          <p:cNvPicPr>
            <a:picLocks noChangeAspect="1"/>
          </p:cNvPicPr>
          <p:nvPr/>
        </p:nvPicPr>
        <p:blipFill>
          <a:blip r:embed="rId1"/>
          <a:srcRect l="0" r="0" t="0" b="0"/>
          <a:stretch/>
        </p:blipFill>
        <p:spPr>
          <a:xfrm>
            <a:off x="11274552" y="137160"/>
            <a:ext cx="640080" cy="640080"/>
          </a:xfrm>
          <a:prstGeom prst="rect">
            <a:avLst/>
          </a:prstGeom>
        </p:spPr>
      </p:pic>
      <p:sp>
        <p:nvSpPr>
          <p:cNvPr id="3" name="Text 0"/>
          <p:cNvSpPr/>
          <p:nvPr/>
        </p:nvSpPr>
        <p:spPr>
          <a:xfrm>
            <a:off x="365760" y="228600"/>
            <a:ext cx="10817352" cy="502920"/>
          </a:xfrm>
          <a:prstGeom prst="rect">
            <a:avLst/>
          </a:prstGeom>
          <a:noFill/>
          <a:ln/>
        </p:spPr>
        <p:txBody>
          <a:bodyPr wrap="square" rtlCol="0" anchor="ctr"/>
          <a:lstStyle/>
          <a:p>
            <a:pPr indent="0" marL="0">
              <a:buNone/>
            </a:pPr>
            <a:r>
              <a:rPr lang="en-US" sz="1800" b="1" dirty="0">
                <a:solidFill>
                  <a:srgbClr val="FEC00F"/>
                </a:solidFill>
                <a:latin typeface="Rajdhani" pitchFamily="34" charset="0"/>
                <a:ea typeface="Rajdhani" pitchFamily="34" charset="-122"/>
                <a:cs typeface="Rajdhani" pitchFamily="34" charset="-120"/>
              </a:rPr>
              <a:t>IMPORTANT DEFINITIONS USED IN THIS REPORT</a:t>
            </a:r>
            <a:endParaRPr lang="en-US" sz="1800" dirty="0"/>
          </a:p>
        </p:txBody>
      </p:sp>
      <p:sp>
        <p:nvSpPr>
          <p:cNvPr id="4" name="Text 1"/>
          <p:cNvSpPr/>
          <p:nvPr/>
        </p:nvSpPr>
        <p:spPr>
          <a:xfrm>
            <a:off x="365760" y="868680"/>
            <a:ext cx="11457432" cy="5852160"/>
          </a:xfrm>
          <a:prstGeom prst="rect">
            <a:avLst/>
          </a:prstGeom>
          <a:noFill/>
          <a:ln/>
        </p:spPr>
        <p:txBody>
          <a:bodyPr wrap="square" rtlCol="0" anchor="ctr"/>
          <a:lstStyle/>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Futures Contract: A standardized legal agreement to buy or sell a particular commodity at a predetermined price at a specified time in the future.</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Volatility: A statistical measure of the dispersion of returns for a given security or market index, often associated with the degree of uncertainty or risk.</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Maximum Drawdown: The maximum observed loss from a peak to a trough of a portfolio, before a new peak is attained.</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Sharpe Ratio: A measure for calculating risk-adjusted return, defined as the average return earned in excess of the risk-free rate per unit of volatility.</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Sentiment Analysis: The process of computationally identifying and categorizing opinions expressed in text to determine emotional tone and market psychology.</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Quicksand" pitchFamily="34" charset="0"/>
                <a:ea typeface="Quicksand" pitchFamily="34" charset="-122"/>
                <a:cs typeface="Quicksand" pitchFamily="34" charset="-120"/>
              </a:rPr>
              <a:t>Mean Reversion: A financial theory suggesting that asset prices and returns eventually return to their long-term mean or average level.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Potomac Fund Management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EFFECT OF EMOTIONS ON LOBSTER FUTURE MARKETS</dc:title>
  <dc:subject>Investment Strategy Presentation</dc:subject>
  <dc:creator>Potomac Fund Management</dc:creator>
  <cp:lastModifiedBy>Potomac Fund Management</cp:lastModifiedBy>
  <cp:revision>1</cp:revision>
  <dcterms:created xsi:type="dcterms:W3CDTF">2026-02-21T16:54:11Z</dcterms:created>
  <dcterms:modified xsi:type="dcterms:W3CDTF">2026-02-21T16:54:11Z</dcterms:modified>
</cp:coreProperties>
</file>