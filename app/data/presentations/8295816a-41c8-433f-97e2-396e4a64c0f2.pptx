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a55a767-8408-c89d-af14-cb794c28acf6}">
          <p14:sldIdLst/>
        </p14:section>
        <p14:section name="Default-1" id="{dd4ca3fd-0381-9623-4dad-97a68b2951b4}">
          <p14:sldIdLst>
            <p14:sldId id="256"/>
          </p14:sldIdLst>
        </p14:section>
        <p14:section name="PROCESS" id="{e1a0d967-8b69-c230-376f-03e048c691e8}">
          <p14:sldIdLst/>
        </p14:section>
        <p14:section name="Default-2" id="{2291643e-1333-9956-1e82-e9453ba47367}">
          <p14:sldIdLst>
            <p14:sldId id="257"/>
            <p14:sldId id="258"/>
            <p14:sldId id="259"/>
            <p14:sldId id="260"/>
            <p14:sldId id="261"/>
            <p14:sldId id="262"/>
            <p14:sldId id="263"/>
            <p14:sldId id="264"/>
            <p14:sldId id="265"/>
            <p14:sldId id="266"/>
          </p14:sldIdLst>
        </p14:section>
        <p14:section name="Closing" id="{70db1168-5de2-d384-a538-d1184d6c8b51}">
          <p14:sldIdLst/>
        </p14:section>
        <p14:section name="Default-3" id="{579ac174-567c-0f0c-7e22-9476f06cf08a}">
          <p14:sldIdLst>
            <p14:sldId id="267"/>
          </p14:sldIdLst>
        </p14:section>
        <p14:section name="Appendix" id="{c2e3c2ec-1df6-30c7-495d-31f2608d9e94}">
          <p14:sldIdLst/>
        </p14:section>
        <p14:section name="Default-4" id="{2cee6b37-62b7-9a4b-aeda-20b0163b7c5b}">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1B2E1B"/>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20040" y="164592"/>
            <a:ext cx="1463040" cy="457200"/>
          </a:xfrm>
          <a:prstGeom prst="rect">
            <a:avLst/>
          </a:prstGeom>
        </p:spPr>
      </p:pic>
      <p:pic>
        <p:nvPicPr>
          <p:cNvPr id="3" name="Image 1" descr="C:\Users\SohaibAli\Documents\PresenterByPotomac\app\skills\JSPPTXPotomac\brand-assets\logos\potomac-icon-white.png">    </p:cNvPr>
          <p:cNvPicPr>
            <a:picLocks noChangeAspect="1"/>
          </p:cNvPicPr>
          <p:nvPr/>
        </p:nvPicPr>
        <p:blipFill>
          <a:blip r:embed="rId2"/>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8E6B"/>
                </a:solidFill>
                <a:latin typeface="Quicksand"/>
                <a:ea typeface="Quicksand"/>
                <a:cs typeface="Quicksand"/>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8E6B"/>
                </a:solidFill>
                <a:latin typeface="Quicksand"/>
                <a:ea typeface="Quicksand"/>
                <a:cs typeface="Quicksand"/>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8E6B"/>
                </a:solidFill>
                <a:latin typeface="Quicksand"/>
                <a:ea typeface="Quicksand"/>
                <a:cs typeface="Quicksand"/>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www.potomac.com" TargetMode="External"/><Relationship Id="rId1"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E1B"/>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4CAF50"/>
          </a:solidFill>
          <a:ln/>
        </p:spPr>
      </p:sp>
      <p:pic>
        <p:nvPicPr>
          <p:cNvPr id="3" name="Image 0" descr="C:\Users\SohaibAli\Documents\PresenterByPotomac\app\skills\JSPPTXPotomac\brand-assets\logos\potomac-full-logo.png">    </p:cNvPr>
          <p:cNvPicPr>
            <a:picLocks noChangeAspect="1"/>
          </p:cNvPicPr>
          <p:nvPr/>
        </p:nvPicPr>
        <p:blipFill>
          <a:blip r:embed="rId1"/>
          <a:srcRect l="0" r="0" t="0" b="0"/>
          <a:stretch/>
        </p:blipFill>
        <p:spPr>
          <a:xfrm>
            <a:off x="365760" y="274320"/>
            <a:ext cx="1828800" cy="374904"/>
          </a:xfrm>
          <a:prstGeom prst="rect">
            <a:avLst/>
          </a:prstGeom>
        </p:spPr>
      </p:pic>
      <p:sp>
        <p:nvSpPr>
          <p:cNvPr id="4" name="Shape 1"/>
          <p:cNvSpPr/>
          <p:nvPr/>
        </p:nvSpPr>
        <p:spPr>
          <a:xfrm>
            <a:off x="4265676" y="2011680"/>
            <a:ext cx="3657600" cy="73152"/>
          </a:xfrm>
          <a:prstGeom prst="rect">
            <a:avLst/>
          </a:prstGeom>
          <a:solidFill>
            <a:srgbClr val="4CAF50"/>
          </a:solidFill>
          <a:ln/>
        </p:spPr>
      </p:sp>
      <p:sp>
        <p:nvSpPr>
          <p:cNvPr id="5" name="Text 2"/>
          <p:cNvSpPr/>
          <p:nvPr/>
        </p:nvSpPr>
        <p:spPr>
          <a:xfrm>
            <a:off x="914400" y="2377440"/>
            <a:ext cx="10360152" cy="2011680"/>
          </a:xfrm>
          <a:prstGeom prst="rect">
            <a:avLst/>
          </a:prstGeom>
          <a:noFill/>
          <a:ln/>
        </p:spPr>
        <p:txBody>
          <a:bodyPr wrap="square" rtlCol="0" anchor="ctr"/>
          <a:lstStyle/>
          <a:p>
            <a:pPr algn="ctr" indent="0" marL="0">
              <a:buNone/>
            </a:pPr>
            <a:r>
              <a:rPr lang="en-US" sz="4800" b="1" dirty="0">
                <a:solidFill>
                  <a:srgbClr val="FFFFFF"/>
                </a:solidFill>
                <a:latin typeface="Rajdhani" pitchFamily="34" charset="0"/>
                <a:ea typeface="Rajdhani" pitchFamily="34" charset="-122"/>
                <a:cs typeface="Rajdhani" pitchFamily="34" charset="-120"/>
              </a:rPr>
              <a:t>TECHNICAL ANALYSIS VS CHARTING</a:t>
            </a:r>
            <a:endParaRPr lang="en-US" sz="4800" dirty="0"/>
          </a:p>
        </p:txBody>
      </p:sp>
      <p:sp>
        <p:nvSpPr>
          <p:cNvPr id="6" name="Text 3"/>
          <p:cNvSpPr/>
          <p:nvPr/>
        </p:nvSpPr>
        <p:spPr>
          <a:xfrm>
            <a:off x="365760" y="6172200"/>
            <a:ext cx="11457432" cy="457200"/>
          </a:xfrm>
          <a:prstGeom prst="rect">
            <a:avLst/>
          </a:prstGeom>
          <a:noFill/>
          <a:ln/>
        </p:spPr>
        <p:txBody>
          <a:bodyPr wrap="square" rtlCol="0" anchor="ctr"/>
          <a:lstStyle/>
          <a:p>
            <a:pPr algn="ctr" indent="0" marL="0">
              <a:buNone/>
            </a:pPr>
            <a:r>
              <a:rPr lang="en-US" sz="1400" i="1" dirty="0">
                <a:solidFill>
                  <a:srgbClr val="4CAF50"/>
                </a:solidFill>
                <a:latin typeface="Quicksand" pitchFamily="34" charset="0"/>
                <a:ea typeface="Quicksand" pitchFamily="34" charset="-122"/>
                <a:cs typeface="Quicksand" pitchFamily="34" charset="-120"/>
              </a:rPr>
              <a:t>Built to Conquer Risk®</a:t>
            </a:r>
            <a:endParaRPr lang="en-US" sz="1400" dirty="0"/>
          </a:p>
        </p:txBody>
      </p:sp>
      <p:sp>
        <p:nvSpPr>
          <p:cNvPr id="7" name="Shape 4"/>
          <p:cNvSpPr/>
          <p:nvPr/>
        </p:nvSpPr>
        <p:spPr>
          <a:xfrm>
            <a:off x="0" y="6784848"/>
            <a:ext cx="12188952" cy="73152"/>
          </a:xfrm>
          <a:prstGeom prst="rect">
            <a:avLst/>
          </a:prstGeom>
          <a:solidFill>
            <a:srgbClr val="4CAF5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1B2E1B"/>
                </a:solidFill>
                <a:latin typeface="Rajdhani" pitchFamily="34" charset="0"/>
                <a:ea typeface="Rajdhani" pitchFamily="34" charset="-122"/>
                <a:cs typeface="Rajdhani" pitchFamily="34" charset="-120"/>
              </a:rPr>
              <a:t>PROCESS</a:t>
            </a:r>
            <a:endParaRPr lang="en-US" sz="4400" dirty="0"/>
          </a:p>
        </p:txBody>
      </p:sp>
      <p:sp>
        <p:nvSpPr>
          <p:cNvPr id="4" name="Shape 1"/>
          <p:cNvSpPr/>
          <p:nvPr/>
        </p:nvSpPr>
        <p:spPr>
          <a:xfrm>
            <a:off x="4722876" y="4251960"/>
            <a:ext cx="2743200" cy="73152"/>
          </a:xfrm>
          <a:prstGeom prst="rect">
            <a:avLst/>
          </a:prstGeom>
          <a:solidFill>
            <a:srgbClr val="4CAF50"/>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E1B"/>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4CAF50"/>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48640"/>
            <a:ext cx="10817352" cy="914400"/>
          </a:xfrm>
          <a:prstGeom prst="rect">
            <a:avLst/>
          </a:prstGeom>
          <a:noFill/>
          <a:ln/>
        </p:spPr>
        <p:txBody>
          <a:bodyPr wrap="square" rtlCol="0" anchor="ctr"/>
          <a:lstStyle/>
          <a:p>
            <a:pPr indent="0" marL="0">
              <a:buNone/>
            </a:pPr>
            <a:r>
              <a:rPr lang="en-US" sz="3200" b="1" dirty="0">
                <a:solidFill>
                  <a:srgbClr val="FFFFFF"/>
                </a:solidFill>
                <a:latin typeface="Rajdhani" pitchFamily="34" charset="0"/>
                <a:ea typeface="Rajdhani" pitchFamily="34" charset="-122"/>
                <a:cs typeface="Rajdhani" pitchFamily="34" charset="-120"/>
              </a:rPr>
              <a:t>THE SCIENTIFIC METHOD: THREE PILLARS OF EVIDENCE-BASED ANALYSIS</a:t>
            </a:r>
            <a:endParaRPr lang="en-US" sz="3200" dirty="0"/>
          </a:p>
        </p:txBody>
      </p:sp>
      <p:sp>
        <p:nvSpPr>
          <p:cNvPr id="5" name="Text 2"/>
          <p:cNvSpPr/>
          <p:nvPr/>
        </p:nvSpPr>
        <p:spPr>
          <a:xfrm>
            <a:off x="365760" y="1645920"/>
            <a:ext cx="10817352" cy="457200"/>
          </a:xfrm>
          <a:prstGeom prst="rect">
            <a:avLst/>
          </a:prstGeom>
          <a:noFill/>
          <a:ln/>
        </p:spPr>
        <p:txBody>
          <a:bodyPr wrap="square" rtlCol="0" anchor="ctr"/>
          <a:lstStyle/>
          <a:p>
            <a:pPr algn="ctr" indent="0" marL="0">
              <a:buNone/>
            </a:pPr>
            <a:r>
              <a:rPr lang="en-US" sz="1600" b="1" dirty="0">
                <a:solidFill>
                  <a:srgbClr val="4CAF50"/>
                </a:solidFill>
                <a:latin typeface="Rajdhani" pitchFamily="34" charset="0"/>
                <a:ea typeface="Rajdhani" pitchFamily="34" charset="-122"/>
                <a:cs typeface="Rajdhani" pitchFamily="34" charset="-120"/>
              </a:rPr>
              <a:t>RIGOROUS QUANTITATIVE RESEARCH VERSUS SUBJECTIVE PATTERN-SEEKING</a:t>
            </a:r>
            <a:endParaRPr lang="en-US" sz="1600" dirty="0"/>
          </a:p>
        </p:txBody>
      </p:sp>
      <p:sp>
        <p:nvSpPr>
          <p:cNvPr id="6" name="Shape 3"/>
          <p:cNvSpPr/>
          <p:nvPr/>
        </p:nvSpPr>
        <p:spPr>
          <a:xfrm>
            <a:off x="1796796" y="2560320"/>
            <a:ext cx="2377440" cy="2377440"/>
          </a:xfrm>
          <a:prstGeom prst="ellipse">
            <a:avLst/>
          </a:prstGeom>
          <a:solidFill>
            <a:srgbClr val="1B2E1B"/>
          </a:solidFill>
          <a:ln w="31750">
            <a:solidFill>
              <a:srgbClr val="4CAF50"/>
            </a:solidFill>
            <a:prstDash val="solid"/>
          </a:ln>
        </p:spPr>
      </p:sp>
      <p:sp>
        <p:nvSpPr>
          <p:cNvPr id="7" name="Shape 4"/>
          <p:cNvSpPr/>
          <p:nvPr/>
        </p:nvSpPr>
        <p:spPr>
          <a:xfrm>
            <a:off x="2574036" y="2880360"/>
            <a:ext cx="822960" cy="822960"/>
          </a:xfrm>
          <a:prstGeom prst="ellipse">
            <a:avLst/>
          </a:prstGeom>
          <a:solidFill>
            <a:srgbClr val="4CAF50"/>
          </a:solidFill>
          <a:ln/>
        </p:spPr>
      </p:sp>
      <p:sp>
        <p:nvSpPr>
          <p:cNvPr id="8" name="Text 5"/>
          <p:cNvSpPr/>
          <p:nvPr/>
        </p:nvSpPr>
        <p:spPr>
          <a:xfrm>
            <a:off x="2574036" y="2880360"/>
            <a:ext cx="822960" cy="822960"/>
          </a:xfrm>
          <a:prstGeom prst="rect">
            <a:avLst/>
          </a:prstGeom>
          <a:noFill/>
          <a:ln/>
        </p:spPr>
        <p:txBody>
          <a:bodyPr wrap="square" rtlCol="0" anchor="ctr"/>
          <a:lstStyle/>
          <a:p>
            <a:pPr algn="ctr" indent="0" marL="0">
              <a:buNone/>
            </a:pPr>
            <a:r>
              <a:rPr lang="en-US" sz="2800" b="1" dirty="0">
                <a:solidFill>
                  <a:srgbClr val="1B2E1B"/>
                </a:solidFill>
                <a:latin typeface="Rajdhani" pitchFamily="34" charset="0"/>
                <a:ea typeface="Rajdhani" pitchFamily="34" charset="-122"/>
                <a:cs typeface="Rajdhani" pitchFamily="34" charset="-120"/>
              </a:rPr>
              <a:t>1</a:t>
            </a:r>
            <a:endParaRPr lang="en-US" sz="2800" dirty="0"/>
          </a:p>
        </p:txBody>
      </p:sp>
      <p:sp>
        <p:nvSpPr>
          <p:cNvPr id="9" name="Text 6"/>
          <p:cNvSpPr/>
          <p:nvPr/>
        </p:nvSpPr>
        <p:spPr>
          <a:xfrm>
            <a:off x="1888236" y="3886200"/>
            <a:ext cx="2194560" cy="411480"/>
          </a:xfrm>
          <a:prstGeom prst="rect">
            <a:avLst/>
          </a:prstGeom>
          <a:noFill/>
          <a:ln/>
        </p:spPr>
        <p:txBody>
          <a:bodyPr wrap="square" rtlCol="0" anchor="ctr"/>
          <a:lstStyle/>
          <a:p>
            <a:pPr algn="ctr" indent="0" marL="0">
              <a:buNone/>
            </a:pPr>
            <a:r>
              <a:rPr lang="en-US" sz="1400" b="1" dirty="0">
                <a:solidFill>
                  <a:srgbClr val="4CAF50"/>
                </a:solidFill>
                <a:latin typeface="Rajdhani" pitchFamily="34" charset="0"/>
                <a:ea typeface="Rajdhani" pitchFamily="34" charset="-122"/>
                <a:cs typeface="Rajdhani" pitchFamily="34" charset="-120"/>
              </a:rPr>
              <a:t>HYPOTHESIS FORMATION</a:t>
            </a:r>
            <a:endParaRPr lang="en-US" sz="1400" dirty="0"/>
          </a:p>
        </p:txBody>
      </p:sp>
      <p:sp>
        <p:nvSpPr>
          <p:cNvPr id="10" name="Text 7"/>
          <p:cNvSpPr/>
          <p:nvPr/>
        </p:nvSpPr>
        <p:spPr>
          <a:xfrm>
            <a:off x="193395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(Testable theories based on market behavior)</a:t>
            </a:r>
            <a:endParaRPr lang="en-US" sz="1000" dirty="0"/>
          </a:p>
        </p:txBody>
      </p:sp>
      <p:sp>
        <p:nvSpPr>
          <p:cNvPr id="11" name="Text 8"/>
          <p:cNvSpPr/>
          <p:nvPr/>
        </p:nvSpPr>
        <p:spPr>
          <a:xfrm>
            <a:off x="4311396" y="3611880"/>
            <a:ext cx="457200" cy="274320"/>
          </a:xfrm>
          <a:prstGeom prst="rect">
            <a:avLst/>
          </a:prstGeom>
          <a:noFill/>
          <a:ln/>
        </p:spPr>
        <p:txBody>
          <a:bodyPr wrap="square" rtlCol="0" anchor="ctr"/>
          <a:lstStyle/>
          <a:p>
            <a:pPr algn="ctr" indent="0" marL="0">
              <a:buNone/>
            </a:pPr>
            <a:r>
              <a:rPr lang="en-US" sz="1400" dirty="0">
                <a:solidFill>
                  <a:srgbClr val="6B8E6B"/>
                </a:solidFill>
                <a:latin typeface="Rajdhani" pitchFamily="34" charset="0"/>
                <a:ea typeface="Rajdhani" pitchFamily="34" charset="-122"/>
                <a:cs typeface="Rajdhani" pitchFamily="34" charset="-120"/>
              </a:rPr>
              <a:t>▶</a:t>
            </a:r>
            <a:endParaRPr lang="en-US" sz="1400" dirty="0"/>
          </a:p>
        </p:txBody>
      </p:sp>
      <p:sp>
        <p:nvSpPr>
          <p:cNvPr id="12" name="Shape 9"/>
          <p:cNvSpPr/>
          <p:nvPr/>
        </p:nvSpPr>
        <p:spPr>
          <a:xfrm>
            <a:off x="4905756" y="2560320"/>
            <a:ext cx="2377440" cy="2377440"/>
          </a:xfrm>
          <a:prstGeom prst="ellipse">
            <a:avLst/>
          </a:prstGeom>
          <a:solidFill>
            <a:srgbClr val="1B2E1B"/>
          </a:solidFill>
          <a:ln w="31750">
            <a:solidFill>
              <a:srgbClr val="4CAF50"/>
            </a:solidFill>
            <a:prstDash val="solid"/>
          </a:ln>
        </p:spPr>
      </p:sp>
      <p:sp>
        <p:nvSpPr>
          <p:cNvPr id="13" name="Shape 10"/>
          <p:cNvSpPr/>
          <p:nvPr/>
        </p:nvSpPr>
        <p:spPr>
          <a:xfrm>
            <a:off x="5682996" y="2880360"/>
            <a:ext cx="822960" cy="822960"/>
          </a:xfrm>
          <a:prstGeom prst="ellipse">
            <a:avLst/>
          </a:prstGeom>
          <a:solidFill>
            <a:srgbClr val="4CAF50"/>
          </a:solidFill>
          <a:ln/>
        </p:spPr>
      </p:sp>
      <p:sp>
        <p:nvSpPr>
          <p:cNvPr id="14" name="Text 11"/>
          <p:cNvSpPr/>
          <p:nvPr/>
        </p:nvSpPr>
        <p:spPr>
          <a:xfrm>
            <a:off x="5682996" y="2880360"/>
            <a:ext cx="822960" cy="822960"/>
          </a:xfrm>
          <a:prstGeom prst="rect">
            <a:avLst/>
          </a:prstGeom>
          <a:noFill/>
          <a:ln/>
        </p:spPr>
        <p:txBody>
          <a:bodyPr wrap="square" rtlCol="0" anchor="ctr"/>
          <a:lstStyle/>
          <a:p>
            <a:pPr algn="ctr" indent="0" marL="0">
              <a:buNone/>
            </a:pPr>
            <a:r>
              <a:rPr lang="en-US" sz="2800" b="1" dirty="0">
                <a:solidFill>
                  <a:srgbClr val="1B2E1B"/>
                </a:solidFill>
                <a:latin typeface="Rajdhani" pitchFamily="34" charset="0"/>
                <a:ea typeface="Rajdhani" pitchFamily="34" charset="-122"/>
                <a:cs typeface="Rajdhani" pitchFamily="34" charset="-120"/>
              </a:rPr>
              <a:t>2</a:t>
            </a:r>
            <a:endParaRPr lang="en-US" sz="2800" dirty="0"/>
          </a:p>
        </p:txBody>
      </p:sp>
      <p:sp>
        <p:nvSpPr>
          <p:cNvPr id="15" name="Text 12"/>
          <p:cNvSpPr/>
          <p:nvPr/>
        </p:nvSpPr>
        <p:spPr>
          <a:xfrm>
            <a:off x="4997196" y="3886200"/>
            <a:ext cx="2194560" cy="411480"/>
          </a:xfrm>
          <a:prstGeom prst="rect">
            <a:avLst/>
          </a:prstGeom>
          <a:noFill/>
          <a:ln/>
        </p:spPr>
        <p:txBody>
          <a:bodyPr wrap="square" rtlCol="0" anchor="ctr"/>
          <a:lstStyle/>
          <a:p>
            <a:pPr algn="ctr" indent="0" marL="0">
              <a:buNone/>
            </a:pPr>
            <a:r>
              <a:rPr lang="en-US" sz="1400" b="1" dirty="0">
                <a:solidFill>
                  <a:srgbClr val="4CAF50"/>
                </a:solidFill>
                <a:latin typeface="Rajdhani" pitchFamily="34" charset="0"/>
                <a:ea typeface="Rajdhani" pitchFamily="34" charset="-122"/>
                <a:cs typeface="Rajdhani" pitchFamily="34" charset="-120"/>
              </a:rPr>
              <a:t>STATISTICAL VALIDATION</a:t>
            </a:r>
            <a:endParaRPr lang="en-US" sz="1400" dirty="0"/>
          </a:p>
        </p:txBody>
      </p:sp>
      <p:sp>
        <p:nvSpPr>
          <p:cNvPr id="16" name="Text 13"/>
          <p:cNvSpPr/>
          <p:nvPr/>
        </p:nvSpPr>
        <p:spPr>
          <a:xfrm>
            <a:off x="504291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(Mathematical formulas and backtesting)</a:t>
            </a:r>
            <a:endParaRPr lang="en-US" sz="1000" dirty="0"/>
          </a:p>
        </p:txBody>
      </p:sp>
      <p:sp>
        <p:nvSpPr>
          <p:cNvPr id="17" name="Text 14"/>
          <p:cNvSpPr/>
          <p:nvPr/>
        </p:nvSpPr>
        <p:spPr>
          <a:xfrm>
            <a:off x="7420356" y="3611880"/>
            <a:ext cx="457200" cy="274320"/>
          </a:xfrm>
          <a:prstGeom prst="rect">
            <a:avLst/>
          </a:prstGeom>
          <a:noFill/>
          <a:ln/>
        </p:spPr>
        <p:txBody>
          <a:bodyPr wrap="square" rtlCol="0" anchor="ctr"/>
          <a:lstStyle/>
          <a:p>
            <a:pPr algn="ctr" indent="0" marL="0">
              <a:buNone/>
            </a:pPr>
            <a:r>
              <a:rPr lang="en-US" sz="1400" dirty="0">
                <a:solidFill>
                  <a:srgbClr val="6B8E6B"/>
                </a:solidFill>
                <a:latin typeface="Rajdhani" pitchFamily="34" charset="0"/>
                <a:ea typeface="Rajdhani" pitchFamily="34" charset="-122"/>
                <a:cs typeface="Rajdhani" pitchFamily="34" charset="-120"/>
              </a:rPr>
              <a:t>▶</a:t>
            </a:r>
            <a:endParaRPr lang="en-US" sz="1400" dirty="0"/>
          </a:p>
        </p:txBody>
      </p:sp>
      <p:sp>
        <p:nvSpPr>
          <p:cNvPr id="18" name="Shape 15"/>
          <p:cNvSpPr/>
          <p:nvPr/>
        </p:nvSpPr>
        <p:spPr>
          <a:xfrm>
            <a:off x="8014716" y="2560320"/>
            <a:ext cx="2377440" cy="2377440"/>
          </a:xfrm>
          <a:prstGeom prst="ellipse">
            <a:avLst/>
          </a:prstGeom>
          <a:solidFill>
            <a:srgbClr val="1B2E1B"/>
          </a:solidFill>
          <a:ln w="31750">
            <a:solidFill>
              <a:srgbClr val="4CAF50"/>
            </a:solidFill>
            <a:prstDash val="solid"/>
          </a:ln>
        </p:spPr>
      </p:sp>
      <p:sp>
        <p:nvSpPr>
          <p:cNvPr id="19" name="Shape 16"/>
          <p:cNvSpPr/>
          <p:nvPr/>
        </p:nvSpPr>
        <p:spPr>
          <a:xfrm>
            <a:off x="8791956" y="2880360"/>
            <a:ext cx="822960" cy="822960"/>
          </a:xfrm>
          <a:prstGeom prst="ellipse">
            <a:avLst/>
          </a:prstGeom>
          <a:solidFill>
            <a:srgbClr val="4CAF50"/>
          </a:solidFill>
          <a:ln/>
        </p:spPr>
      </p:sp>
      <p:sp>
        <p:nvSpPr>
          <p:cNvPr id="20" name="Text 17"/>
          <p:cNvSpPr/>
          <p:nvPr/>
        </p:nvSpPr>
        <p:spPr>
          <a:xfrm>
            <a:off x="8791956" y="2880360"/>
            <a:ext cx="822960" cy="822960"/>
          </a:xfrm>
          <a:prstGeom prst="rect">
            <a:avLst/>
          </a:prstGeom>
          <a:noFill/>
          <a:ln/>
        </p:spPr>
        <p:txBody>
          <a:bodyPr wrap="square" rtlCol="0" anchor="ctr"/>
          <a:lstStyle/>
          <a:p>
            <a:pPr algn="ctr" indent="0" marL="0">
              <a:buNone/>
            </a:pPr>
            <a:r>
              <a:rPr lang="en-US" sz="2800" b="1" dirty="0">
                <a:solidFill>
                  <a:srgbClr val="1B2E1B"/>
                </a:solidFill>
                <a:latin typeface="Rajdhani" pitchFamily="34" charset="0"/>
                <a:ea typeface="Rajdhani" pitchFamily="34" charset="-122"/>
                <a:cs typeface="Rajdhani" pitchFamily="34" charset="-120"/>
              </a:rPr>
              <a:t>3</a:t>
            </a:r>
            <a:endParaRPr lang="en-US" sz="2800" dirty="0"/>
          </a:p>
        </p:txBody>
      </p:sp>
      <p:sp>
        <p:nvSpPr>
          <p:cNvPr id="21" name="Text 18"/>
          <p:cNvSpPr/>
          <p:nvPr/>
        </p:nvSpPr>
        <p:spPr>
          <a:xfrm>
            <a:off x="8106156" y="3886200"/>
            <a:ext cx="2194560" cy="411480"/>
          </a:xfrm>
          <a:prstGeom prst="rect">
            <a:avLst/>
          </a:prstGeom>
          <a:noFill/>
          <a:ln/>
        </p:spPr>
        <p:txBody>
          <a:bodyPr wrap="square" rtlCol="0" anchor="ctr"/>
          <a:lstStyle/>
          <a:p>
            <a:pPr algn="ctr" indent="0" marL="0">
              <a:buNone/>
            </a:pPr>
            <a:r>
              <a:rPr lang="en-US" sz="1400" b="1" dirty="0">
                <a:solidFill>
                  <a:srgbClr val="4CAF50"/>
                </a:solidFill>
                <a:latin typeface="Rajdhani" pitchFamily="34" charset="0"/>
                <a:ea typeface="Rajdhani" pitchFamily="34" charset="-122"/>
                <a:cs typeface="Rajdhani" pitchFamily="34" charset="-120"/>
              </a:rPr>
              <a:t>EVIDENCE-BASED RESULTS</a:t>
            </a:r>
            <a:endParaRPr lang="en-US" sz="1400" dirty="0"/>
          </a:p>
        </p:txBody>
      </p:sp>
      <p:sp>
        <p:nvSpPr>
          <p:cNvPr id="22" name="Text 19"/>
          <p:cNvSpPr/>
          <p:nvPr/>
        </p:nvSpPr>
        <p:spPr>
          <a:xfrm>
            <a:off x="815187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(Measurable edges with proven profitability)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4CAF50"/>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1B2E1B"/>
                </a:solidFill>
                <a:latin typeface="Rajdhani" pitchFamily="34" charset="0"/>
                <a:ea typeface="Rajdhani" pitchFamily="34" charset="-122"/>
                <a:cs typeface="Rajdhani" pitchFamily="34" charset="-120"/>
              </a:rPr>
              <a:t>HYPOTHESIS FORMATION</a:t>
            </a:r>
            <a:endParaRPr lang="en-US" sz="2800" dirty="0"/>
          </a:p>
        </p:txBody>
      </p:sp>
      <p:sp>
        <p:nvSpPr>
          <p:cNvPr id="5" name="Shape 2"/>
          <p:cNvSpPr/>
          <p:nvPr/>
        </p:nvSpPr>
        <p:spPr>
          <a:xfrm>
            <a:off x="365760" y="1188720"/>
            <a:ext cx="1828800" cy="54864"/>
          </a:xfrm>
          <a:prstGeom prst="rect">
            <a:avLst/>
          </a:prstGeom>
          <a:solidFill>
            <a:srgbClr val="4CAF50"/>
          </a:solidFill>
          <a:ln/>
        </p:spPr>
      </p:sp>
      <p:sp>
        <p:nvSpPr>
          <p:cNvPr id="6" name="Shape 3"/>
          <p:cNvSpPr/>
          <p:nvPr/>
        </p:nvSpPr>
        <p:spPr>
          <a:xfrm>
            <a:off x="365760" y="1371600"/>
            <a:ext cx="11457432" cy="4754880"/>
          </a:xfrm>
          <a:prstGeom prst="rect">
            <a:avLst/>
          </a:prstGeom>
          <a:solidFill>
            <a:srgbClr val="C8D8C8"/>
          </a:solidFill>
          <a:ln w="12700">
            <a:solidFill>
              <a:srgbClr val="6B8E6B"/>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6B8E6B"/>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6B8E6B"/>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4CAF50"/>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1B2E1B"/>
                </a:solidFill>
                <a:latin typeface="Rajdhani" pitchFamily="34" charset="0"/>
                <a:ea typeface="Rajdhani" pitchFamily="34" charset="-122"/>
                <a:cs typeface="Rajdhani" pitchFamily="34" charset="-120"/>
              </a:rPr>
              <a:t>STATISTICAL VALIDATION</a:t>
            </a:r>
            <a:endParaRPr lang="en-US" sz="2800" dirty="0"/>
          </a:p>
        </p:txBody>
      </p:sp>
      <p:sp>
        <p:nvSpPr>
          <p:cNvPr id="5" name="Shape 2"/>
          <p:cNvSpPr/>
          <p:nvPr/>
        </p:nvSpPr>
        <p:spPr>
          <a:xfrm>
            <a:off x="365760" y="1188720"/>
            <a:ext cx="1828800" cy="54864"/>
          </a:xfrm>
          <a:prstGeom prst="rect">
            <a:avLst/>
          </a:prstGeom>
          <a:solidFill>
            <a:srgbClr val="4CAF50"/>
          </a:solidFill>
          <a:ln/>
        </p:spPr>
      </p:sp>
      <p:sp>
        <p:nvSpPr>
          <p:cNvPr id="6" name="Shape 3"/>
          <p:cNvSpPr/>
          <p:nvPr/>
        </p:nvSpPr>
        <p:spPr>
          <a:xfrm>
            <a:off x="365760" y="1371600"/>
            <a:ext cx="11457432" cy="4754880"/>
          </a:xfrm>
          <a:prstGeom prst="rect">
            <a:avLst/>
          </a:prstGeom>
          <a:solidFill>
            <a:srgbClr val="C8D8C8"/>
          </a:solidFill>
          <a:ln w="12700">
            <a:solidFill>
              <a:srgbClr val="6B8E6B"/>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6B8E6B"/>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6B8E6B"/>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E1B"/>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4CAF50"/>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822960"/>
          </a:xfrm>
          <a:prstGeom prst="rect">
            <a:avLst/>
          </a:prstGeom>
          <a:noFill/>
          <a:ln/>
        </p:spPr>
        <p:txBody>
          <a:bodyPr wrap="square" rtlCol="0" anchor="ctr"/>
          <a:lstStyle/>
          <a:p>
            <a:pPr indent="0" marL="0">
              <a:buNone/>
            </a:pPr>
            <a:r>
              <a:rPr lang="en-US" sz="2200" b="1" dirty="0">
                <a:solidFill>
                  <a:srgbClr val="FFFFFF"/>
                </a:solidFill>
                <a:latin typeface="Rajdhani" pitchFamily="34" charset="0"/>
                <a:ea typeface="Rajdhani" pitchFamily="34" charset="-122"/>
                <a:cs typeface="Rajdhani" pitchFamily="34" charset="-120"/>
              </a:rPr>
              <a:t>TRUE TECHNICAL ANALYSIS FOLLOWS THE ARONSON FRAMEWORK FOR STATISTICAL VALIDATION</a:t>
            </a:r>
            <a:endParaRPr lang="en-US" sz="2200" dirty="0"/>
          </a:p>
        </p:txBody>
      </p:sp>
      <p:sp>
        <p:nvSpPr>
          <p:cNvPr id="5" name="Shape 2"/>
          <p:cNvSpPr/>
          <p:nvPr/>
        </p:nvSpPr>
        <p:spPr>
          <a:xfrm>
            <a:off x="365760" y="1554480"/>
            <a:ext cx="3636264" cy="4937760"/>
          </a:xfrm>
          <a:prstGeom prst="roundRect">
            <a:avLst>
              <a:gd name="adj" fmla="val 3772"/>
            </a:avLst>
          </a:prstGeom>
          <a:solidFill>
            <a:srgbClr val="1B2E1B"/>
          </a:solidFill>
          <a:ln w="25400">
            <a:solidFill>
              <a:srgbClr val="4CAF50"/>
            </a:solidFill>
            <a:prstDash val="solid"/>
          </a:ln>
          <a:effectLst>
            <a:outerShdw sx="100000" sy="100000" kx="0" ky="0" algn="bl" rotWithShape="0" blurRad="76200" dist="25400" dir="16200000">
              <a:srgbClr val="000000">
                <a:alpha val="20000"/>
              </a:srgbClr>
            </a:outerShdw>
          </a:effectLst>
        </p:spPr>
      </p:sp>
      <p:sp>
        <p:nvSpPr>
          <p:cNvPr id="6" name="Text 3"/>
          <p:cNvSpPr/>
          <p:nvPr/>
        </p:nvSpPr>
        <p:spPr>
          <a:xfrm>
            <a:off x="3956304" y="3749040"/>
            <a:ext cx="274320" cy="548640"/>
          </a:xfrm>
          <a:prstGeom prst="rect">
            <a:avLst/>
          </a:prstGeom>
          <a:noFill/>
          <a:ln/>
        </p:spPr>
        <p:txBody>
          <a:bodyPr wrap="square" rtlCol="0" anchor="ctr"/>
          <a:lstStyle/>
          <a:p>
            <a:pPr algn="ctr" indent="0" marL="0">
              <a:buNone/>
            </a:pPr>
            <a:r>
              <a:rPr lang="en-US" sz="2400" b="1" dirty="0">
                <a:solidFill>
                  <a:srgbClr val="4CAF50"/>
                </a:solidFill>
                <a:latin typeface="Rajdhani" pitchFamily="34" charset="0"/>
                <a:ea typeface="Rajdhani" pitchFamily="34" charset="-122"/>
                <a:cs typeface="Rajdhani" pitchFamily="34" charset="-120"/>
              </a:rPr>
              <a:t>+</a:t>
            </a:r>
            <a:endParaRPr lang="en-US" sz="2400" dirty="0"/>
          </a:p>
        </p:txBody>
      </p:sp>
      <p:sp>
        <p:nvSpPr>
          <p:cNvPr id="7" name="Shape 4"/>
          <p:cNvSpPr/>
          <p:nvPr/>
        </p:nvSpPr>
        <p:spPr>
          <a:xfrm>
            <a:off x="640080" y="1371600"/>
            <a:ext cx="3087624" cy="365760"/>
          </a:xfrm>
          <a:prstGeom prst="roundRect">
            <a:avLst>
              <a:gd name="adj" fmla="val 50000"/>
            </a:avLst>
          </a:prstGeom>
          <a:solidFill>
            <a:srgbClr val="444444"/>
          </a:solidFill>
          <a:ln/>
        </p:spPr>
      </p:sp>
      <p:sp>
        <p:nvSpPr>
          <p:cNvPr id="8" name="Text 5"/>
          <p:cNvSpPr/>
          <p:nvPr/>
        </p:nvSpPr>
        <p:spPr>
          <a:xfrm>
            <a:off x="640080" y="1371600"/>
            <a:ext cx="3087624" cy="365760"/>
          </a:xfrm>
          <a:prstGeom prst="rect">
            <a:avLst/>
          </a:prstGeom>
          <a:noFill/>
          <a:ln/>
        </p:spPr>
        <p:txBody>
          <a:bodyPr wrap="square" rtlCol="0" anchor="ctr"/>
          <a:lstStyle/>
          <a:p>
            <a:pPr algn="ctr" indent="0" marL="0">
              <a:buNone/>
            </a:pPr>
            <a:r>
              <a:rPr lang="en-US" sz="1100" b="1" dirty="0">
                <a:solidFill>
                  <a:srgbClr val="4CAF50"/>
                </a:solidFill>
                <a:latin typeface="Rajdhani" pitchFamily="34" charset="0"/>
                <a:ea typeface="Rajdhani" pitchFamily="34" charset="-122"/>
                <a:cs typeface="Rajdhani" pitchFamily="34" charset="-120"/>
              </a:rPr>
              <a:t>OBSERVE PATTERNS</a:t>
            </a:r>
            <a:endParaRPr lang="en-US" sz="1100" dirty="0"/>
          </a:p>
        </p:txBody>
      </p:sp>
      <p:sp>
        <p:nvSpPr>
          <p:cNvPr id="9" name="Text 6"/>
          <p:cNvSpPr/>
          <p:nvPr/>
        </p:nvSpPr>
        <p:spPr>
          <a:xfrm>
            <a:off x="502920"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Study market behavior systematically using mathematical formulas like RSI and moving averages.</a:t>
            </a:r>
            <a:endParaRPr lang="en-US" sz="1300" dirty="0"/>
          </a:p>
        </p:txBody>
      </p:sp>
      <p:sp>
        <p:nvSpPr>
          <p:cNvPr id="10" name="Shape 7"/>
          <p:cNvSpPr/>
          <p:nvPr/>
        </p:nvSpPr>
        <p:spPr>
          <a:xfrm>
            <a:off x="4093464" y="1554480"/>
            <a:ext cx="3636264" cy="4937760"/>
          </a:xfrm>
          <a:prstGeom prst="roundRect">
            <a:avLst>
              <a:gd name="adj" fmla="val 3772"/>
            </a:avLst>
          </a:prstGeom>
          <a:solidFill>
            <a:srgbClr val="1B2E1B"/>
          </a:solidFill>
          <a:ln w="25400">
            <a:solidFill>
              <a:srgbClr val="4CAF50"/>
            </a:solidFill>
            <a:prstDash val="solid"/>
          </a:ln>
          <a:effectLst>
            <a:outerShdw sx="100000" sy="100000" kx="0" ky="0" algn="bl" rotWithShape="0" blurRad="76200" dist="25400" dir="16200000">
              <a:srgbClr val="000000">
                <a:alpha val="20000"/>
              </a:srgbClr>
            </a:outerShdw>
          </a:effectLst>
        </p:spPr>
      </p:sp>
      <p:sp>
        <p:nvSpPr>
          <p:cNvPr id="11" name="Text 8"/>
          <p:cNvSpPr/>
          <p:nvPr/>
        </p:nvSpPr>
        <p:spPr>
          <a:xfrm>
            <a:off x="7684008" y="3749040"/>
            <a:ext cx="274320" cy="548640"/>
          </a:xfrm>
          <a:prstGeom prst="rect">
            <a:avLst/>
          </a:prstGeom>
          <a:noFill/>
          <a:ln/>
        </p:spPr>
        <p:txBody>
          <a:bodyPr wrap="square" rtlCol="0" anchor="ctr"/>
          <a:lstStyle/>
          <a:p>
            <a:pPr algn="ctr" indent="0" marL="0">
              <a:buNone/>
            </a:pPr>
            <a:r>
              <a:rPr lang="en-US" sz="2400" b="1" dirty="0">
                <a:solidFill>
                  <a:srgbClr val="4CAF50"/>
                </a:solidFill>
                <a:latin typeface="Rajdhani" pitchFamily="34" charset="0"/>
                <a:ea typeface="Rajdhani" pitchFamily="34" charset="-122"/>
                <a:cs typeface="Rajdhani" pitchFamily="34" charset="-120"/>
              </a:rPr>
              <a:t>=</a:t>
            </a:r>
            <a:endParaRPr lang="en-US" sz="2400" dirty="0"/>
          </a:p>
        </p:txBody>
      </p:sp>
      <p:sp>
        <p:nvSpPr>
          <p:cNvPr id="12" name="Shape 9"/>
          <p:cNvSpPr/>
          <p:nvPr/>
        </p:nvSpPr>
        <p:spPr>
          <a:xfrm>
            <a:off x="4367784" y="1371600"/>
            <a:ext cx="3087624" cy="365760"/>
          </a:xfrm>
          <a:prstGeom prst="roundRect">
            <a:avLst>
              <a:gd name="adj" fmla="val 50000"/>
            </a:avLst>
          </a:prstGeom>
          <a:solidFill>
            <a:srgbClr val="444444"/>
          </a:solidFill>
          <a:ln/>
        </p:spPr>
      </p:sp>
      <p:sp>
        <p:nvSpPr>
          <p:cNvPr id="13" name="Text 10"/>
          <p:cNvSpPr/>
          <p:nvPr/>
        </p:nvSpPr>
        <p:spPr>
          <a:xfrm>
            <a:off x="4367784" y="1371600"/>
            <a:ext cx="3087624" cy="365760"/>
          </a:xfrm>
          <a:prstGeom prst="rect">
            <a:avLst/>
          </a:prstGeom>
          <a:noFill/>
          <a:ln/>
        </p:spPr>
        <p:txBody>
          <a:bodyPr wrap="square" rtlCol="0" anchor="ctr"/>
          <a:lstStyle/>
          <a:p>
            <a:pPr algn="ctr" indent="0" marL="0">
              <a:buNone/>
            </a:pPr>
            <a:r>
              <a:rPr lang="en-US" sz="1100" b="1" dirty="0">
                <a:solidFill>
                  <a:srgbClr val="4CAF50"/>
                </a:solidFill>
                <a:latin typeface="Rajdhani" pitchFamily="34" charset="0"/>
                <a:ea typeface="Rajdhani" pitchFamily="34" charset="-122"/>
                <a:cs typeface="Rajdhani" pitchFamily="34" charset="-120"/>
              </a:rPr>
              <a:t>TEST HYPOTHESES</a:t>
            </a:r>
            <a:endParaRPr lang="en-US" sz="1100" dirty="0"/>
          </a:p>
        </p:txBody>
      </p:sp>
      <p:sp>
        <p:nvSpPr>
          <p:cNvPr id="14" name="Text 11"/>
          <p:cNvSpPr/>
          <p:nvPr/>
        </p:nvSpPr>
        <p:spPr>
          <a:xfrm>
            <a:off x="4230624"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Backtest strategies across different market conditions with statistical significance testing.</a:t>
            </a:r>
            <a:endParaRPr lang="en-US" sz="1300" dirty="0"/>
          </a:p>
        </p:txBody>
      </p:sp>
      <p:sp>
        <p:nvSpPr>
          <p:cNvPr id="15" name="Shape 12"/>
          <p:cNvSpPr/>
          <p:nvPr/>
        </p:nvSpPr>
        <p:spPr>
          <a:xfrm>
            <a:off x="7821168" y="1554480"/>
            <a:ext cx="3636264" cy="4937760"/>
          </a:xfrm>
          <a:prstGeom prst="roundRect">
            <a:avLst>
              <a:gd name="adj" fmla="val 3772"/>
            </a:avLst>
          </a:prstGeom>
          <a:solidFill>
            <a:srgbClr val="4CAF50"/>
          </a:solidFill>
          <a:ln w="25400">
            <a:solidFill>
              <a:srgbClr val="4CAF50"/>
            </a:solidFill>
            <a:prstDash val="solid"/>
          </a:ln>
          <a:effectLst>
            <a:outerShdw sx="100000" sy="100000" kx="0" ky="0" algn="bl" rotWithShape="0" blurRad="76200" dist="25400" dir="16200000">
              <a:srgbClr val="000000">
                <a:alpha val="20000"/>
              </a:srgbClr>
            </a:outerShdw>
          </a:effectLst>
        </p:spPr>
      </p:sp>
      <p:sp>
        <p:nvSpPr>
          <p:cNvPr id="16" name="Shape 13"/>
          <p:cNvSpPr/>
          <p:nvPr/>
        </p:nvSpPr>
        <p:spPr>
          <a:xfrm>
            <a:off x="8095488" y="1371600"/>
            <a:ext cx="3087624" cy="365760"/>
          </a:xfrm>
          <a:prstGeom prst="roundRect">
            <a:avLst>
              <a:gd name="adj" fmla="val 50000"/>
            </a:avLst>
          </a:prstGeom>
          <a:solidFill>
            <a:srgbClr val="4CAF50"/>
          </a:solidFill>
          <a:ln/>
        </p:spPr>
      </p:sp>
      <p:sp>
        <p:nvSpPr>
          <p:cNvPr id="17" name="Text 14"/>
          <p:cNvSpPr/>
          <p:nvPr/>
        </p:nvSpPr>
        <p:spPr>
          <a:xfrm>
            <a:off x="8095488" y="1371600"/>
            <a:ext cx="3087624" cy="365760"/>
          </a:xfrm>
          <a:prstGeom prst="rect">
            <a:avLst/>
          </a:prstGeom>
          <a:noFill/>
          <a:ln/>
        </p:spPr>
        <p:txBody>
          <a:bodyPr wrap="square" rtlCol="0" anchor="ctr"/>
          <a:lstStyle/>
          <a:p>
            <a:pPr algn="ctr" indent="0" marL="0">
              <a:buNone/>
            </a:pPr>
            <a:r>
              <a:rPr lang="en-US" sz="1100" b="1" dirty="0">
                <a:solidFill>
                  <a:srgbClr val="1B2E1B"/>
                </a:solidFill>
                <a:latin typeface="Rajdhani" pitchFamily="34" charset="0"/>
                <a:ea typeface="Rajdhani" pitchFamily="34" charset="-122"/>
                <a:cs typeface="Rajdhani" pitchFamily="34" charset="-120"/>
              </a:rPr>
              <a:t>VALIDATED STRATEGIES</a:t>
            </a:r>
            <a:endParaRPr lang="en-US" sz="1100" dirty="0"/>
          </a:p>
        </p:txBody>
      </p:sp>
      <p:sp>
        <p:nvSpPr>
          <p:cNvPr id="18" name="Text 15"/>
          <p:cNvSpPr/>
          <p:nvPr/>
        </p:nvSpPr>
        <p:spPr>
          <a:xfrm>
            <a:off x="7958328" y="1874520"/>
            <a:ext cx="3361944" cy="4389120"/>
          </a:xfrm>
          <a:prstGeom prst="rect">
            <a:avLst/>
          </a:prstGeom>
          <a:noFill/>
          <a:ln/>
        </p:spPr>
        <p:txBody>
          <a:bodyPr wrap="square" rtlCol="0" anchor="ctr"/>
          <a:lstStyle/>
          <a:p>
            <a:pPr algn="ctr" indent="0" marL="0">
              <a:buNone/>
            </a:pPr>
            <a:r>
              <a:rPr lang="en-US" sz="1300" dirty="0">
                <a:solidFill>
                  <a:srgbClr val="1B2E1B"/>
                </a:solidFill>
                <a:latin typeface="Quicksand" pitchFamily="34" charset="0"/>
                <a:ea typeface="Quicksand" pitchFamily="34" charset="-122"/>
                <a:cs typeface="Quicksand" pitchFamily="34" charset="-120"/>
              </a:rPr>
              <a:t>Genuine statistical edges based on repeatable behavioral patterns.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E1B"/>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4CAF50"/>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59436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BUILDING INSTITUTIONAL-QUALITY INVESTMENT STRATEGIES</a:t>
            </a:r>
            <a:endParaRPr lang="en-US" sz="2600" dirty="0"/>
          </a:p>
        </p:txBody>
      </p:sp>
      <p:sp>
        <p:nvSpPr>
          <p:cNvPr id="5" name="Shape 2"/>
          <p:cNvSpPr/>
          <p:nvPr/>
        </p:nvSpPr>
        <p:spPr>
          <a:xfrm>
            <a:off x="365760" y="1691640"/>
            <a:ext cx="4572000" cy="1280160"/>
          </a:xfrm>
          <a:prstGeom prst="rect">
            <a:avLst/>
          </a:prstGeom>
          <a:solidFill>
            <a:srgbClr val="1B2E1B"/>
          </a:solidFill>
          <a:ln w="25400">
            <a:solidFill>
              <a:srgbClr val="4CAF50"/>
            </a:solidFill>
            <a:prstDash val="solid"/>
          </a:ln>
        </p:spPr>
      </p:sp>
      <p:sp>
        <p:nvSpPr>
          <p:cNvPr id="6" name="Text 3"/>
          <p:cNvSpPr/>
          <p:nvPr/>
        </p:nvSpPr>
        <p:spPr>
          <a:xfrm>
            <a:off x="548640" y="1783080"/>
            <a:ext cx="4206240" cy="365760"/>
          </a:xfrm>
          <a:prstGeom prst="rect">
            <a:avLst/>
          </a:prstGeom>
          <a:noFill/>
          <a:ln/>
        </p:spPr>
        <p:txBody>
          <a:bodyPr wrap="square" rtlCol="0" anchor="ctr"/>
          <a:lstStyle/>
          <a:p>
            <a:pPr indent="0" marL="0">
              <a:buNone/>
            </a:pPr>
            <a:r>
              <a:rPr lang="en-US" sz="1400" b="1" dirty="0">
                <a:solidFill>
                  <a:srgbClr val="4CAF50"/>
                </a:solidFill>
                <a:latin typeface="Rajdhani" pitchFamily="34" charset="0"/>
                <a:ea typeface="Rajdhani" pitchFamily="34" charset="-122"/>
                <a:cs typeface="Rajdhani" pitchFamily="34" charset="-120"/>
              </a:rPr>
              <a:t>QUANTITATIVE RESEARCH</a:t>
            </a:r>
            <a:endParaRPr lang="en-US" sz="1400" dirty="0"/>
          </a:p>
        </p:txBody>
      </p:sp>
      <p:sp>
        <p:nvSpPr>
          <p:cNvPr id="7" name="Text 4"/>
          <p:cNvSpPr/>
          <p:nvPr/>
        </p:nvSpPr>
        <p:spPr>
          <a:xfrm>
            <a:off x="548640" y="219456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Mathematical formulas measuring momentum, trend, and behavioral patterns</a:t>
            </a:r>
            <a:endParaRPr lang="en-US" sz="1200" dirty="0"/>
          </a:p>
        </p:txBody>
      </p:sp>
      <p:sp>
        <p:nvSpPr>
          <p:cNvPr id="8" name="Shape 5"/>
          <p:cNvSpPr/>
          <p:nvPr/>
        </p:nvSpPr>
        <p:spPr>
          <a:xfrm>
            <a:off x="365760" y="3154680"/>
            <a:ext cx="4572000" cy="1280160"/>
          </a:xfrm>
          <a:prstGeom prst="rect">
            <a:avLst/>
          </a:prstGeom>
          <a:solidFill>
            <a:srgbClr val="1B2E1B"/>
          </a:solidFill>
          <a:ln w="25400">
            <a:solidFill>
              <a:srgbClr val="4CAF50"/>
            </a:solidFill>
            <a:prstDash val="solid"/>
          </a:ln>
        </p:spPr>
      </p:sp>
      <p:sp>
        <p:nvSpPr>
          <p:cNvPr id="9" name="Text 6"/>
          <p:cNvSpPr/>
          <p:nvPr/>
        </p:nvSpPr>
        <p:spPr>
          <a:xfrm>
            <a:off x="548640" y="3246120"/>
            <a:ext cx="4206240" cy="365760"/>
          </a:xfrm>
          <a:prstGeom prst="rect">
            <a:avLst/>
          </a:prstGeom>
          <a:noFill/>
          <a:ln/>
        </p:spPr>
        <p:txBody>
          <a:bodyPr wrap="square" rtlCol="0" anchor="ctr"/>
          <a:lstStyle/>
          <a:p>
            <a:pPr indent="0" marL="0">
              <a:buNone/>
            </a:pPr>
            <a:r>
              <a:rPr lang="en-US" sz="1400" b="1" dirty="0">
                <a:solidFill>
                  <a:srgbClr val="4CAF50"/>
                </a:solidFill>
                <a:latin typeface="Rajdhani" pitchFamily="34" charset="0"/>
                <a:ea typeface="Rajdhani" pitchFamily="34" charset="-122"/>
                <a:cs typeface="Rajdhani" pitchFamily="34" charset="-120"/>
              </a:rPr>
              <a:t>STATISTICAL TESTING</a:t>
            </a:r>
            <a:endParaRPr lang="en-US" sz="1400" dirty="0"/>
          </a:p>
        </p:txBody>
      </p:sp>
      <p:sp>
        <p:nvSpPr>
          <p:cNvPr id="10" name="Text 7"/>
          <p:cNvSpPr/>
          <p:nvPr/>
        </p:nvSpPr>
        <p:spPr>
          <a:xfrm>
            <a:off x="548640" y="365760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Rigorous backtesting with success rates and risk-adjusted returns</a:t>
            </a:r>
            <a:endParaRPr lang="en-US" sz="1200" dirty="0"/>
          </a:p>
        </p:txBody>
      </p:sp>
      <p:sp>
        <p:nvSpPr>
          <p:cNvPr id="11" name="Shape 8"/>
          <p:cNvSpPr/>
          <p:nvPr/>
        </p:nvSpPr>
        <p:spPr>
          <a:xfrm>
            <a:off x="365760" y="4617720"/>
            <a:ext cx="4572000" cy="1280160"/>
          </a:xfrm>
          <a:prstGeom prst="rect">
            <a:avLst/>
          </a:prstGeom>
          <a:solidFill>
            <a:srgbClr val="1B2E1B"/>
          </a:solidFill>
          <a:ln w="25400">
            <a:solidFill>
              <a:srgbClr val="4CAF50"/>
            </a:solidFill>
            <a:prstDash val="solid"/>
          </a:ln>
        </p:spPr>
      </p:sp>
      <p:sp>
        <p:nvSpPr>
          <p:cNvPr id="12" name="Text 9"/>
          <p:cNvSpPr/>
          <p:nvPr/>
        </p:nvSpPr>
        <p:spPr>
          <a:xfrm>
            <a:off x="548640" y="4709160"/>
            <a:ext cx="4206240" cy="365760"/>
          </a:xfrm>
          <a:prstGeom prst="rect">
            <a:avLst/>
          </a:prstGeom>
          <a:noFill/>
          <a:ln/>
        </p:spPr>
        <p:txBody>
          <a:bodyPr wrap="square" rtlCol="0" anchor="ctr"/>
          <a:lstStyle/>
          <a:p>
            <a:pPr indent="0" marL="0">
              <a:buNone/>
            </a:pPr>
            <a:r>
              <a:rPr lang="en-US" sz="1400" b="1" dirty="0">
                <a:solidFill>
                  <a:srgbClr val="4CAF50"/>
                </a:solidFill>
                <a:latin typeface="Rajdhani" pitchFamily="34" charset="0"/>
                <a:ea typeface="Rajdhani" pitchFamily="34" charset="-122"/>
                <a:cs typeface="Rajdhani" pitchFamily="34" charset="-120"/>
              </a:rPr>
              <a:t>VALIDATION METHODS</a:t>
            </a:r>
            <a:endParaRPr lang="en-US" sz="1400" dirty="0"/>
          </a:p>
        </p:txBody>
      </p:sp>
      <p:sp>
        <p:nvSpPr>
          <p:cNvPr id="13" name="Text 10"/>
          <p:cNvSpPr/>
          <p:nvPr/>
        </p:nvSpPr>
        <p:spPr>
          <a:xfrm>
            <a:off x="548640" y="512064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Out-of-sample testing and statistical significance measurement</a:t>
            </a:r>
            <a:endParaRPr lang="en-US" sz="1200" dirty="0"/>
          </a:p>
        </p:txBody>
      </p:sp>
      <p:sp>
        <p:nvSpPr>
          <p:cNvPr id="14" name="Text 11"/>
          <p:cNvSpPr/>
          <p:nvPr/>
        </p:nvSpPr>
        <p:spPr>
          <a:xfrm>
            <a:off x="4937760" y="3520440"/>
            <a:ext cx="731520" cy="731520"/>
          </a:xfrm>
          <a:prstGeom prst="rect">
            <a:avLst/>
          </a:prstGeom>
          <a:noFill/>
          <a:ln/>
        </p:spPr>
        <p:txBody>
          <a:bodyPr wrap="square" rtlCol="0" anchor="ctr"/>
          <a:lstStyle/>
          <a:p>
            <a:pPr algn="ctr" indent="0" marL="0">
              <a:buNone/>
            </a:pPr>
            <a:r>
              <a:rPr lang="en-US" sz="3600" dirty="0">
                <a:solidFill>
                  <a:srgbClr val="4CAF50"/>
                </a:solidFill>
                <a:latin typeface="Rajdhani" pitchFamily="34" charset="0"/>
                <a:ea typeface="Rajdhani" pitchFamily="34" charset="-122"/>
                <a:cs typeface="Rajdhani" pitchFamily="34" charset="-120"/>
              </a:rPr>
              <a:t>→</a:t>
            </a:r>
            <a:endParaRPr lang="en-US" sz="3600" dirty="0"/>
          </a:p>
        </p:txBody>
      </p:sp>
      <p:sp>
        <p:nvSpPr>
          <p:cNvPr id="15" name="Shape 12"/>
          <p:cNvSpPr/>
          <p:nvPr/>
        </p:nvSpPr>
        <p:spPr>
          <a:xfrm>
            <a:off x="5852160" y="1691640"/>
            <a:ext cx="5971032" cy="4206240"/>
          </a:xfrm>
          <a:prstGeom prst="rect">
            <a:avLst/>
          </a:prstGeom>
          <a:solidFill>
            <a:srgbClr val="4CAF50"/>
          </a:solidFill>
          <a:ln/>
        </p:spPr>
      </p:sp>
      <p:sp>
        <p:nvSpPr>
          <p:cNvPr id="16" name="Text 13"/>
          <p:cNvSpPr/>
          <p:nvPr/>
        </p:nvSpPr>
        <p:spPr>
          <a:xfrm>
            <a:off x="6035040" y="1874520"/>
            <a:ext cx="5605272" cy="502920"/>
          </a:xfrm>
          <a:prstGeom prst="rect">
            <a:avLst/>
          </a:prstGeom>
          <a:noFill/>
          <a:ln/>
        </p:spPr>
        <p:txBody>
          <a:bodyPr wrap="square" rtlCol="0" anchor="ctr"/>
          <a:lstStyle/>
          <a:p>
            <a:pPr algn="ctr" indent="0" marL="0">
              <a:buNone/>
            </a:pPr>
            <a:r>
              <a:rPr lang="en-US" sz="1500" b="1" dirty="0">
                <a:solidFill>
                  <a:srgbClr val="1B2E1B"/>
                </a:solidFill>
                <a:latin typeface="Rajdhani" pitchFamily="34" charset="0"/>
                <a:ea typeface="Rajdhani" pitchFamily="34" charset="-122"/>
                <a:cs typeface="Rajdhani" pitchFamily="34" charset="-120"/>
              </a:rPr>
              <a:t>PROFESSIONAL STRATEGIES</a:t>
            </a:r>
            <a:endParaRPr lang="en-US" sz="1500" dirty="0"/>
          </a:p>
        </p:txBody>
      </p:sp>
      <p:sp>
        <p:nvSpPr>
          <p:cNvPr id="17" name="Text 14"/>
          <p:cNvSpPr/>
          <p:nvPr/>
        </p:nvSpPr>
        <p:spPr>
          <a:xfrm>
            <a:off x="6035040" y="2468880"/>
            <a:ext cx="5605272" cy="3200400"/>
          </a:xfrm>
          <a:prstGeom prst="rect">
            <a:avLst/>
          </a:prstGeom>
          <a:noFill/>
          <a:ln/>
        </p:spPr>
        <p:txBody>
          <a:bodyPr wrap="square" rtlCol="0" anchor="ctr"/>
          <a:lstStyle/>
          <a:p>
            <a:pPr algn="ctr" indent="0" marL="0">
              <a:buNone/>
            </a:pPr>
            <a:r>
              <a:rPr lang="en-US" sz="1300" dirty="0">
                <a:solidFill>
                  <a:srgbClr val="1B2E1B"/>
                </a:solidFill>
                <a:latin typeface="Quicksand" pitchFamily="34" charset="0"/>
                <a:ea typeface="Quicksand" pitchFamily="34" charset="-122"/>
                <a:cs typeface="Quicksand" pitchFamily="34" charset="-120"/>
              </a:rPr>
              <a:t>Proven edges suitable for institutional money management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E1B"/>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4CAF50"/>
                </a:solidFill>
                <a:latin typeface="Rajdhani" pitchFamily="34" charset="0"/>
                <a:ea typeface="Rajdhani" pitchFamily="34" charset="-122"/>
                <a:cs typeface="Rajdhani" pitchFamily="34" charset="-120"/>
              </a:rPr>
              <a:t>EVIDENCE-BASED TECHNICAL ANALYSIS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TECHNICAL ANALYSIS VS CHARTING</a:t>
            </a:r>
            <a:endParaRPr lang="en-US" sz="2600" dirty="0"/>
          </a:p>
        </p:txBody>
      </p:sp>
      <p:sp>
        <p:nvSpPr>
          <p:cNvPr id="5" name="Text 2"/>
          <p:cNvSpPr/>
          <p:nvPr/>
        </p:nvSpPr>
        <p:spPr>
          <a:xfrm>
            <a:off x="365760" y="1371600"/>
            <a:ext cx="3474720" cy="365760"/>
          </a:xfrm>
          <a:prstGeom prst="rect">
            <a:avLst/>
          </a:prstGeom>
          <a:noFill/>
          <a:ln/>
        </p:spPr>
        <p:txBody>
          <a:bodyPr wrap="square" rtlCol="0" anchor="ctr"/>
          <a:lstStyle/>
          <a:p>
            <a:pPr indent="0" marL="0">
              <a:buNone/>
            </a:pPr>
            <a:r>
              <a:rPr lang="en-US" sz="1400" b="1" dirty="0">
                <a:solidFill>
                  <a:srgbClr val="4CAF50"/>
                </a:solidFill>
                <a:latin typeface="Rajdhani" pitchFamily="34" charset="0"/>
                <a:ea typeface="Rajdhani" pitchFamily="34" charset="-122"/>
                <a:cs typeface="Rajdhani" pitchFamily="34" charset="-120"/>
              </a:rPr>
              <a:t>TECHNICAL ANALYSIS</a:t>
            </a:r>
            <a:endParaRPr lang="en-US" sz="1400" dirty="0"/>
          </a:p>
        </p:txBody>
      </p:sp>
      <p:sp>
        <p:nvSpPr>
          <p:cNvPr id="6" name="Text 3"/>
          <p:cNvSpPr/>
          <p:nvPr/>
        </p:nvSpPr>
        <p:spPr>
          <a:xfrm>
            <a:off x="365760"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Quantitative research using mathematical formulas and statistical validation</a:t>
            </a:r>
            <a:endParaRPr lang="en-US" sz="1200" dirty="0"/>
          </a:p>
        </p:txBody>
      </p:sp>
      <p:sp>
        <p:nvSpPr>
          <p:cNvPr id="7" name="Text 4"/>
          <p:cNvSpPr/>
          <p:nvPr/>
        </p:nvSpPr>
        <p:spPr>
          <a:xfrm>
            <a:off x="8074152" y="1371600"/>
            <a:ext cx="3474720" cy="365760"/>
          </a:xfrm>
          <a:prstGeom prst="rect">
            <a:avLst/>
          </a:prstGeom>
          <a:noFill/>
          <a:ln/>
        </p:spPr>
        <p:txBody>
          <a:bodyPr wrap="square" rtlCol="0" anchor="ctr"/>
          <a:lstStyle/>
          <a:p>
            <a:pPr indent="0" marL="0">
              <a:buNone/>
            </a:pPr>
            <a:r>
              <a:rPr lang="en-US" sz="1400" b="1" dirty="0">
                <a:solidFill>
                  <a:srgbClr val="4CAF50"/>
                </a:solidFill>
                <a:latin typeface="Rajdhani" pitchFamily="34" charset="0"/>
                <a:ea typeface="Rajdhani" pitchFamily="34" charset="-122"/>
                <a:cs typeface="Rajdhani" pitchFamily="34" charset="-120"/>
              </a:rPr>
              <a:t>CHARTING</a:t>
            </a:r>
            <a:endParaRPr lang="en-US" sz="1400" dirty="0"/>
          </a:p>
        </p:txBody>
      </p:sp>
      <p:sp>
        <p:nvSpPr>
          <p:cNvPr id="8" name="Text 5"/>
          <p:cNvSpPr/>
          <p:nvPr/>
        </p:nvSpPr>
        <p:spPr>
          <a:xfrm>
            <a:off x="8074152"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Subjective line-drawing without systematic testing or validation</a:t>
            </a:r>
            <a:endParaRPr lang="en-US" sz="1200" dirty="0"/>
          </a:p>
        </p:txBody>
      </p:sp>
      <p:sp>
        <p:nvSpPr>
          <p:cNvPr id="9" name="Text 6"/>
          <p:cNvSpPr/>
          <p:nvPr/>
        </p:nvSpPr>
        <p:spPr>
          <a:xfrm>
            <a:off x="365760" y="4114800"/>
            <a:ext cx="3474720" cy="365760"/>
          </a:xfrm>
          <a:prstGeom prst="rect">
            <a:avLst/>
          </a:prstGeom>
          <a:noFill/>
          <a:ln/>
        </p:spPr>
        <p:txBody>
          <a:bodyPr wrap="square" rtlCol="0" anchor="ctr"/>
          <a:lstStyle/>
          <a:p>
            <a:pPr indent="0" marL="0">
              <a:buNone/>
            </a:pPr>
            <a:r>
              <a:rPr lang="en-US" sz="1400" b="1" dirty="0">
                <a:solidFill>
                  <a:srgbClr val="4CAF50"/>
                </a:solidFill>
                <a:latin typeface="Rajdhani" pitchFamily="34" charset="0"/>
                <a:ea typeface="Rajdhani" pitchFamily="34" charset="-122"/>
                <a:cs typeface="Rajdhani" pitchFamily="34" charset="-120"/>
              </a:rPr>
              <a:t>INSTITUTIONAL QUALITY</a:t>
            </a:r>
            <a:endParaRPr lang="en-US" sz="1400" dirty="0"/>
          </a:p>
        </p:txBody>
      </p:sp>
      <p:sp>
        <p:nvSpPr>
          <p:cNvPr id="10" name="Text 7"/>
          <p:cNvSpPr/>
          <p:nvPr/>
        </p:nvSpPr>
        <p:spPr>
          <a:xfrm>
            <a:off x="365760"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Evidence-based strategies suitable for professional money management</a:t>
            </a:r>
            <a:endParaRPr lang="en-US" sz="1200" dirty="0"/>
          </a:p>
        </p:txBody>
      </p:sp>
      <p:sp>
        <p:nvSpPr>
          <p:cNvPr id="11" name="Text 8"/>
          <p:cNvSpPr/>
          <p:nvPr/>
        </p:nvSpPr>
        <p:spPr>
          <a:xfrm>
            <a:off x="8074152" y="4114800"/>
            <a:ext cx="3474720" cy="365760"/>
          </a:xfrm>
          <a:prstGeom prst="rect">
            <a:avLst/>
          </a:prstGeom>
          <a:noFill/>
          <a:ln/>
        </p:spPr>
        <p:txBody>
          <a:bodyPr wrap="square" rtlCol="0" anchor="ctr"/>
          <a:lstStyle/>
          <a:p>
            <a:pPr indent="0" marL="0">
              <a:buNone/>
            </a:pPr>
            <a:r>
              <a:rPr lang="en-US" sz="1400" b="1" dirty="0">
                <a:solidFill>
                  <a:srgbClr val="4CAF50"/>
                </a:solidFill>
                <a:latin typeface="Rajdhani" pitchFamily="34" charset="0"/>
                <a:ea typeface="Rajdhani" pitchFamily="34" charset="-122"/>
                <a:cs typeface="Rajdhani" pitchFamily="34" charset="-120"/>
              </a:rPr>
              <a:t>RETAIL ILLUSION</a:t>
            </a:r>
            <a:endParaRPr lang="en-US" sz="1400" dirty="0"/>
          </a:p>
        </p:txBody>
      </p:sp>
      <p:sp>
        <p:nvSpPr>
          <p:cNvPr id="12" name="Text 9"/>
          <p:cNvSpPr/>
          <p:nvPr/>
        </p:nvSpPr>
        <p:spPr>
          <a:xfrm>
            <a:off x="8074152"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Artistic interpretations creating false confidence in unproven methods</a:t>
            </a:r>
            <a:endParaRPr lang="en-US" sz="1200" dirty="0"/>
          </a:p>
        </p:txBody>
      </p:sp>
      <p:sp>
        <p:nvSpPr>
          <p:cNvPr id="13" name="Shape 10"/>
          <p:cNvSpPr/>
          <p:nvPr/>
        </p:nvSpPr>
        <p:spPr>
          <a:xfrm>
            <a:off x="4631436" y="2468880"/>
            <a:ext cx="2926080" cy="2011680"/>
          </a:xfrm>
          <a:prstGeom prst="rect">
            <a:avLst/>
          </a:prstGeom>
          <a:solidFill>
            <a:srgbClr val="1B2E1B"/>
          </a:solidFill>
          <a:ln w="25400">
            <a:solidFill>
              <a:srgbClr val="4CAF50"/>
            </a:solidFill>
            <a:prstDash val="solid"/>
          </a:ln>
        </p:spPr>
      </p:sp>
      <p:sp>
        <p:nvSpPr>
          <p:cNvPr id="14" name="Text 11"/>
          <p:cNvSpPr/>
          <p:nvPr/>
        </p:nvSpPr>
        <p:spPr>
          <a:xfrm>
            <a:off x="4631436" y="2651760"/>
            <a:ext cx="2926080" cy="457200"/>
          </a:xfrm>
          <a:prstGeom prst="rect">
            <a:avLst/>
          </a:prstGeom>
          <a:noFill/>
          <a:ln/>
        </p:spPr>
        <p:txBody>
          <a:bodyPr wrap="square" rtlCol="0" anchor="ctr"/>
          <a:lstStyle/>
          <a:p>
            <a:pPr algn="ctr" indent="0" marL="0">
              <a:buNone/>
            </a:pPr>
            <a:r>
              <a:rPr lang="en-US" sz="1400" b="1" dirty="0">
                <a:solidFill>
                  <a:srgbClr val="4CAF50"/>
                </a:solidFill>
                <a:latin typeface="Rajdhani" pitchFamily="34" charset="0"/>
                <a:ea typeface="Rajdhani" pitchFamily="34" charset="-122"/>
                <a:cs typeface="Rajdhani" pitchFamily="34" charset="-120"/>
              </a:rPr>
              <a:t>PROFESSIONAL MONEY MANAGEMENT STANDARD</a:t>
            </a:r>
            <a:endParaRPr lang="en-US" sz="1400" dirty="0"/>
          </a:p>
        </p:txBody>
      </p:sp>
      <p:sp>
        <p:nvSpPr>
          <p:cNvPr id="15" name="Text 12"/>
          <p:cNvSpPr/>
          <p:nvPr/>
        </p:nvSpPr>
        <p:spPr>
          <a:xfrm>
            <a:off x="4631436" y="3154680"/>
            <a:ext cx="2926080" cy="1097280"/>
          </a:xfrm>
          <a:prstGeom prst="rect">
            <a:avLst/>
          </a:prstGeom>
          <a:noFill/>
          <a:ln/>
        </p:spPr>
        <p:txBody>
          <a:bodyPr wrap="square" rtlCol="0" anchor="ctr"/>
          <a:lstStyle/>
          <a:p>
            <a:pPr algn="ctr" indent="0" marL="0">
              <a:buNone/>
            </a:pPr>
            <a:r>
              <a:rPr lang="en-US" sz="1200" dirty="0">
                <a:solidFill>
                  <a:srgbClr val="FFFFFF"/>
                </a:solidFill>
                <a:latin typeface="Quicksand" pitchFamily="34" charset="0"/>
                <a:ea typeface="Quicksand" pitchFamily="34" charset="-122"/>
                <a:cs typeface="Quicksand" pitchFamily="34" charset="-120"/>
              </a:rPr>
              <a:t>Statistical validation required. No subjective interpretation. Measurable edges only.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4CAF50"/>
                </a:solidFill>
                <a:latin typeface="Rajdhani" pitchFamily="34" charset="0"/>
                <a:ea typeface="Rajdhani" pitchFamily="34" charset="-122"/>
                <a:cs typeface="Rajdhani" pitchFamily="34" charset="-120"/>
              </a:rPr>
              <a:t>EVIDENCE-BASED TECHNICAL ANALYSIS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1B2E1B"/>
                </a:solidFill>
                <a:latin typeface="Rajdhani" pitchFamily="34" charset="0"/>
                <a:ea typeface="Rajdhani" pitchFamily="34" charset="-122"/>
                <a:cs typeface="Rajdhani" pitchFamily="34" charset="-120"/>
              </a:rPr>
              <a:t>NO PROFESSIONAL MONEY MANAGER WOULD RISK CLIENT CAPITAL ON CHART PATTERNS</a:t>
            </a:r>
            <a:endParaRPr lang="en-US" sz="2800" dirty="0"/>
          </a:p>
        </p:txBody>
      </p:sp>
      <p:sp>
        <p:nvSpPr>
          <p:cNvPr id="5" name="Shape 2"/>
          <p:cNvSpPr/>
          <p:nvPr/>
        </p:nvSpPr>
        <p:spPr>
          <a:xfrm>
            <a:off x="365760" y="1188720"/>
            <a:ext cx="1828800" cy="54864"/>
          </a:xfrm>
          <a:prstGeom prst="rect">
            <a:avLst/>
          </a:prstGeom>
          <a:solidFill>
            <a:srgbClr val="4CAF50"/>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2864358"/>
                <a:gridCol w="2864358"/>
                <a:gridCol w="2864358"/>
                <a:gridCol w="2864358"/>
              </a:tblGrid>
              <a:tr h="411480">
                <a:tc gridSpan="4">
                  <a:txBody>
                    <a:bodyPr/>
                    <a:lstStyle/>
                    <a:p>
                      <a:pPr algn="ctr" indent="0" marL="0">
                        <a:buNone/>
                      </a:pPr>
                      <a:r>
                        <a:rPr lang="en-US" sz="1400" b="1" dirty="0">
                          <a:solidFill>
                            <a:srgbClr val="1B2E1B"/>
                          </a:solidFill>
                          <a:latin typeface="Rajdhani" pitchFamily="34" charset="0"/>
                          <a:ea typeface="Rajdhani" pitchFamily="34" charset="-122"/>
                          <a:cs typeface="Rajdhani" pitchFamily="34" charset="-120"/>
                        </a:rPr>
                        <a:t>METHODOLOGY COMPARISON</a:t>
                      </a:r>
                      <a:endParaRPr lang="en-US" sz="1400" dirty="0">
                        <a:latin typeface="Rajdhani" charset="0"/>
                        <a:ea typeface="Rajdhani" charset="0"/>
                        <a:cs typeface="Rajdhani"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4CAF50"/>
                    </a:solidFill>
                  </a:tcPr>
                </a:tc>
                <a:tc hMerge="1">
                  <a:tcPr/>
                </a:tc>
                <a:tc hMerge="1">
                  <a:tcPr/>
                </a:tc>
                <a:tc hMerge="1">
                  <a:tcPr/>
                </a:tc>
              </a:tr>
              <a:tr h="411480">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APPROACH</a:t>
                      </a:r>
                      <a:endParaRPr lang="en-US" sz="1200" dirty="0">
                        <a:latin typeface="Rajdhani" charset="0"/>
                        <a:ea typeface="Rajdhani" charset="0"/>
                        <a:cs typeface="Rajdhani"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1B2E1B"/>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VALIDATION METHOD</a:t>
                      </a:r>
                      <a:endParaRPr lang="en-US" sz="1200" dirty="0">
                        <a:latin typeface="Rajdhani" charset="0"/>
                        <a:ea typeface="Rajdhani" charset="0"/>
                        <a:cs typeface="Rajdhani"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1B2E1B"/>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PROFESSIONAL USE</a:t>
                      </a:r>
                      <a:endParaRPr lang="en-US" sz="1200" dirty="0">
                        <a:latin typeface="Rajdhani" charset="0"/>
                        <a:ea typeface="Rajdhani" charset="0"/>
                        <a:cs typeface="Rajdhani"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1B2E1B"/>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STATISTICAL EDGE</a:t>
                      </a:r>
                      <a:endParaRPr lang="en-US" sz="1200" dirty="0">
                        <a:latin typeface="Rajdhani" charset="0"/>
                        <a:ea typeface="Rajdhani" charset="0"/>
                        <a:cs typeface="Rajdhani"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1B2E1B"/>
                    </a:solidFill>
                  </a:tcPr>
                </a:tc>
              </a:tr>
              <a:tr h="411480">
                <a:tc>
                  <a:txBody>
                    <a:bodyPr/>
                    <a:lstStyle/>
                    <a:p>
                      <a:pPr indent="0" marL="0">
                        <a:buNone/>
                      </a:pPr>
                      <a:r>
                        <a:rPr lang="en-US" sz="1200" dirty="0">
                          <a:solidFill>
                            <a:srgbClr val="1B2E1B"/>
                          </a:solidFill>
                          <a:latin typeface="Quicksand" pitchFamily="34" charset="0"/>
                          <a:ea typeface="Quicksand" pitchFamily="34" charset="-122"/>
                          <a:cs typeface="Quicksand" pitchFamily="34" charset="-120"/>
                        </a:rPr>
                        <a:t>Technical Analysis</a:t>
                      </a:r>
                      <a:endParaRPr lang="en-US" sz="1200" dirty="0">
                        <a:latin typeface="Quicksand" charset="0"/>
                        <a:ea typeface="Quicksand" charset="0"/>
                        <a:cs typeface="Quicksand"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FFFFF"/>
                    </a:solidFill>
                  </a:tcPr>
                </a:tc>
                <a:tc>
                  <a:txBody>
                    <a:bodyPr/>
                    <a:lstStyle/>
                    <a:p>
                      <a:pPr indent="0" marL="0">
                        <a:buNone/>
                      </a:pPr>
                      <a:r>
                        <a:rPr lang="en-US" sz="1200" dirty="0">
                          <a:solidFill>
                            <a:srgbClr val="1B2E1B"/>
                          </a:solidFill>
                          <a:latin typeface="Quicksand" pitchFamily="34" charset="0"/>
                          <a:ea typeface="Quicksand" pitchFamily="34" charset="-122"/>
                          <a:cs typeface="Quicksand" pitchFamily="34" charset="-120"/>
                        </a:rPr>
                        <a:t>Mathematical Testing</a:t>
                      </a:r>
                      <a:endParaRPr lang="en-US" sz="1200" dirty="0">
                        <a:latin typeface="Quicksand" charset="0"/>
                        <a:ea typeface="Quicksand" charset="0"/>
                        <a:cs typeface="Quicksand"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FFFFF"/>
                    </a:solidFill>
                  </a:tcPr>
                </a:tc>
                <a:tc>
                  <a:txBody>
                    <a:bodyPr/>
                    <a:lstStyle/>
                    <a:p>
                      <a:pPr indent="0" marL="0">
                        <a:buNone/>
                      </a:pPr>
                      <a:r>
                        <a:rPr lang="en-US" sz="1200" dirty="0">
                          <a:solidFill>
                            <a:srgbClr val="1B2E1B"/>
                          </a:solidFill>
                          <a:latin typeface="Quicksand" pitchFamily="34" charset="0"/>
                          <a:ea typeface="Quicksand" pitchFamily="34" charset="-122"/>
                          <a:cs typeface="Quicksand" pitchFamily="34" charset="-120"/>
                        </a:rPr>
                        <a:t>Institutional Quality</a:t>
                      </a:r>
                      <a:endParaRPr lang="en-US" sz="1200" dirty="0">
                        <a:latin typeface="Quicksand" charset="0"/>
                        <a:ea typeface="Quicksand" charset="0"/>
                        <a:cs typeface="Quicksand"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FFFFF"/>
                    </a:solidFill>
                  </a:tcPr>
                </a:tc>
                <a:tc>
                  <a:txBody>
                    <a:bodyPr/>
                    <a:lstStyle/>
                    <a:p>
                      <a:pPr indent="0" marL="0">
                        <a:buNone/>
                      </a:pPr>
                      <a:r>
                        <a:rPr lang="en-US" sz="1200" dirty="0">
                          <a:solidFill>
                            <a:srgbClr val="1B2E1B"/>
                          </a:solidFill>
                          <a:latin typeface="Quicksand" pitchFamily="34" charset="0"/>
                          <a:ea typeface="Quicksand" pitchFamily="34" charset="-122"/>
                          <a:cs typeface="Quicksand" pitchFamily="34" charset="-120"/>
                        </a:rPr>
                        <a:t>Measurable &amp; Proven</a:t>
                      </a:r>
                      <a:endParaRPr lang="en-US" sz="1200" dirty="0">
                        <a:latin typeface="Quicksand" charset="0"/>
                        <a:ea typeface="Quicksand" charset="0"/>
                        <a:cs typeface="Quicksand"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B2E1B"/>
                          </a:solidFill>
                          <a:latin typeface="Quicksand" pitchFamily="34" charset="0"/>
                          <a:ea typeface="Quicksand" pitchFamily="34" charset="-122"/>
                          <a:cs typeface="Quicksand" pitchFamily="34" charset="-120"/>
                        </a:rPr>
                        <a:t>Charting</a:t>
                      </a:r>
                      <a:endParaRPr lang="en-US" sz="1200" dirty="0">
                        <a:latin typeface="Quicksand" charset="0"/>
                        <a:ea typeface="Quicksand" charset="0"/>
                        <a:cs typeface="Quicksand"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0F5F0"/>
                    </a:solidFill>
                  </a:tcPr>
                </a:tc>
                <a:tc>
                  <a:txBody>
                    <a:bodyPr/>
                    <a:lstStyle/>
                    <a:p>
                      <a:pPr indent="0" marL="0">
                        <a:buNone/>
                      </a:pPr>
                      <a:r>
                        <a:rPr lang="en-US" sz="1200" dirty="0">
                          <a:solidFill>
                            <a:srgbClr val="1B2E1B"/>
                          </a:solidFill>
                          <a:latin typeface="Quicksand" pitchFamily="34" charset="0"/>
                          <a:ea typeface="Quicksand" pitchFamily="34" charset="-122"/>
                          <a:cs typeface="Quicksand" pitchFamily="34" charset="-120"/>
                        </a:rPr>
                        <a:t>Visual Interpretation</a:t>
                      </a:r>
                      <a:endParaRPr lang="en-US" sz="1200" dirty="0">
                        <a:latin typeface="Quicksand" charset="0"/>
                        <a:ea typeface="Quicksand" charset="0"/>
                        <a:cs typeface="Quicksand"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0F5F0"/>
                    </a:solidFill>
                  </a:tcPr>
                </a:tc>
                <a:tc>
                  <a:txBody>
                    <a:bodyPr/>
                    <a:lstStyle/>
                    <a:p>
                      <a:pPr indent="0" marL="0">
                        <a:buNone/>
                      </a:pPr>
                      <a:r>
                        <a:rPr lang="en-US" sz="1200" dirty="0">
                          <a:solidFill>
                            <a:srgbClr val="1B2E1B"/>
                          </a:solidFill>
                          <a:latin typeface="Quicksand" pitchFamily="34" charset="0"/>
                          <a:ea typeface="Quicksand" pitchFamily="34" charset="-122"/>
                          <a:cs typeface="Quicksand" pitchFamily="34" charset="-120"/>
                        </a:rPr>
                        <a:t>Retail Only</a:t>
                      </a:r>
                      <a:endParaRPr lang="en-US" sz="1200" dirty="0">
                        <a:latin typeface="Quicksand" charset="0"/>
                        <a:ea typeface="Quicksand" charset="0"/>
                        <a:cs typeface="Quicksand"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0F5F0"/>
                    </a:solidFill>
                  </a:tcPr>
                </a:tc>
                <a:tc>
                  <a:txBody>
                    <a:bodyPr/>
                    <a:lstStyle/>
                    <a:p>
                      <a:pPr indent="0" marL="0">
                        <a:buNone/>
                      </a:pPr>
                      <a:r>
                        <a:rPr lang="en-US" sz="1200" dirty="0">
                          <a:solidFill>
                            <a:srgbClr val="1B2E1B"/>
                          </a:solidFill>
                          <a:latin typeface="Quicksand" pitchFamily="34" charset="0"/>
                          <a:ea typeface="Quicksand" pitchFamily="34" charset="-122"/>
                          <a:cs typeface="Quicksand" pitchFamily="34" charset="-120"/>
                        </a:rPr>
                        <a:t>Unproven Hunches</a:t>
                      </a:r>
                      <a:endParaRPr lang="en-US" sz="1200" dirty="0">
                        <a:latin typeface="Quicksand" charset="0"/>
                        <a:ea typeface="Quicksand" charset="0"/>
                        <a:cs typeface="Quicksand"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0F5F0"/>
                    </a:solidFill>
                  </a:tcPr>
                </a:tc>
              </a:tr>
            </a:tbl>
          </a:graphicData>
        </a:graphic>
      </p:graphicFrame>
      <p:sp>
        <p:nvSpPr>
          <p:cNvPr id="7" name="Text 3"/>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6B8E6B"/>
                </a:solidFill>
                <a:latin typeface="Quicksand" pitchFamily="34" charset="0"/>
                <a:ea typeface="Quicksand" pitchFamily="34" charset="-122"/>
                <a:cs typeface="Quicksand" pitchFamily="34" charset="-120"/>
              </a:rPr>
              <a:t>Based on David Aronson's Evidence-Based Technical Analysis framework.</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4CAF50"/>
                </a:solidFill>
                <a:latin typeface="Rajdhani" pitchFamily="34" charset="0"/>
                <a:ea typeface="Rajdhani" pitchFamily="34" charset="-122"/>
                <a:cs typeface="Rajdhani" pitchFamily="34" charset="-120"/>
              </a:rPr>
              <a:t>EVIDENCE-BASED TECHNICAL ANALYSIS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1B2E1B"/>
                </a:solidFill>
                <a:latin typeface="Rajdhani" pitchFamily="34" charset="0"/>
                <a:ea typeface="Rajdhani" pitchFamily="34" charset="-122"/>
                <a:cs typeface="Rajdhani" pitchFamily="34" charset="-120"/>
              </a:rPr>
              <a:t>RIGOROUS TESTING REVEALS THE TRUTH ABOUT MARKET PATTERNS</a:t>
            </a:r>
            <a:endParaRPr lang="en-US" sz="2600" dirty="0"/>
          </a:p>
        </p:txBody>
      </p:sp>
      <p:sp>
        <p:nvSpPr>
          <p:cNvPr id="5" name="Shape 2"/>
          <p:cNvSpPr/>
          <p:nvPr/>
        </p:nvSpPr>
        <p:spPr>
          <a:xfrm>
            <a:off x="365760" y="1188720"/>
            <a:ext cx="1828800" cy="54864"/>
          </a:xfrm>
          <a:prstGeom prst="rect">
            <a:avLst/>
          </a:prstGeom>
          <a:solidFill>
            <a:srgbClr val="4CAF50"/>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3819144"/>
                <a:gridCol w="3819144"/>
                <a:gridCol w="3819144"/>
              </a:tblGrid>
              <a:tr h="411480">
                <a:tc gridSpan="3">
                  <a:txBody>
                    <a:bodyPr/>
                    <a:lstStyle/>
                    <a:p>
                      <a:pPr algn="ctr" indent="0" marL="0">
                        <a:buNone/>
                      </a:pPr>
                      <a:r>
                        <a:rPr lang="en-US" sz="1400" b="1" dirty="0">
                          <a:solidFill>
                            <a:srgbClr val="1B2E1B"/>
                          </a:solidFill>
                          <a:latin typeface="Rajdhani" pitchFamily="34" charset="0"/>
                          <a:ea typeface="Rajdhani" pitchFamily="34" charset="-122"/>
                          <a:cs typeface="Rajdhani" pitchFamily="34" charset="-120"/>
                        </a:rPr>
                        <a:t>VALIDATION REQUIREMENTS</a:t>
                      </a:r>
                      <a:endParaRPr lang="en-US" sz="1400" dirty="0">
                        <a:latin typeface="Rajdhani" charset="0"/>
                        <a:ea typeface="Rajdhani" charset="0"/>
                        <a:cs typeface="Rajdhani"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4CAF50"/>
                    </a:solidFill>
                  </a:tcPr>
                </a:tc>
                <a:tc hMerge="1">
                  <a:tcPr/>
                </a:tc>
                <a:tc hMerge="1">
                  <a:tcPr/>
                </a:tc>
              </a:tr>
              <a:tr h="411480">
                <a:tc>
                  <a:txBody>
                    <a:bodyPr/>
                    <a:lstStyle/>
                    <a:p>
                      <a:pPr algn="ctr" indent="0" marL="0">
                        <a:buNone/>
                      </a:pPr>
                      <a:endParaRPr lang="en-US" sz="1200" dirty="0">
                        <a:latin typeface="Rajdhani" charset="0"/>
                        <a:ea typeface="Rajdhani" charset="0"/>
                        <a:cs typeface="Rajdhani"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1B2E1B"/>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TECHNICAL ANALYSIS</a:t>
                      </a:r>
                      <a:endParaRPr lang="en-US" sz="1200" dirty="0">
                        <a:latin typeface="Rajdhani" charset="0"/>
                        <a:ea typeface="Rajdhani" charset="0"/>
                        <a:cs typeface="Rajdhani"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1B2E1B"/>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CHARTING</a:t>
                      </a:r>
                      <a:endParaRPr lang="en-US" sz="1200" dirty="0">
                        <a:latin typeface="Rajdhani" charset="0"/>
                        <a:ea typeface="Rajdhani" charset="0"/>
                        <a:cs typeface="Rajdhani"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1B2E1B"/>
                    </a:solidFill>
                  </a:tcPr>
                </a:tc>
              </a:tr>
              <a:tr h="411480">
                <a:tc>
                  <a:txBody>
                    <a:bodyPr/>
                    <a:lstStyle/>
                    <a:p>
                      <a:pPr indent="0" marL="0">
                        <a:buNone/>
                      </a:pPr>
                      <a:r>
                        <a:rPr lang="en-US" sz="1200" dirty="0">
                          <a:solidFill>
                            <a:srgbClr val="1B2E1B"/>
                          </a:solidFill>
                          <a:latin typeface="Quicksand" pitchFamily="34" charset="0"/>
                          <a:ea typeface="Quicksand" pitchFamily="34" charset="-122"/>
                          <a:cs typeface="Quicksand" pitchFamily="34" charset="-120"/>
                        </a:rPr>
                        <a:t>Statistical Significance</a:t>
                      </a:r>
                      <a:endParaRPr lang="en-US" sz="1200" dirty="0">
                        <a:latin typeface="Quicksand" charset="0"/>
                        <a:ea typeface="Quicksand" charset="0"/>
                        <a:cs typeface="Quicksand"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E1B"/>
                          </a:solidFill>
                          <a:latin typeface="Rajdhani" pitchFamily="34" charset="0"/>
                          <a:ea typeface="Rajdhani" pitchFamily="34" charset="-122"/>
                          <a:cs typeface="Rajdhani" pitchFamily="34" charset="-120"/>
                        </a:rPr>
                        <a:t>Required</a:t>
                      </a:r>
                      <a:endParaRPr lang="en-US" sz="1300" dirty="0">
                        <a:latin typeface="Rajdhani" charset="0"/>
                        <a:ea typeface="Rajdhani" charset="0"/>
                        <a:cs typeface="Rajdhani"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E1B"/>
                          </a:solidFill>
                          <a:latin typeface="Rajdhani" pitchFamily="34" charset="0"/>
                          <a:ea typeface="Rajdhani" pitchFamily="34" charset="-122"/>
                          <a:cs typeface="Rajdhani" pitchFamily="34" charset="-120"/>
                        </a:rPr>
                        <a:t>None</a:t>
                      </a:r>
                      <a:endParaRPr lang="en-US" sz="1300" dirty="0">
                        <a:latin typeface="Rajdhani" charset="0"/>
                        <a:ea typeface="Rajdhani" charset="0"/>
                        <a:cs typeface="Rajdhani"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B2E1B"/>
                          </a:solidFill>
                          <a:latin typeface="Quicksand" pitchFamily="34" charset="0"/>
                          <a:ea typeface="Quicksand" pitchFamily="34" charset="-122"/>
                          <a:cs typeface="Quicksand" pitchFamily="34" charset="-120"/>
                        </a:rPr>
                        <a:t>Backtesting</a:t>
                      </a:r>
                      <a:endParaRPr lang="en-US" sz="1200" dirty="0">
                        <a:latin typeface="Quicksand" charset="0"/>
                        <a:ea typeface="Quicksand" charset="0"/>
                        <a:cs typeface="Quicksand"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0F5F0"/>
                    </a:solidFill>
                  </a:tcPr>
                </a:tc>
                <a:tc>
                  <a:txBody>
                    <a:bodyPr/>
                    <a:lstStyle/>
                    <a:p>
                      <a:pPr algn="ctr" indent="0" marL="0">
                        <a:buNone/>
                      </a:pPr>
                      <a:r>
                        <a:rPr lang="en-US" sz="1300" b="1" dirty="0">
                          <a:solidFill>
                            <a:srgbClr val="1B2E1B"/>
                          </a:solidFill>
                          <a:latin typeface="Rajdhani" pitchFamily="34" charset="0"/>
                          <a:ea typeface="Rajdhani" pitchFamily="34" charset="-122"/>
                          <a:cs typeface="Rajdhani" pitchFamily="34" charset="-120"/>
                        </a:rPr>
                        <a:t>Systematic</a:t>
                      </a:r>
                      <a:endParaRPr lang="en-US" sz="1300" dirty="0">
                        <a:latin typeface="Rajdhani" charset="0"/>
                        <a:ea typeface="Rajdhani" charset="0"/>
                        <a:cs typeface="Rajdhani"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0F5F0"/>
                    </a:solidFill>
                  </a:tcPr>
                </a:tc>
                <a:tc>
                  <a:txBody>
                    <a:bodyPr/>
                    <a:lstStyle/>
                    <a:p>
                      <a:pPr algn="ctr" indent="0" marL="0">
                        <a:buNone/>
                      </a:pPr>
                      <a:r>
                        <a:rPr lang="en-US" sz="1300" b="1" dirty="0">
                          <a:solidFill>
                            <a:srgbClr val="1B2E1B"/>
                          </a:solidFill>
                          <a:latin typeface="Rajdhani" pitchFamily="34" charset="0"/>
                          <a:ea typeface="Rajdhani" pitchFamily="34" charset="-122"/>
                          <a:cs typeface="Rajdhani" pitchFamily="34" charset="-120"/>
                        </a:rPr>
                        <a:t>Subjective</a:t>
                      </a:r>
                      <a:endParaRPr lang="en-US" sz="1300" dirty="0">
                        <a:latin typeface="Rajdhani" charset="0"/>
                        <a:ea typeface="Rajdhani" charset="0"/>
                        <a:cs typeface="Rajdhani"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0F5F0"/>
                    </a:solidFill>
                  </a:tcPr>
                </a:tc>
              </a:tr>
              <a:tr h="411480">
                <a:tc>
                  <a:txBody>
                    <a:bodyPr/>
                    <a:lstStyle/>
                    <a:p>
                      <a:pPr indent="0" marL="0">
                        <a:buNone/>
                      </a:pPr>
                      <a:r>
                        <a:rPr lang="en-US" sz="1200" dirty="0">
                          <a:solidFill>
                            <a:srgbClr val="1B2E1B"/>
                          </a:solidFill>
                          <a:latin typeface="Quicksand" pitchFamily="34" charset="0"/>
                          <a:ea typeface="Quicksand" pitchFamily="34" charset="-122"/>
                          <a:cs typeface="Quicksand" pitchFamily="34" charset="-120"/>
                        </a:rPr>
                        <a:t>Success Rate Measurement</a:t>
                      </a:r>
                      <a:endParaRPr lang="en-US" sz="1200" dirty="0">
                        <a:latin typeface="Quicksand" charset="0"/>
                        <a:ea typeface="Quicksand" charset="0"/>
                        <a:cs typeface="Quicksand"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E1B"/>
                          </a:solidFill>
                          <a:latin typeface="Rajdhani" pitchFamily="34" charset="0"/>
                          <a:ea typeface="Rajdhani" pitchFamily="34" charset="-122"/>
                          <a:cs typeface="Rajdhani" pitchFamily="34" charset="-120"/>
                        </a:rPr>
                        <a:t>Quantified</a:t>
                      </a:r>
                      <a:endParaRPr lang="en-US" sz="1300" dirty="0">
                        <a:latin typeface="Rajdhani" charset="0"/>
                        <a:ea typeface="Rajdhani" charset="0"/>
                        <a:cs typeface="Rajdhani"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E1B"/>
                          </a:solidFill>
                          <a:latin typeface="Rajdhani" pitchFamily="34" charset="0"/>
                          <a:ea typeface="Rajdhani" pitchFamily="34" charset="-122"/>
                          <a:cs typeface="Rajdhani" pitchFamily="34" charset="-120"/>
                        </a:rPr>
                        <a:t>Assumed</a:t>
                      </a:r>
                      <a:endParaRPr lang="en-US" sz="1300" dirty="0">
                        <a:latin typeface="Rajdhani" charset="0"/>
                        <a:ea typeface="Rajdhani" charset="0"/>
                        <a:cs typeface="Rajdhani"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B2E1B"/>
                          </a:solidFill>
                          <a:latin typeface="Quicksand" pitchFamily="34" charset="0"/>
                          <a:ea typeface="Quicksand" pitchFamily="34" charset="-122"/>
                          <a:cs typeface="Quicksand" pitchFamily="34" charset="-120"/>
                        </a:rPr>
                        <a:t>Professional Standard</a:t>
                      </a:r>
                      <a:endParaRPr lang="en-US" sz="1200" dirty="0">
                        <a:latin typeface="Quicksand" charset="0"/>
                        <a:ea typeface="Quicksand" charset="0"/>
                        <a:cs typeface="Quicksand"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0F5F0"/>
                    </a:solidFill>
                  </a:tcPr>
                </a:tc>
                <a:tc>
                  <a:txBody>
                    <a:bodyPr/>
                    <a:lstStyle/>
                    <a:p>
                      <a:pPr algn="ctr" indent="0" marL="0">
                        <a:buNone/>
                      </a:pPr>
                      <a:r>
                        <a:rPr lang="en-US" sz="1300" b="1" dirty="0">
                          <a:solidFill>
                            <a:srgbClr val="1B2E1B"/>
                          </a:solidFill>
                          <a:latin typeface="Rajdhani" pitchFamily="34" charset="0"/>
                          <a:ea typeface="Rajdhani" pitchFamily="34" charset="-122"/>
                          <a:cs typeface="Rajdhani" pitchFamily="34" charset="-120"/>
                        </a:rPr>
                        <a:t>Meets</a:t>
                      </a:r>
                      <a:endParaRPr lang="en-US" sz="1300" dirty="0">
                        <a:latin typeface="Rajdhani" charset="0"/>
                        <a:ea typeface="Rajdhani" charset="0"/>
                        <a:cs typeface="Rajdhani"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0F5F0"/>
                    </a:solidFill>
                  </a:tcPr>
                </a:tc>
                <a:tc>
                  <a:txBody>
                    <a:bodyPr/>
                    <a:lstStyle/>
                    <a:p>
                      <a:pPr algn="ctr" indent="0" marL="0">
                        <a:buNone/>
                      </a:pPr>
                      <a:r>
                        <a:rPr lang="en-US" sz="1300" b="1" dirty="0">
                          <a:solidFill>
                            <a:srgbClr val="1B2E1B"/>
                          </a:solidFill>
                          <a:latin typeface="Rajdhani" pitchFamily="34" charset="0"/>
                          <a:ea typeface="Rajdhani" pitchFamily="34" charset="-122"/>
                          <a:cs typeface="Rajdhani" pitchFamily="34" charset="-120"/>
                        </a:rPr>
                        <a:t>Fails</a:t>
                      </a:r>
                      <a:endParaRPr lang="en-US" sz="1300" dirty="0">
                        <a:latin typeface="Rajdhani" charset="0"/>
                        <a:ea typeface="Rajdhani" charset="0"/>
                        <a:cs typeface="Rajdhani" charset="0"/>
                      </a:endParaRPr>
                    </a:p>
                  </a:txBody>
                  <a:tcPr marL="91440" marR="91440" marT="45720" marB="45720">
                    <a:lnL w="12700" cap="flat" cmpd="sng" algn="ctr">
                      <a:solidFill>
                        <a:srgbClr val="C8D8C8"/>
                      </a:solidFill>
                      <a:prstDash val="solid"/>
                      <a:round/>
                      <a:headEnd type="none" w="med" len="med"/>
                      <a:tailEnd type="none" w="med" len="med"/>
                    </a:lnL>
                    <a:lnR w="12700" cap="flat" cmpd="sng" algn="ctr">
                      <a:solidFill>
                        <a:srgbClr val="C8D8C8"/>
                      </a:solidFill>
                      <a:prstDash val="solid"/>
                      <a:round/>
                      <a:headEnd type="none" w="med" len="med"/>
                      <a:tailEnd type="none" w="med" len="med"/>
                    </a:lnR>
                    <a:lnT w="12700" cap="flat" cmpd="sng" algn="ctr">
                      <a:solidFill>
                        <a:srgbClr val="C8D8C8"/>
                      </a:solidFill>
                      <a:prstDash val="solid"/>
                      <a:round/>
                      <a:headEnd type="none" w="med" len="med"/>
                      <a:tailEnd type="none" w="med" len="med"/>
                    </a:lnT>
                    <a:lnB w="12700" cap="flat" cmpd="sng" algn="ctr">
                      <a:solidFill>
                        <a:srgbClr val="C8D8C8"/>
                      </a:solidFill>
                      <a:prstDash val="solid"/>
                      <a:round/>
                      <a:headEnd type="none" w="med" len="med"/>
                      <a:tailEnd type="none" w="med" len="med"/>
                    </a:lnB>
                    <a:solidFill>
                      <a:srgbClr val="F0F5F0"/>
                    </a:solidFill>
                  </a:tcPr>
                </a:tc>
              </a:tr>
            </a:tbl>
          </a:graphicData>
        </a:graphic>
      </p:graphicFrame>
      <p:sp>
        <p:nvSpPr>
          <p:cNvPr id="7" name="Text 3"/>
          <p:cNvSpPr/>
          <p:nvPr/>
        </p:nvSpPr>
        <p:spPr>
          <a:xfrm>
            <a:off x="365760" y="6355080"/>
            <a:ext cx="11457432" cy="411480"/>
          </a:xfrm>
          <a:prstGeom prst="rect">
            <a:avLst/>
          </a:prstGeom>
          <a:noFill/>
          <a:ln/>
        </p:spPr>
        <p:txBody>
          <a:bodyPr wrap="square" rtlCol="0" anchor="ctr"/>
          <a:lstStyle/>
          <a:p>
            <a:pPr indent="0" marL="0">
              <a:buNone/>
            </a:pPr>
            <a:r>
              <a:rPr lang="en-US" sz="900" i="1" dirty="0">
                <a:solidFill>
                  <a:srgbClr val="6B8E6B"/>
                </a:solidFill>
                <a:latin typeface="Quicksand" pitchFamily="34" charset="0"/>
                <a:ea typeface="Quicksand" pitchFamily="34" charset="-122"/>
                <a:cs typeface="Quicksand" pitchFamily="34" charset="-120"/>
              </a:rPr>
              <a:t>Following scientific method principles for investment research.</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E1B"/>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4CAF50"/>
                </a:solidFill>
                <a:latin typeface="Rajdhani" pitchFamily="34" charset="0"/>
                <a:ea typeface="Rajdhani" pitchFamily="34" charset="-122"/>
                <a:cs typeface="Rajdhani" pitchFamily="34" charset="-120"/>
              </a:rPr>
              <a:t>EVIDENCE-BASED TECHNICAL ANALYSIS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FFFFFF"/>
                </a:solidFill>
                <a:latin typeface="Rajdhani" pitchFamily="34" charset="0"/>
                <a:ea typeface="Rajdhani" pitchFamily="34" charset="-122"/>
                <a:cs typeface="Rajdhani" pitchFamily="34" charset="-120"/>
              </a:rPr>
              <a:t>HOW ARE ADVISORS USING EVIDENCE-BASED TECHNICAL ANALYSIS?</a:t>
            </a:r>
            <a:endParaRPr lang="en-US" sz="2800" dirty="0"/>
          </a:p>
        </p:txBody>
      </p:sp>
      <p:sp>
        <p:nvSpPr>
          <p:cNvPr id="5" name="Shape 2"/>
          <p:cNvSpPr/>
          <p:nvPr/>
        </p:nvSpPr>
        <p:spPr>
          <a:xfrm>
            <a:off x="365760" y="1554480"/>
            <a:ext cx="2560320" cy="2560320"/>
          </a:xfrm>
          <a:prstGeom prst="ellipse">
            <a:avLst/>
          </a:prstGeom>
          <a:solidFill>
            <a:srgbClr val="1B2E1B"/>
          </a:solidFill>
          <a:ln w="38100">
            <a:solidFill>
              <a:srgbClr val="4CAF50"/>
            </a:solidFill>
            <a:prstDash val="solid"/>
          </a:ln>
        </p:spPr>
      </p:sp>
      <p:sp>
        <p:nvSpPr>
          <p:cNvPr id="6" name="Text 3"/>
          <p:cNvSpPr/>
          <p:nvPr/>
        </p:nvSpPr>
        <p:spPr>
          <a:xfrm>
            <a:off x="457200" y="1920240"/>
            <a:ext cx="2377440" cy="502920"/>
          </a:xfrm>
          <a:prstGeom prst="rect">
            <a:avLst/>
          </a:prstGeom>
          <a:noFill/>
          <a:ln/>
        </p:spPr>
        <p:txBody>
          <a:bodyPr wrap="square" rtlCol="0" anchor="ctr"/>
          <a:lstStyle/>
          <a:p>
            <a:pPr algn="ctr" indent="0" marL="0">
              <a:buNone/>
            </a:pPr>
            <a:r>
              <a:rPr lang="en-US" sz="1300" b="1" dirty="0">
                <a:solidFill>
                  <a:srgbClr val="4CAF50"/>
                </a:solidFill>
                <a:latin typeface="Rajdhani" pitchFamily="34" charset="0"/>
                <a:ea typeface="Rajdhani" pitchFamily="34" charset="-122"/>
                <a:cs typeface="Rajdhani" pitchFamily="34" charset="-120"/>
              </a:rPr>
              <a:t>SYSTEMATIC ENTRY/EXIT</a:t>
            </a:r>
            <a:endParaRPr lang="en-US" sz="1300" dirty="0"/>
          </a:p>
        </p:txBody>
      </p:sp>
      <p:sp>
        <p:nvSpPr>
          <p:cNvPr id="7" name="Text 4"/>
          <p:cNvSpPr/>
          <p:nvPr/>
        </p:nvSpPr>
        <p:spPr>
          <a:xfrm>
            <a:off x="457200"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Using validated RSI and moving average signals for precise timing decisions.</a:t>
            </a:r>
            <a:endParaRPr lang="en-US" sz="1100" dirty="0"/>
          </a:p>
        </p:txBody>
      </p:sp>
      <p:sp>
        <p:nvSpPr>
          <p:cNvPr id="8" name="Shape 5"/>
          <p:cNvSpPr/>
          <p:nvPr/>
        </p:nvSpPr>
        <p:spPr>
          <a:xfrm>
            <a:off x="3331464" y="1554480"/>
            <a:ext cx="2560320" cy="2560320"/>
          </a:xfrm>
          <a:prstGeom prst="ellipse">
            <a:avLst/>
          </a:prstGeom>
          <a:solidFill>
            <a:srgbClr val="1B2E1B"/>
          </a:solidFill>
          <a:ln w="38100">
            <a:solidFill>
              <a:srgbClr val="4CAF50"/>
            </a:solidFill>
            <a:prstDash val="solid"/>
          </a:ln>
        </p:spPr>
      </p:sp>
      <p:sp>
        <p:nvSpPr>
          <p:cNvPr id="9" name="Text 6"/>
          <p:cNvSpPr/>
          <p:nvPr/>
        </p:nvSpPr>
        <p:spPr>
          <a:xfrm>
            <a:off x="3422904" y="1920240"/>
            <a:ext cx="2377440" cy="502920"/>
          </a:xfrm>
          <a:prstGeom prst="rect">
            <a:avLst/>
          </a:prstGeom>
          <a:noFill/>
          <a:ln/>
        </p:spPr>
        <p:txBody>
          <a:bodyPr wrap="square" rtlCol="0" anchor="ctr"/>
          <a:lstStyle/>
          <a:p>
            <a:pPr algn="ctr" indent="0" marL="0">
              <a:buNone/>
            </a:pPr>
            <a:r>
              <a:rPr lang="en-US" sz="1300" b="1" dirty="0">
                <a:solidFill>
                  <a:srgbClr val="4CAF50"/>
                </a:solidFill>
                <a:latin typeface="Rajdhani" pitchFamily="34" charset="0"/>
                <a:ea typeface="Rajdhani" pitchFamily="34" charset="-122"/>
                <a:cs typeface="Rajdhani" pitchFamily="34" charset="-120"/>
              </a:rPr>
              <a:t>RISK MANAGEMENT</a:t>
            </a:r>
            <a:endParaRPr lang="en-US" sz="1300" dirty="0"/>
          </a:p>
        </p:txBody>
      </p:sp>
      <p:sp>
        <p:nvSpPr>
          <p:cNvPr id="10" name="Text 7"/>
          <p:cNvSpPr/>
          <p:nvPr/>
        </p:nvSpPr>
        <p:spPr>
          <a:xfrm>
            <a:off x="3422904"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Implementing statistically-proven support and resistance levels for stops.</a:t>
            </a:r>
            <a:endParaRPr lang="en-US" sz="1100" dirty="0"/>
          </a:p>
        </p:txBody>
      </p:sp>
      <p:sp>
        <p:nvSpPr>
          <p:cNvPr id="11" name="Shape 8"/>
          <p:cNvSpPr/>
          <p:nvPr/>
        </p:nvSpPr>
        <p:spPr>
          <a:xfrm>
            <a:off x="6297168" y="1554480"/>
            <a:ext cx="2560320" cy="2560320"/>
          </a:xfrm>
          <a:prstGeom prst="ellipse">
            <a:avLst/>
          </a:prstGeom>
          <a:solidFill>
            <a:srgbClr val="1B2E1B"/>
          </a:solidFill>
          <a:ln w="38100">
            <a:solidFill>
              <a:srgbClr val="4CAF50"/>
            </a:solidFill>
            <a:prstDash val="solid"/>
          </a:ln>
        </p:spPr>
      </p:sp>
      <p:sp>
        <p:nvSpPr>
          <p:cNvPr id="12" name="Text 9"/>
          <p:cNvSpPr/>
          <p:nvPr/>
        </p:nvSpPr>
        <p:spPr>
          <a:xfrm>
            <a:off x="6388608" y="1920240"/>
            <a:ext cx="2377440" cy="502920"/>
          </a:xfrm>
          <a:prstGeom prst="rect">
            <a:avLst/>
          </a:prstGeom>
          <a:noFill/>
          <a:ln/>
        </p:spPr>
        <p:txBody>
          <a:bodyPr wrap="square" rtlCol="0" anchor="ctr"/>
          <a:lstStyle/>
          <a:p>
            <a:pPr algn="ctr" indent="0" marL="0">
              <a:buNone/>
            </a:pPr>
            <a:r>
              <a:rPr lang="en-US" sz="1300" b="1" dirty="0">
                <a:solidFill>
                  <a:srgbClr val="4CAF50"/>
                </a:solidFill>
                <a:latin typeface="Rajdhani" pitchFamily="34" charset="0"/>
                <a:ea typeface="Rajdhani" pitchFamily="34" charset="-122"/>
                <a:cs typeface="Rajdhani" pitchFamily="34" charset="-120"/>
              </a:rPr>
              <a:t>ALGORITHMIC TRADING</a:t>
            </a:r>
            <a:endParaRPr lang="en-US" sz="1300" dirty="0"/>
          </a:p>
        </p:txBody>
      </p:sp>
      <p:sp>
        <p:nvSpPr>
          <p:cNvPr id="13" name="Text 10"/>
          <p:cNvSpPr/>
          <p:nvPr/>
        </p:nvSpPr>
        <p:spPr>
          <a:xfrm>
            <a:off x="6388608"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Building quantitative strategies based on tested behavioral patterns.</a:t>
            </a:r>
            <a:endParaRPr lang="en-US" sz="1100" dirty="0"/>
          </a:p>
        </p:txBody>
      </p:sp>
      <p:sp>
        <p:nvSpPr>
          <p:cNvPr id="14" name="Shape 11"/>
          <p:cNvSpPr/>
          <p:nvPr/>
        </p:nvSpPr>
        <p:spPr>
          <a:xfrm>
            <a:off x="9262872" y="1554480"/>
            <a:ext cx="2560320" cy="2560320"/>
          </a:xfrm>
          <a:prstGeom prst="ellipse">
            <a:avLst/>
          </a:prstGeom>
          <a:solidFill>
            <a:srgbClr val="1B2E1B"/>
          </a:solidFill>
          <a:ln w="38100">
            <a:solidFill>
              <a:srgbClr val="4CAF50"/>
            </a:solidFill>
            <a:prstDash val="solid"/>
          </a:ln>
        </p:spPr>
      </p:sp>
      <p:sp>
        <p:nvSpPr>
          <p:cNvPr id="15" name="Text 12"/>
          <p:cNvSpPr/>
          <p:nvPr/>
        </p:nvSpPr>
        <p:spPr>
          <a:xfrm>
            <a:off x="9354312" y="1920240"/>
            <a:ext cx="2377440" cy="502920"/>
          </a:xfrm>
          <a:prstGeom prst="rect">
            <a:avLst/>
          </a:prstGeom>
          <a:noFill/>
          <a:ln/>
        </p:spPr>
        <p:txBody>
          <a:bodyPr wrap="square" rtlCol="0" anchor="ctr"/>
          <a:lstStyle/>
          <a:p>
            <a:pPr algn="ctr" indent="0" marL="0">
              <a:buNone/>
            </a:pPr>
            <a:r>
              <a:rPr lang="en-US" sz="1300" b="1" dirty="0">
                <a:solidFill>
                  <a:srgbClr val="4CAF50"/>
                </a:solidFill>
                <a:latin typeface="Rajdhani" pitchFamily="34" charset="0"/>
                <a:ea typeface="Rajdhani" pitchFamily="34" charset="-122"/>
                <a:cs typeface="Rajdhani" pitchFamily="34" charset="-120"/>
              </a:rPr>
              <a:t>INSTITUTIONAL COMPLIANCE</a:t>
            </a:r>
            <a:endParaRPr lang="en-US" sz="1300" dirty="0"/>
          </a:p>
        </p:txBody>
      </p:sp>
      <p:sp>
        <p:nvSpPr>
          <p:cNvPr id="16" name="Text 13"/>
          <p:cNvSpPr/>
          <p:nvPr/>
        </p:nvSpPr>
        <p:spPr>
          <a:xfrm>
            <a:off x="9354312"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Meeting fiduciary standards with evidence-based investment processes.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E1B"/>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65760" y="228600"/>
            <a:ext cx="1828800" cy="594360"/>
          </a:xfrm>
          <a:prstGeom prst="rect">
            <a:avLst/>
          </a:prstGeom>
        </p:spPr>
      </p:pic>
      <p:sp>
        <p:nvSpPr>
          <p:cNvPr id="3" name="Text 0"/>
          <p:cNvSpPr/>
          <p:nvPr/>
        </p:nvSpPr>
        <p:spPr>
          <a:xfrm>
            <a:off x="365760" y="2286000"/>
            <a:ext cx="11457432" cy="1371600"/>
          </a:xfrm>
          <a:prstGeom prst="rect">
            <a:avLst/>
          </a:prstGeom>
          <a:noFill/>
          <a:ln/>
        </p:spPr>
        <p:txBody>
          <a:bodyPr wrap="square" rtlCol="0" anchor="ctr"/>
          <a:lstStyle/>
          <a:p>
            <a:pPr algn="ctr" indent="0" marL="0">
              <a:buNone/>
            </a:pPr>
            <a:r>
              <a:rPr lang="en-US" sz="6000" b="1" dirty="0">
                <a:solidFill>
                  <a:srgbClr val="FFFFFF"/>
                </a:solidFill>
                <a:latin typeface="Rajdhani" pitchFamily="34" charset="0"/>
                <a:ea typeface="Rajdhani" pitchFamily="34" charset="-122"/>
                <a:cs typeface="Rajdhani" pitchFamily="34" charset="-120"/>
              </a:rPr>
              <a:t>THANK YOU!</a:t>
            </a:r>
            <a:endParaRPr lang="en-US" sz="6000" dirty="0"/>
          </a:p>
        </p:txBody>
      </p:sp>
      <p:sp>
        <p:nvSpPr>
          <p:cNvPr id="4" name="Text 1"/>
          <p:cNvSpPr/>
          <p:nvPr/>
        </p:nvSpPr>
        <p:spPr>
          <a:xfrm>
            <a:off x="365760" y="3840480"/>
            <a:ext cx="11457432" cy="548640"/>
          </a:xfrm>
          <a:prstGeom prst="rect">
            <a:avLst/>
          </a:prstGeom>
          <a:noFill/>
          <a:ln/>
        </p:spPr>
        <p:txBody>
          <a:bodyPr wrap="square" rtlCol="0" anchor="ctr"/>
          <a:lstStyle/>
          <a:p>
            <a:pPr algn="ctr" indent="0" marL="0">
              <a:buNone/>
            </a:pPr>
            <a:r>
              <a:rPr lang="en-US" sz="1600" i="1" dirty="0">
                <a:solidFill>
                  <a:srgbClr val="4CAF50"/>
                </a:solidFill>
                <a:latin typeface="Quicksand" pitchFamily="34" charset="0"/>
                <a:ea typeface="Quicksand" pitchFamily="34" charset="-122"/>
                <a:cs typeface="Quicksand" pitchFamily="34" charset="-120"/>
              </a:rPr>
              <a:t>We have a team of regional consultants ready to help.</a:t>
            </a:r>
            <a:endParaRPr lang="en-US" sz="1600" dirty="0"/>
          </a:p>
        </p:txBody>
      </p:sp>
      <p:sp>
        <p:nvSpPr>
          <p:cNvPr id="5" name="Text 2"/>
          <p:cNvSpPr/>
          <p:nvPr/>
        </p:nvSpPr>
        <p:spPr>
          <a:xfrm>
            <a:off x="365760" y="4754880"/>
            <a:ext cx="11457432" cy="365760"/>
          </a:xfrm>
          <a:prstGeom prst="rect">
            <a:avLst/>
          </a:prstGeom>
          <a:noFill/>
          <a:ln/>
        </p:spPr>
        <p:txBody>
          <a:bodyPr wrap="square" rtlCol="0" anchor="ctr"/>
          <a:lstStyle/>
          <a:p>
            <a:pPr algn="ctr" indent="0" marL="0">
              <a:buNone/>
            </a:pPr>
            <a:r>
              <a:rPr lang="en-US" sz="1400" u="sng" dirty="0">
                <a:solidFill>
                  <a:srgbClr val="FFFFFF"/>
                </a:solidFill>
                <a:latin typeface="Quicksand" pitchFamily="34" charset="0"/>
                <a:ea typeface="Quicksand" pitchFamily="34" charset="-122"/>
                <a:cs typeface="Quicksand"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potomac.com</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E1B"/>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2200" b="1" dirty="0">
                <a:solidFill>
                  <a:srgbClr val="4CAF50"/>
                </a:solidFill>
                <a:latin typeface="Rajdhani" pitchFamily="34" charset="0"/>
                <a:ea typeface="Rajdhani" pitchFamily="34" charset="-122"/>
                <a:cs typeface="Rajdhani" pitchFamily="34" charset="-120"/>
              </a:rPr>
              <a:t>DISCLOSURES</a:t>
            </a:r>
            <a:endParaRPr lang="en-US" sz="2200" dirty="0"/>
          </a:p>
        </p:txBody>
      </p:sp>
      <p:sp>
        <p:nvSpPr>
          <p:cNvPr id="4" name="Text 1"/>
          <p:cNvSpPr/>
          <p:nvPr/>
        </p:nvSpPr>
        <p:spPr>
          <a:xfrm>
            <a:off x="365760" y="822960"/>
            <a:ext cx="11457432" cy="5852160"/>
          </a:xfrm>
          <a:prstGeom prst="rect">
            <a:avLst/>
          </a:prstGeom>
          <a:noFill/>
          <a:ln/>
        </p:spPr>
        <p:txBody>
          <a:bodyPr wrap="square" rtlCol="0" anchor="ctr"/>
          <a:lstStyle/>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Potomac is a registered investment adviser. Registration with the SEC does not imply a certain level of skill or training. The information presented herein is for informational and educational purposes only and is not intended as investment advice. Past performance does not guarantee future results. All investing involves risk, including possible loss of principal. The strategies described may not be suitable for all investors.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Indices referenced are unmanaged and cannot be invested in directly. The S&amp;P 500 Index is a market-capitalization-weighted index of 500 leading publicly traded companies in the U.S.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Please refer to Potomac's Form ADV Part 2A for additional information about our services, fees, and risks. A copy is available at www.adviserinfo.sec.gov or by contacting us at info@potomac.com.</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PFM-508-20260221</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E1B"/>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1800" b="1" dirty="0">
                <a:solidFill>
                  <a:srgbClr val="4CAF50"/>
                </a:solidFill>
                <a:latin typeface="Rajdhani" pitchFamily="34" charset="0"/>
                <a:ea typeface="Rajdhani" pitchFamily="34" charset="-122"/>
                <a:cs typeface="Rajdhani" pitchFamily="34" charset="-120"/>
              </a:rPr>
              <a:t>IMPORTANT DEFINITIONS USED IN THIS REPORT</a:t>
            </a:r>
            <a:endParaRPr lang="en-US" sz="1800" dirty="0"/>
          </a:p>
        </p:txBody>
      </p:sp>
      <p:sp>
        <p:nvSpPr>
          <p:cNvPr id="4" name="Text 1"/>
          <p:cNvSpPr/>
          <p:nvPr/>
        </p:nvSpPr>
        <p:spPr>
          <a:xfrm>
            <a:off x="365760" y="868680"/>
            <a:ext cx="11457432" cy="5852160"/>
          </a:xfrm>
          <a:prstGeom prst="rect">
            <a:avLst/>
          </a:prstGeom>
          <a:noFill/>
          <a:ln/>
        </p:spPr>
        <p:txBody>
          <a:bodyPr wrap="square" rtlCol="0" anchor="ctr"/>
          <a:lstStyle/>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RSI (Relative Strength Index): A momentum oscillator that measures the speed and magnitude of price changes, typically using a 14-period calculation to identify overbought and oversold conditions.</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Moving Average: A statistical calculation used to analyze data points by creating averages of different subsets of the full data set, commonly used to identify trend direction and momentum.</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Support and Resistance: Price levels where a stock or market has difficulty moving below (support) or above (resistance), based on historical trading patterns and volume analysis.</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Statistical Significance: A measure of whether results are likely due to chance or represent a genuine pattern, typically requiring confidence levels of 95% or higher in financial analysis.</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Backtesting: The process of testing a trading strategy using historical data to determine how it would have performed in the past, essential for validating investment approaches.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Potomac Fund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ANALYSIS VS CHARTING</dc:title>
  <dc:subject>Investment Strategy Presentation</dc:subject>
  <dc:creator>Potomac Fund Management</dc:creator>
  <cp:lastModifiedBy>Potomac Fund Management</cp:lastModifiedBy>
  <cp:revision>1</cp:revision>
  <dcterms:created xsi:type="dcterms:W3CDTF">2026-02-21T16:32:37Z</dcterms:created>
  <dcterms:modified xsi:type="dcterms:W3CDTF">2026-02-21T16:32:37Z</dcterms:modified>
</cp:coreProperties>
</file>