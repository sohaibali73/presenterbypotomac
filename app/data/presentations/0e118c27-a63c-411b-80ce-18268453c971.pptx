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a2df77-3d83-56bf-2633-ea2e6962bfda}">
          <p14:sldIdLst/>
        </p14:section>
        <p14:section name="Default-1" id="{0ef07726-fba0-bc3d-2dab-f3f6ca61e7ea}">
          <p14:sldIdLst>
            <p14:sldId id="256"/>
          </p14:sldIdLst>
        </p14:section>
        <p14:section name="PROCESS" id="{1510bd5c-9f90-cdb9-0ad4-2e0ee179fc10}">
          <p14:sldIdLst/>
        </p14:section>
        <p14:section name="Default-2" id="{2a2767d3-6e6a-f4f5-962f-63dd8058990e}">
          <p14:sldIdLst>
            <p14:sldId id="257"/>
            <p14:sldId id="258"/>
            <p14:sldId id="259"/>
            <p14:sldId id="260"/>
            <p14:sldId id="261"/>
            <p14:sldId id="262"/>
            <p14:sldId id="263"/>
            <p14:sldId id="264"/>
            <p14:sldId id="265"/>
            <p14:sldId id="266"/>
            <p14:sldId id="267"/>
          </p14:sldIdLst>
        </p14:section>
        <p14:section name="Closing" id="{260f362d-cde9-7d3b-7a68-2ca25c2439cb}">
          <p14:sldIdLst/>
        </p14:section>
        <p14:section name="Default-3" id="{a3af70e3-7afa-d531-f650-71ce578dfd65}">
          <p14:sldIdLst>
            <p14:sldId id="268"/>
          </p14:sldIdLst>
        </p14:section>
        <p14:section name="Appendix" id="{0dae4bf7-e303-ac9b-6e4e-6445e17b7d11}">
          <p14:sldIdLst/>
        </p14:section>
        <p14:section name="Default-4" id="{d7b63e61-7603-de1c-80cc-0e4142b1051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E8E9E"/>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E8E9E"/>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E8E9E"/>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3D"/>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F6B35"/>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F6B35"/>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TACTICAL INVESTING OVERVIEW</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F6B35"/>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F6B3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D2D3D"/>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F6B35"/>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TACTICAL INVESTING: THREE PILLARS OF SUCCESS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F6B35"/>
                </a:solidFill>
                <a:latin typeface="Rajdhani" pitchFamily="34" charset="0"/>
                <a:ea typeface="Rajdhani" pitchFamily="34" charset="-122"/>
                <a:cs typeface="Rajdhani" pitchFamily="34" charset="-120"/>
              </a:rPr>
              <a:t>OUR DISCIPLINED APPROACH TO MANAGING RISK AND CAPTURING OPPORTUNITY</a:t>
            </a:r>
            <a:endParaRPr lang="en-US" sz="1600" dirty="0"/>
          </a:p>
        </p:txBody>
      </p:sp>
      <p:sp>
        <p:nvSpPr>
          <p:cNvPr id="6" name="Shape 3"/>
          <p:cNvSpPr/>
          <p:nvPr/>
        </p:nvSpPr>
        <p:spPr>
          <a:xfrm>
            <a:off x="1796796" y="2560320"/>
            <a:ext cx="2377440" cy="2377440"/>
          </a:xfrm>
          <a:prstGeom prst="ellipse">
            <a:avLst/>
          </a:prstGeom>
          <a:solidFill>
            <a:srgbClr val="2D2D3D"/>
          </a:solidFill>
          <a:ln w="12700">
            <a:solidFill>
              <a:srgbClr val="FF6B35"/>
            </a:solidFill>
            <a:prstDash val="solid"/>
          </a:ln>
        </p:spPr>
      </p:sp>
      <p:sp>
        <p:nvSpPr>
          <p:cNvPr id="7" name="Shape 4"/>
          <p:cNvSpPr/>
          <p:nvPr/>
        </p:nvSpPr>
        <p:spPr>
          <a:xfrm>
            <a:off x="2574036" y="2880360"/>
            <a:ext cx="822960" cy="822960"/>
          </a:xfrm>
          <a:prstGeom prst="ellipse">
            <a:avLst/>
          </a:prstGeom>
          <a:solidFill>
            <a:srgbClr val="FF6B35"/>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D2D3D"/>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MARKET ANALYSIS</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(Technical and fundamental indicators)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8E8E9E"/>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D2D3D"/>
          </a:solidFill>
          <a:ln w="12700">
            <a:solidFill>
              <a:srgbClr val="FF6B35"/>
            </a:solidFill>
            <a:prstDash val="solid"/>
          </a:ln>
        </p:spPr>
      </p:sp>
      <p:sp>
        <p:nvSpPr>
          <p:cNvPr id="13" name="Shape 10"/>
          <p:cNvSpPr/>
          <p:nvPr/>
        </p:nvSpPr>
        <p:spPr>
          <a:xfrm>
            <a:off x="5682996" y="2880360"/>
            <a:ext cx="822960" cy="822960"/>
          </a:xfrm>
          <a:prstGeom prst="ellipse">
            <a:avLst/>
          </a:prstGeom>
          <a:solidFill>
            <a:srgbClr val="FF6B35"/>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D2D3D"/>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RISK MANAGEMENT</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(Downside protection and position sizing)</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8E8E9E"/>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D2D3D"/>
          </a:solidFill>
          <a:ln w="12700">
            <a:solidFill>
              <a:srgbClr val="FF6B35"/>
            </a:solidFill>
            <a:prstDash val="solid"/>
          </a:ln>
        </p:spPr>
      </p:sp>
      <p:sp>
        <p:nvSpPr>
          <p:cNvPr id="19" name="Shape 16"/>
          <p:cNvSpPr/>
          <p:nvPr/>
        </p:nvSpPr>
        <p:spPr>
          <a:xfrm>
            <a:off x="8791956" y="2880360"/>
            <a:ext cx="822960" cy="822960"/>
          </a:xfrm>
          <a:prstGeom prst="ellipse">
            <a:avLst/>
          </a:prstGeom>
          <a:solidFill>
            <a:srgbClr val="FF6B35"/>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D2D3D"/>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TACTICAL EXECUTION</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(Systematic buy and sell signals)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MARKET ANALYSIS</a:t>
            </a:r>
            <a:endParaRPr lang="en-US" sz="2800" dirty="0"/>
          </a:p>
        </p:txBody>
      </p:sp>
      <p:sp>
        <p:nvSpPr>
          <p:cNvPr id="5" name="Shape 2"/>
          <p:cNvSpPr/>
          <p:nvPr/>
        </p:nvSpPr>
        <p:spPr>
          <a:xfrm>
            <a:off x="365760" y="1188720"/>
            <a:ext cx="1828800" cy="54864"/>
          </a:xfrm>
          <a:prstGeom prst="rect">
            <a:avLst/>
          </a:prstGeom>
          <a:solidFill>
            <a:srgbClr val="FF6B35"/>
          </a:solidFill>
          <a:ln/>
        </p:spPr>
      </p:sp>
      <p:sp>
        <p:nvSpPr>
          <p:cNvPr id="6" name="Shape 3"/>
          <p:cNvSpPr/>
          <p:nvPr/>
        </p:nvSpPr>
        <p:spPr>
          <a:xfrm>
            <a:off x="365760" y="1371600"/>
            <a:ext cx="11457432" cy="4754880"/>
          </a:xfrm>
          <a:prstGeom prst="rect">
            <a:avLst/>
          </a:prstGeom>
          <a:solidFill>
            <a:srgbClr val="D0D0D8"/>
          </a:solidFill>
          <a:ln w="12700">
            <a:solidFill>
              <a:srgbClr val="8E8E9E"/>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8E8E9E"/>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RISK MANAGEMENT</a:t>
            </a:r>
            <a:endParaRPr lang="en-US" sz="2800" dirty="0"/>
          </a:p>
        </p:txBody>
      </p:sp>
      <p:sp>
        <p:nvSpPr>
          <p:cNvPr id="5" name="Shape 2"/>
          <p:cNvSpPr/>
          <p:nvPr/>
        </p:nvSpPr>
        <p:spPr>
          <a:xfrm>
            <a:off x="365760" y="1188720"/>
            <a:ext cx="1828800" cy="54864"/>
          </a:xfrm>
          <a:prstGeom prst="rect">
            <a:avLst/>
          </a:prstGeom>
          <a:solidFill>
            <a:srgbClr val="FF6B35"/>
          </a:solidFill>
          <a:ln/>
        </p:spPr>
      </p:sp>
      <p:sp>
        <p:nvSpPr>
          <p:cNvPr id="6" name="Shape 3"/>
          <p:cNvSpPr/>
          <p:nvPr/>
        </p:nvSpPr>
        <p:spPr>
          <a:xfrm>
            <a:off x="365760" y="1371600"/>
            <a:ext cx="11457432" cy="4754880"/>
          </a:xfrm>
          <a:prstGeom prst="rect">
            <a:avLst/>
          </a:prstGeom>
          <a:solidFill>
            <a:srgbClr val="D0D0D8"/>
          </a:solidFill>
          <a:ln w="12700">
            <a:solidFill>
              <a:srgbClr val="8E8E9E"/>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8E8E9E"/>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TACTICAL EXECUTION</a:t>
            </a:r>
            <a:endParaRPr lang="en-US" sz="2800" dirty="0"/>
          </a:p>
        </p:txBody>
      </p:sp>
      <p:sp>
        <p:nvSpPr>
          <p:cNvPr id="5" name="Shape 2"/>
          <p:cNvSpPr/>
          <p:nvPr/>
        </p:nvSpPr>
        <p:spPr>
          <a:xfrm>
            <a:off x="365760" y="1188720"/>
            <a:ext cx="1828800" cy="54864"/>
          </a:xfrm>
          <a:prstGeom prst="rect">
            <a:avLst/>
          </a:prstGeom>
          <a:solidFill>
            <a:srgbClr val="FF6B35"/>
          </a:solidFill>
          <a:ln/>
        </p:spPr>
      </p:sp>
      <p:sp>
        <p:nvSpPr>
          <p:cNvPr id="6" name="Shape 3"/>
          <p:cNvSpPr/>
          <p:nvPr/>
        </p:nvSpPr>
        <p:spPr>
          <a:xfrm>
            <a:off x="365760" y="1371600"/>
            <a:ext cx="11457432" cy="4754880"/>
          </a:xfrm>
          <a:prstGeom prst="rect">
            <a:avLst/>
          </a:prstGeom>
          <a:solidFill>
            <a:srgbClr val="D0D0D8"/>
          </a:solidFill>
          <a:ln w="12700">
            <a:solidFill>
              <a:srgbClr val="8E8E9E"/>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8E8E9E"/>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OUR TACTICAL SYSTEMS COMBINE MULTIPLE SIGNALS TO OPTIMIZE RISK-ADJUSTED RETURNS</a:t>
            </a:r>
            <a:endParaRPr lang="en-US" sz="2200" dirty="0"/>
          </a:p>
        </p:txBody>
      </p:sp>
      <p:sp>
        <p:nvSpPr>
          <p:cNvPr id="5" name="Shape 2"/>
          <p:cNvSpPr/>
          <p:nvPr/>
        </p:nvSpPr>
        <p:spPr>
          <a:xfrm>
            <a:off x="365760" y="1554480"/>
            <a:ext cx="3636264" cy="4937760"/>
          </a:xfrm>
          <a:prstGeom prst="roundRect">
            <a:avLst>
              <a:gd name="adj" fmla="val 3772"/>
            </a:avLst>
          </a:prstGeom>
          <a:solidFill>
            <a:srgbClr val="2D2D3D"/>
          </a:solidFill>
          <a:ln w="12700">
            <a:solidFill>
              <a:srgbClr val="FF6B35"/>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F6B35"/>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F6B35"/>
                </a:solidFill>
                <a:latin typeface="Rajdhani" pitchFamily="34" charset="0"/>
                <a:ea typeface="Rajdhani" pitchFamily="34" charset="-122"/>
                <a:cs typeface="Rajdhani" pitchFamily="34" charset="-120"/>
              </a:rPr>
              <a:t>MARKET SIGNALS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Technical indicators and trend analysis that identify market direction and momentum shifts.</a:t>
            </a:r>
            <a:endParaRPr lang="en-US" sz="1300" dirty="0"/>
          </a:p>
        </p:txBody>
      </p:sp>
      <p:sp>
        <p:nvSpPr>
          <p:cNvPr id="10" name="Shape 7"/>
          <p:cNvSpPr/>
          <p:nvPr/>
        </p:nvSpPr>
        <p:spPr>
          <a:xfrm>
            <a:off x="4093464" y="1554480"/>
            <a:ext cx="3636264" cy="4937760"/>
          </a:xfrm>
          <a:prstGeom prst="roundRect">
            <a:avLst>
              <a:gd name="adj" fmla="val 3772"/>
            </a:avLst>
          </a:prstGeom>
          <a:solidFill>
            <a:srgbClr val="2D2D3D"/>
          </a:solidFill>
          <a:ln w="12700">
            <a:solidFill>
              <a:srgbClr val="FF6B35"/>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F6B35"/>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F6B35"/>
                </a:solidFill>
                <a:latin typeface="Rajdhani" pitchFamily="34" charset="0"/>
                <a:ea typeface="Rajdhani" pitchFamily="34" charset="-122"/>
                <a:cs typeface="Rajdhani" pitchFamily="34" charset="-120"/>
              </a:rPr>
              <a:t>RISK CONTROLS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Dynamic position sizing and stop-loss protocols that protect capital during adverse conditions.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F6B35"/>
          </a:solidFill>
          <a:ln w="12700">
            <a:solidFill>
              <a:srgbClr val="FF6B35"/>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F6B35"/>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D2D3D"/>
                </a:solidFill>
                <a:latin typeface="Rajdhani" pitchFamily="34" charset="0"/>
                <a:ea typeface="Rajdhani" pitchFamily="34" charset="-122"/>
                <a:cs typeface="Rajdhani" pitchFamily="34" charset="-120"/>
              </a:rPr>
              <a:t>TACTICAL PORTFOLIO</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D2D3D"/>
                </a:solidFill>
                <a:latin typeface="Quicksand" pitchFamily="34" charset="0"/>
                <a:ea typeface="Quicksand" pitchFamily="34" charset="-122"/>
                <a:cs typeface="Quicksand" pitchFamily="34" charset="-120"/>
              </a:rPr>
              <a:t>Optimized exposure that captures upside while limiting downside risk.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REDUCING RISK THROUGH TACTICAL ALLOCATION</a:t>
            </a:r>
            <a:endParaRPr lang="en-US" sz="2600" dirty="0"/>
          </a:p>
        </p:txBody>
      </p:sp>
      <p:sp>
        <p:nvSpPr>
          <p:cNvPr id="5" name="Shape 2"/>
          <p:cNvSpPr/>
          <p:nvPr/>
        </p:nvSpPr>
        <p:spPr>
          <a:xfrm>
            <a:off x="365760" y="1691640"/>
            <a:ext cx="4572000" cy="1280160"/>
          </a:xfrm>
          <a:prstGeom prst="rect">
            <a:avLst/>
          </a:prstGeom>
          <a:solidFill>
            <a:srgbClr val="2D2D3D"/>
          </a:solidFill>
          <a:ln w="12700">
            <a:solidFill>
              <a:srgbClr val="FF6B35"/>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TREND ANALYSIS</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Long-term directional bias: Invested 75% of the time</a:t>
            </a:r>
            <a:endParaRPr lang="en-US" sz="1200" dirty="0"/>
          </a:p>
        </p:txBody>
      </p:sp>
      <p:sp>
        <p:nvSpPr>
          <p:cNvPr id="8" name="Shape 5"/>
          <p:cNvSpPr/>
          <p:nvPr/>
        </p:nvSpPr>
        <p:spPr>
          <a:xfrm>
            <a:off x="365760" y="3154680"/>
            <a:ext cx="4572000" cy="1280160"/>
          </a:xfrm>
          <a:prstGeom prst="rect">
            <a:avLst/>
          </a:prstGeom>
          <a:solidFill>
            <a:srgbClr val="2D2D3D"/>
          </a:solidFill>
          <a:ln w="12700">
            <a:solidFill>
              <a:srgbClr val="FF6B35"/>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MOMENTUM SIGNALS</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Short-term opportunity capture: Active 45% of the time</a:t>
            </a:r>
            <a:endParaRPr lang="en-US" sz="1200" dirty="0"/>
          </a:p>
        </p:txBody>
      </p:sp>
      <p:sp>
        <p:nvSpPr>
          <p:cNvPr id="11" name="Shape 8"/>
          <p:cNvSpPr/>
          <p:nvPr/>
        </p:nvSpPr>
        <p:spPr>
          <a:xfrm>
            <a:off x="365760" y="4617720"/>
            <a:ext cx="4572000" cy="1280160"/>
          </a:xfrm>
          <a:prstGeom prst="rect">
            <a:avLst/>
          </a:prstGeom>
          <a:solidFill>
            <a:srgbClr val="2D2D3D"/>
          </a:solidFill>
          <a:ln w="12700">
            <a:solidFill>
              <a:srgbClr val="FF6B35"/>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RISK CONTROLS</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Protective measures: Engaged 20% of the time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F6B35"/>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F6B35"/>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D2D3D"/>
                </a:solidFill>
                <a:latin typeface="Rajdhani" pitchFamily="34" charset="0"/>
                <a:ea typeface="Rajdhani" pitchFamily="34" charset="-122"/>
                <a:cs typeface="Rajdhani" pitchFamily="34" charset="-120"/>
              </a:rPr>
              <a:t>TACTICAL STRATEGY</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D2D3D"/>
                </a:solidFill>
                <a:latin typeface="Quicksand" pitchFamily="34" charset="0"/>
                <a:ea typeface="Quicksand" pitchFamily="34" charset="-122"/>
                <a:cs typeface="Quicksand" pitchFamily="34" charset="-120"/>
              </a:rPr>
              <a:t>Combined systematic approach delivering consistent risk-adjusted returns.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POTOMAC TACTICAL APPROACH</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EQUITY EXPOSURE 60%</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Core tactical position providing systematic exposure to major market indices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MOMENTUM OVERLAY 20%</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Opportunistic allocation capturing short-term market inefficiencies</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DEFENSIVE ASSETS 15%</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Treasury and cash positions providing downside protection</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HEDGING STRATEGIES 5%</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Inverse and volatility instruments for portfolio insurance</a:t>
            </a:r>
            <a:endParaRPr lang="en-US" sz="1200" dirty="0"/>
          </a:p>
        </p:txBody>
      </p:sp>
      <p:sp>
        <p:nvSpPr>
          <p:cNvPr id="13" name="Shape 10"/>
          <p:cNvSpPr/>
          <p:nvPr/>
        </p:nvSpPr>
        <p:spPr>
          <a:xfrm>
            <a:off x="4631436" y="2468880"/>
            <a:ext cx="2926080" cy="2011680"/>
          </a:xfrm>
          <a:prstGeom prst="rect">
            <a:avLst/>
          </a:prstGeom>
          <a:solidFill>
            <a:srgbClr val="2D2D3D"/>
          </a:solidFill>
          <a:ln w="12700">
            <a:solidFill>
              <a:srgbClr val="FF6B35"/>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DYNAMIC ALLOCATION</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Risk-on: Equity exposure with momentum overlay. Risk-off: Defensive positioning with hedging.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TACTICAL INVESTING DELIVERS SUPERIOR RISK-ADJUSTED RETURNS</a:t>
            </a:r>
            <a:endParaRPr lang="en-US" sz="2800" dirty="0"/>
          </a:p>
        </p:txBody>
      </p:sp>
      <p:sp>
        <p:nvSpPr>
          <p:cNvPr id="5" name="Shape 2"/>
          <p:cNvSpPr/>
          <p:nvPr/>
        </p:nvSpPr>
        <p:spPr>
          <a:xfrm>
            <a:off x="365760" y="1188720"/>
            <a:ext cx="1828800" cy="54864"/>
          </a:xfrm>
          <a:prstGeom prst="rect">
            <a:avLst/>
          </a:prstGeom>
          <a:solidFill>
            <a:srgbClr val="FF6B35"/>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D2D3D"/>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6B35"/>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STRATEGY</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3-YR</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18.2%</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12.8%</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14.5%</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-50.9%</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Potomac Tactical Strategy</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16.8%</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11.2%</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12.1%</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-18.3%</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60/40 Portfolio</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14.5%</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9.8%</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10.2%</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-28.4%</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Performance data is for illustrative purposes only.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D2D3D"/>
                </a:solidFill>
                <a:latin typeface="Rajdhani" pitchFamily="34" charset="0"/>
                <a:ea typeface="Rajdhani" pitchFamily="34" charset="-122"/>
                <a:cs typeface="Rajdhani" pitchFamily="34" charset="-120"/>
              </a:rPr>
              <a:t>TACTICAL STRATEGIES AS PORTFOLIO DIVERSIFIERS</a:t>
            </a:r>
            <a:endParaRPr lang="en-US" sz="2600" dirty="0"/>
          </a:p>
        </p:txBody>
      </p:sp>
      <p:sp>
        <p:nvSpPr>
          <p:cNvPr id="5" name="Shape 2"/>
          <p:cNvSpPr/>
          <p:nvPr/>
        </p:nvSpPr>
        <p:spPr>
          <a:xfrm>
            <a:off x="365760" y="1188720"/>
            <a:ext cx="1828800" cy="54864"/>
          </a:xfrm>
          <a:prstGeom prst="rect">
            <a:avLst/>
          </a:prstGeom>
          <a:solidFill>
            <a:srgbClr val="FF6B35"/>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2D2D3D"/>
                          </a:solidFill>
                          <a:latin typeface="Rajdhani" pitchFamily="34" charset="0"/>
                          <a:ea typeface="Rajdhani" pitchFamily="34" charset="-122"/>
                          <a:cs typeface="Rajdhani" pitchFamily="34" charset="-120"/>
                        </a:rPr>
                        <a:t>RISK METRICS</a:t>
                      </a:r>
                      <a:endParaRPr lang="en-US" sz="14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6B35"/>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POTOMAC TACTICAL</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S&amp;P 500</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Beta</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0.68</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Standard Deviation</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12.4%</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18.2%</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Sharpe Ratio</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0.89</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0.72</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Correlation to S&amp;P 500</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0.64</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Risk statistics are for illustrative purposes only.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POTOMAC TACTICAL STRATEGIES?</a:t>
            </a:r>
            <a:endParaRPr lang="en-US" sz="2800" dirty="0"/>
          </a:p>
        </p:txBody>
      </p:sp>
      <p:sp>
        <p:nvSpPr>
          <p:cNvPr id="5" name="Shape 2"/>
          <p:cNvSpPr/>
          <p:nvPr/>
        </p:nvSpPr>
        <p:spPr>
          <a:xfrm>
            <a:off x="365760" y="1554480"/>
            <a:ext cx="2560320" cy="2560320"/>
          </a:xfrm>
          <a:prstGeom prst="ellipse">
            <a:avLst/>
          </a:prstGeom>
          <a:solidFill>
            <a:srgbClr val="2D2D3D"/>
          </a:solidFill>
          <a:ln w="12700">
            <a:solidFill>
              <a:srgbClr val="FF6B35"/>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F6B35"/>
                </a:solidFill>
                <a:latin typeface="Rajdhani" pitchFamily="34" charset="0"/>
                <a:ea typeface="Rajdhani" pitchFamily="34" charset="-122"/>
                <a:cs typeface="Rajdhani" pitchFamily="34" charset="-120"/>
              </a:rPr>
              <a:t>CORE ALLOCATION</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Primary equity allocation replacing traditional buy-and-hold index funds.</a:t>
            </a:r>
            <a:endParaRPr lang="en-US" sz="1100" dirty="0"/>
          </a:p>
        </p:txBody>
      </p:sp>
      <p:sp>
        <p:nvSpPr>
          <p:cNvPr id="8" name="Shape 5"/>
          <p:cNvSpPr/>
          <p:nvPr/>
        </p:nvSpPr>
        <p:spPr>
          <a:xfrm>
            <a:off x="3331464" y="1554480"/>
            <a:ext cx="2560320" cy="2560320"/>
          </a:xfrm>
          <a:prstGeom prst="ellipse">
            <a:avLst/>
          </a:prstGeom>
          <a:solidFill>
            <a:srgbClr val="2D2D3D"/>
          </a:solidFill>
          <a:ln w="12700">
            <a:solidFill>
              <a:srgbClr val="FF6B35"/>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F6B35"/>
                </a:solidFill>
                <a:latin typeface="Rajdhani" pitchFamily="34" charset="0"/>
                <a:ea typeface="Rajdhani" pitchFamily="34" charset="-122"/>
                <a:cs typeface="Rajdhani" pitchFamily="34" charset="-120"/>
              </a:rPr>
              <a:t>DIVERSIFICATION TOOL</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Reducing portfolio correlation while maintaining growth potential.</a:t>
            </a:r>
            <a:endParaRPr lang="en-US" sz="1100" dirty="0"/>
          </a:p>
        </p:txBody>
      </p:sp>
      <p:sp>
        <p:nvSpPr>
          <p:cNvPr id="11" name="Shape 8"/>
          <p:cNvSpPr/>
          <p:nvPr/>
        </p:nvSpPr>
        <p:spPr>
          <a:xfrm>
            <a:off x="6297168" y="1554480"/>
            <a:ext cx="2560320" cy="2560320"/>
          </a:xfrm>
          <a:prstGeom prst="ellipse">
            <a:avLst/>
          </a:prstGeom>
          <a:solidFill>
            <a:srgbClr val="2D2D3D"/>
          </a:solidFill>
          <a:ln w="12700">
            <a:solidFill>
              <a:srgbClr val="FF6B35"/>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F6B35"/>
                </a:solidFill>
                <a:latin typeface="Rajdhani" pitchFamily="34" charset="0"/>
                <a:ea typeface="Rajdhani" pitchFamily="34" charset="-122"/>
                <a:cs typeface="Rajdhani" pitchFamily="34" charset="-120"/>
              </a:rPr>
              <a:t>RISK MANAGEMENT</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Protecting client assets during market downturns and volatility spikes.</a:t>
            </a:r>
            <a:endParaRPr lang="en-US" sz="1100" dirty="0"/>
          </a:p>
        </p:txBody>
      </p:sp>
      <p:sp>
        <p:nvSpPr>
          <p:cNvPr id="14" name="Shape 11"/>
          <p:cNvSpPr/>
          <p:nvPr/>
        </p:nvSpPr>
        <p:spPr>
          <a:xfrm>
            <a:off x="9262872" y="1554480"/>
            <a:ext cx="2560320" cy="2560320"/>
          </a:xfrm>
          <a:prstGeom prst="ellipse">
            <a:avLst/>
          </a:prstGeom>
          <a:solidFill>
            <a:srgbClr val="2D2D3D"/>
          </a:solidFill>
          <a:ln w="12700">
            <a:solidFill>
              <a:srgbClr val="FF6B35"/>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F6B35"/>
                </a:solidFill>
                <a:latin typeface="Rajdhani" pitchFamily="34" charset="0"/>
                <a:ea typeface="Rajdhani" pitchFamily="34" charset="-122"/>
                <a:cs typeface="Rajdhani" pitchFamily="34" charset="-120"/>
              </a:rPr>
              <a:t>ALPHA GENERATION</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Enhancing returns through systematic tactical allocation decisions.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F6B35"/>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F6B35"/>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F6B35"/>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S&amp;P 500 Index TR: A market-capitalization-weighted index of 500 leading publicly traded companies in the U.S., including reinvested dividends.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Beta: A measure of systematic risk or volatility of a security or portfolio compared to the market as a whole.</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Standard Deviation: A statistic that measures the dispersion of returns relative to the average return over a specified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maximum observed loss from a peak to a trough of a portfolio before a new peak is attained.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Sharpe Ratio: A measure of risk-adjusted return calculated as excess return per unit of deviation in an investment asset or trading strategy.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A statistical measure that determines the degree to which two securities move in relation to each other.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TACTICAL INVESTING OVERVIEW</dc:title>
  <dc:subject>Investment Strategy Presentation</dc:subject>
  <dc:creator>Potomac Fund Management</dc:creator>
  <cp:lastModifiedBy>Potomac Fund Management</cp:lastModifiedBy>
  <cp:revision>1</cp:revision>
  <dcterms:created xsi:type="dcterms:W3CDTF">2026-02-21T15:00:50Z</dcterms:created>
  <dcterms:modified xsi:type="dcterms:W3CDTF">2026-02-21T15:00:50Z</dcterms:modified>
</cp:coreProperties>
</file>