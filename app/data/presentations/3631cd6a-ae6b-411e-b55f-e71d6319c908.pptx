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e4a086d5-b91c-6d3e-7b1e-beeb7110f142}">
          <p14:sldIdLst/>
        </p14:section>
        <p14:section name="Default-1" id="{6cecd49e-76cf-afc5-3ea4-b88007eb8a27}">
          <p14:sldIdLst>
            <p14:sldId id="256"/>
          </p14:sldIdLst>
        </p14:section>
        <p14:section name="PROCESS" id="{43a759ec-f82a-4267-c9ef-2911c10dbffb}">
          <p14:sldIdLst/>
        </p14:section>
        <p14:section name="Default-2" id="{f24410ba-22a1-9c20-4d74-d1d7bdc6ed37}">
          <p14:sldIdLst>
            <p14:sldId id="257"/>
            <p14:sldId id="258"/>
            <p14:sldId id="259"/>
            <p14:sldId id="260"/>
            <p14:sldId id="261"/>
            <p14:sldId id="262"/>
            <p14:sldId id="263"/>
            <p14:sldId id="264"/>
            <p14:sldId id="265"/>
            <p14:sldId id="266"/>
            <p14:sldId id="267"/>
          </p14:sldIdLst>
        </p14:section>
        <p14:section name="Closing" id="{b46f3b1e-561e-9901-91e5-4681131a6b96}">
          <p14:sldIdLst/>
        </p14:section>
        <p14:section name="Default-3" id="{014e551a-79d6-0a4f-3a3a-dd05eb871013}">
          <p14:sldIdLst>
            <p14:sldId id="268"/>
          </p14:sldIdLst>
        </p14:section>
        <p14:section name="Appendix" id="{784d88cd-fa72-7cb2-59ff-5bfa5009899c}">
          <p14:sldIdLst/>
        </p14:section>
        <p14:section name="Default-4" id="{7a8d4cc1-742b-091c-7ffa-1b2ffaf2fd73}">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MASTER">
    <p:bg>
      <p:bgPr>
        <a:solidFill>
          <a:srgbClr val="212121"/>
        </a:solidFill>
      </p:bgPr>
    </p:bg>
    <p:spTree>
      <p:nvGrpSpPr>
        <p:cNvPr id="1" name=""/>
        <p:cNvGrpSpPr/>
        <p:nvPr/>
      </p:nvGrpSpPr>
      <p:grpSpPr>
        <a:xfrm>
          <a:off x="0" y="0"/>
          <a:ext cx="0" cy="0"/>
          <a:chOff x="0" y="0"/>
          <a:chExt cx="0" cy="0"/>
        </a:xfrm>
      </p:grpSpPr>
      <p:pic>
        <p:nvPicPr>
          <p:cNvPr id="2" name="Image 0" descr="C:\Users\SohaibAli\Documents\PresenterByPotomac\app\skills\JSPPTXPotomac\brand-assets\logos\potomac-full-logo.png">    </p:cNvPr>
          <p:cNvPicPr>
            <a:picLocks noChangeAspect="1"/>
          </p:cNvPicPr>
          <p:nvPr/>
        </p:nvPicPr>
        <p:blipFill>
          <a:blip r:embed="rId1"/>
          <a:srcRect l="0" r="0" t="0" b="0"/>
          <a:stretch/>
        </p:blipFill>
        <p:spPr>
          <a:xfrm>
            <a:off x="320040" y="164592"/>
            <a:ext cx="1463040" cy="457200"/>
          </a:xfrm>
          <a:prstGeom prst="rect">
            <a:avLst/>
          </a:prstGeom>
        </p:spPr>
      </p:pic>
      <p:pic>
        <p:nvPicPr>
          <p:cNvPr id="3" name="Image 1" descr="C:\Users\SohaibAli\Documents\PresenterByPotomac\app\skills\JSPPTXPotomac\brand-assets\logos\potomac-icon-white.png">    </p:cNvPr>
          <p:cNvPicPr>
            <a:picLocks noChangeAspect="1"/>
          </p:cNvPicPr>
          <p:nvPr/>
        </p:nvPicPr>
        <p:blipFill>
          <a:blip r:embed="rId2"/>
          <a:srcRect l="0" r="0" t="0" b="0"/>
          <a:stretch/>
        </p:blipFill>
        <p:spPr>
          <a:xfrm>
            <a:off x="11274552" y="137160"/>
            <a:ext cx="640080" cy="640080"/>
          </a:xfrm>
          <a:prstGeom prst="rect">
            <a:avLst/>
          </a:prstGeom>
        </p:spPr>
      </p:pic>
      <p:sp>
        <p:nvSpPr>
          <p:cNvPr id="25" name="Slide Number Placeholder 0"/>
          <p:cNvSpPr>
            <a:spLocks noGrp="1"/>
          </p:cNvSpPr>
          <p:nvPr>
            <p:ph type="sldNum" sz="quarter" idx="4294967295"/>
          </p:nvPr>
        </p:nvSpPr>
        <p:spPr>
          <a:xfrm>
            <a:off x="365760" y="6583680"/>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737373"/>
                </a:solidFill>
                <a:latin typeface="Quicksand"/>
                <a:ea typeface="Quicksand"/>
                <a:cs typeface="Quicksand"/>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_MASTER">
    <p:bg>
      <p:bgPr>
        <a:solidFill>
          <a:srgbClr val="FFFFFF"/>
        </a:solidFill>
      </p:bgPr>
    </p:bg>
    <p:spTree>
      <p:nvGrpSpPr>
        <p:cNvPr id="1" name=""/>
        <p:cNvGrpSpPr/>
        <p:nvPr/>
      </p:nvGrpSpPr>
      <p:grpSpPr>
        <a:xfrm>
          <a:off x="0" y="0"/>
          <a:ext cx="0" cy="0"/>
          <a:chOff x="0" y="0"/>
          <a:chExt cx="0" cy="0"/>
        </a:xfrm>
      </p:grpSpPr>
      <p:pic>
        <p:nvPicPr>
          <p:cNvPr id="2" name="Image 0" descr="C:\Users\SohaibAli\Documents\PresenterByPotomac\app\skills\JSPPTXPotomac\brand-assets\logos\potomac-icon-black.png">    </p:cNvPr>
          <p:cNvPicPr>
            <a:picLocks noChangeAspect="1"/>
          </p:cNvPicPr>
          <p:nvPr/>
        </p:nvPicPr>
        <p:blipFill>
          <a:blip r:embed="rId1"/>
          <a:srcRect l="0" r="0" t="0" b="0"/>
          <a:stretch/>
        </p:blipFill>
        <p:spPr>
          <a:xfrm>
            <a:off x="11274552" y="137160"/>
            <a:ext cx="640080" cy="640080"/>
          </a:xfrm>
          <a:prstGeom prst="rect">
            <a:avLst/>
          </a:prstGeom>
        </p:spPr>
      </p:pic>
      <p:sp>
        <p:nvSpPr>
          <p:cNvPr id="25" name="Slide Number Placeholder 0"/>
          <p:cNvSpPr>
            <a:spLocks noGrp="1"/>
          </p:cNvSpPr>
          <p:nvPr>
            <p:ph type="sldNum" sz="quarter" idx="4294967295"/>
          </p:nvPr>
        </p:nvSpPr>
        <p:spPr>
          <a:xfrm>
            <a:off x="365760" y="6583680"/>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737373"/>
                </a:solidFill>
                <a:latin typeface="Quicksand"/>
                <a:ea typeface="Quicksand"/>
                <a:cs typeface="Quicksand"/>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365760" y="6583680"/>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737373"/>
                </a:solidFill>
                <a:latin typeface="Quicksand"/>
                <a:ea typeface="Quicksand"/>
                <a:cs typeface="Quicksand"/>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2" Type="http://schemas.openxmlformats.org/officeDocument/2006/relationships/hyperlink" Target="https://www.potomac.com" TargetMode="External"/><Relationship Id="rId1" Type="http://schemas.openxmlformats.org/officeDocument/2006/relationships/image" Target="../media/image-13-1.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121"/>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FEC00F"/>
          </a:solidFill>
          <a:ln/>
        </p:spPr>
      </p:sp>
      <p:pic>
        <p:nvPicPr>
          <p:cNvPr id="3" name="Image 0" descr="C:\Users\SohaibAli\Documents\PresenterByPotomac\app\skills\JSPPTXPotomac\brand-assets\logos\potomac-full-logo.png">    </p:cNvPr>
          <p:cNvPicPr>
            <a:picLocks noChangeAspect="1"/>
          </p:cNvPicPr>
          <p:nvPr/>
        </p:nvPicPr>
        <p:blipFill>
          <a:blip r:embed="rId1"/>
          <a:srcRect l="0" r="0" t="0" b="0"/>
          <a:stretch/>
        </p:blipFill>
        <p:spPr>
          <a:xfrm>
            <a:off x="365760" y="274320"/>
            <a:ext cx="1828800" cy="374904"/>
          </a:xfrm>
          <a:prstGeom prst="rect">
            <a:avLst/>
          </a:prstGeom>
        </p:spPr>
      </p:pic>
      <p:sp>
        <p:nvSpPr>
          <p:cNvPr id="4" name="Shape 1"/>
          <p:cNvSpPr/>
          <p:nvPr/>
        </p:nvSpPr>
        <p:spPr>
          <a:xfrm>
            <a:off x="4265676" y="2011680"/>
            <a:ext cx="3657600" cy="73152"/>
          </a:xfrm>
          <a:prstGeom prst="rect">
            <a:avLst/>
          </a:prstGeom>
          <a:solidFill>
            <a:srgbClr val="FEC00F"/>
          </a:solidFill>
          <a:ln/>
        </p:spPr>
      </p:sp>
      <p:sp>
        <p:nvSpPr>
          <p:cNvPr id="5" name="Text 2"/>
          <p:cNvSpPr/>
          <p:nvPr/>
        </p:nvSpPr>
        <p:spPr>
          <a:xfrm>
            <a:off x="914400" y="2377440"/>
            <a:ext cx="10360152" cy="2011680"/>
          </a:xfrm>
          <a:prstGeom prst="rect">
            <a:avLst/>
          </a:prstGeom>
          <a:noFill/>
          <a:ln/>
        </p:spPr>
        <p:txBody>
          <a:bodyPr wrap="square" rtlCol="0" anchor="ctr"/>
          <a:lstStyle/>
          <a:p>
            <a:pPr algn="ctr" indent="0" marL="0">
              <a:buNone/>
            </a:pPr>
            <a:r>
              <a:rPr lang="en-US" sz="4800" b="1" dirty="0">
                <a:solidFill>
                  <a:srgbClr val="FFFFFF"/>
                </a:solidFill>
                <a:latin typeface="Rajdhani" pitchFamily="34" charset="0"/>
                <a:ea typeface="Rajdhani" pitchFamily="34" charset="-122"/>
                <a:cs typeface="Rajdhani" pitchFamily="34" charset="-120"/>
              </a:rPr>
              <a:t>ESG TACTICAL STRATEGY</a:t>
            </a:r>
            <a:endParaRPr lang="en-US" sz="4800" dirty="0"/>
          </a:p>
        </p:txBody>
      </p:sp>
      <p:sp>
        <p:nvSpPr>
          <p:cNvPr id="6" name="Text 3"/>
          <p:cNvSpPr/>
          <p:nvPr/>
        </p:nvSpPr>
        <p:spPr>
          <a:xfrm>
            <a:off x="365760" y="6172200"/>
            <a:ext cx="11457432" cy="457200"/>
          </a:xfrm>
          <a:prstGeom prst="rect">
            <a:avLst/>
          </a:prstGeom>
          <a:noFill/>
          <a:ln/>
        </p:spPr>
        <p:txBody>
          <a:bodyPr wrap="square" rtlCol="0" anchor="ctr"/>
          <a:lstStyle/>
          <a:p>
            <a:pPr algn="ctr" indent="0" marL="0">
              <a:buNone/>
            </a:pPr>
            <a:r>
              <a:rPr lang="en-US" sz="1400" i="1" dirty="0">
                <a:solidFill>
                  <a:srgbClr val="FEC00F"/>
                </a:solidFill>
                <a:latin typeface="Quicksand" pitchFamily="34" charset="0"/>
                <a:ea typeface="Quicksand" pitchFamily="34" charset="-122"/>
                <a:cs typeface="Quicksand" pitchFamily="34" charset="-120"/>
              </a:rPr>
              <a:t>Built to Conquer Risk®</a:t>
            </a:r>
            <a:endParaRPr lang="en-US" sz="1400" dirty="0"/>
          </a:p>
        </p:txBody>
      </p:sp>
      <p:sp>
        <p:nvSpPr>
          <p:cNvPr id="7" name="Shape 4"/>
          <p:cNvSpPr/>
          <p:nvPr/>
        </p:nvSpPr>
        <p:spPr>
          <a:xfrm>
            <a:off x="0" y="6784848"/>
            <a:ext cx="12188952" cy="73152"/>
          </a:xfrm>
          <a:prstGeom prst="rect">
            <a:avLst/>
          </a:prstGeom>
          <a:solidFill>
            <a:srgbClr val="FEC00F"/>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C:\Users\SohaibAli\Documents\PresenterByPotomac\app\skills\JSPPTXPotomac\brand-assets\logos\potomac-icon-black.png">    </p:cNvPr>
          <p:cNvPicPr>
            <a:picLocks noChangeAspect="1"/>
          </p:cNvPicPr>
          <p:nvPr/>
        </p:nvPicPr>
        <p:blipFill>
          <a:blip r:embed="rId1"/>
          <a:srcRect l="0" r="0" t="0" b="0"/>
          <a:stretch/>
        </p:blipFill>
        <p:spPr>
          <a:xfrm>
            <a:off x="11274552" y="137160"/>
            <a:ext cx="640080" cy="640080"/>
          </a:xfrm>
          <a:prstGeom prst="rect">
            <a:avLst/>
          </a:prstGeom>
        </p:spPr>
      </p:pic>
      <p:sp>
        <p:nvSpPr>
          <p:cNvPr id="3" name="Text 0"/>
          <p:cNvSpPr/>
          <p:nvPr/>
        </p:nvSpPr>
        <p:spPr>
          <a:xfrm>
            <a:off x="731520" y="2286000"/>
            <a:ext cx="10725912" cy="1828800"/>
          </a:xfrm>
          <a:prstGeom prst="rect">
            <a:avLst/>
          </a:prstGeom>
          <a:noFill/>
          <a:ln/>
        </p:spPr>
        <p:txBody>
          <a:bodyPr wrap="square" rtlCol="0" anchor="ctr"/>
          <a:lstStyle/>
          <a:p>
            <a:pPr algn="ctr" indent="0" marL="0">
              <a:buNone/>
            </a:pPr>
            <a:r>
              <a:rPr lang="en-US" sz="4400" b="1" dirty="0">
                <a:solidFill>
                  <a:srgbClr val="212121"/>
                </a:solidFill>
                <a:latin typeface="Rajdhani" pitchFamily="34" charset="0"/>
                <a:ea typeface="Rajdhani" pitchFamily="34" charset="-122"/>
                <a:cs typeface="Rajdhani" pitchFamily="34" charset="-120"/>
              </a:rPr>
              <a:t>PROCESS</a:t>
            </a:r>
            <a:endParaRPr lang="en-US" sz="4400" dirty="0"/>
          </a:p>
        </p:txBody>
      </p:sp>
      <p:sp>
        <p:nvSpPr>
          <p:cNvPr id="4" name="Shape 1"/>
          <p:cNvSpPr/>
          <p:nvPr/>
        </p:nvSpPr>
        <p:spPr>
          <a:xfrm>
            <a:off x="4722876" y="4251960"/>
            <a:ext cx="2743200" cy="73152"/>
          </a:xfrm>
          <a:prstGeom prst="rect">
            <a:avLst/>
          </a:prstGeom>
          <a:solidFill>
            <a:srgbClr val="FEC00F"/>
          </a:solid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12121"/>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EC00F"/>
                </a:solidFill>
                <a:latin typeface="Rajdhani" pitchFamily="34" charset="0"/>
                <a:ea typeface="Rajdhani" pitchFamily="34" charset="-122"/>
                <a:cs typeface="Rajdhani" pitchFamily="34" charset="-120"/>
              </a:rPr>
              <a:t>PROCESS</a:t>
            </a:r>
            <a:endParaRPr lang="en-US" sz="1100" dirty="0"/>
          </a:p>
        </p:txBody>
      </p:sp>
      <p:pic>
        <p:nvPicPr>
          <p:cNvPr id="3" name="Image 0" descr="C:\Users\SohaibAli\Documents\PresenterByPotomac\app\skills\JSPPTXPotomac\brand-assets\logos\potomac-icon-white.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48640"/>
            <a:ext cx="10817352" cy="914400"/>
          </a:xfrm>
          <a:prstGeom prst="rect">
            <a:avLst/>
          </a:prstGeom>
          <a:noFill/>
          <a:ln/>
        </p:spPr>
        <p:txBody>
          <a:bodyPr wrap="square" rtlCol="0" anchor="ctr"/>
          <a:lstStyle/>
          <a:p>
            <a:pPr indent="0" marL="0">
              <a:buNone/>
            </a:pPr>
            <a:r>
              <a:rPr lang="en-US" sz="3200" b="1" dirty="0">
                <a:solidFill>
                  <a:srgbClr val="FFFFFF"/>
                </a:solidFill>
                <a:latin typeface="Rajdhani" pitchFamily="34" charset="0"/>
                <a:ea typeface="Rajdhani" pitchFamily="34" charset="-122"/>
                <a:cs typeface="Rajdhani" pitchFamily="34" charset="-120"/>
              </a:rPr>
              <a:t>ESG INVESTING: THREE PILLARS OF SUSTAINABLE ALPHA</a:t>
            </a:r>
            <a:endParaRPr lang="en-US" sz="3200" dirty="0"/>
          </a:p>
        </p:txBody>
      </p:sp>
      <p:sp>
        <p:nvSpPr>
          <p:cNvPr id="5" name="Text 2"/>
          <p:cNvSpPr/>
          <p:nvPr/>
        </p:nvSpPr>
        <p:spPr>
          <a:xfrm>
            <a:off x="365760" y="1645920"/>
            <a:ext cx="10817352" cy="457200"/>
          </a:xfrm>
          <a:prstGeom prst="rect">
            <a:avLst/>
          </a:prstGeom>
          <a:noFill/>
          <a:ln/>
        </p:spPr>
        <p:txBody>
          <a:bodyPr wrap="square" rtlCol="0" anchor="ctr"/>
          <a:lstStyle/>
          <a:p>
            <a:pPr algn="ctr" indent="0" marL="0">
              <a:buNone/>
            </a:pPr>
            <a:r>
              <a:rPr lang="en-US" sz="1600" b="1" dirty="0">
                <a:solidFill>
                  <a:srgbClr val="FEC00F"/>
                </a:solidFill>
                <a:latin typeface="Rajdhani" pitchFamily="34" charset="0"/>
                <a:ea typeface="Rajdhani" pitchFamily="34" charset="-122"/>
                <a:cs typeface="Rajdhani" pitchFamily="34" charset="-120"/>
              </a:rPr>
              <a:t>COMBINING ESG LEADERSHIP WITH TACTICAL RISK MANAGEMENT TO CAPTURE SUSTAINABLE RETURNS</a:t>
            </a:r>
            <a:endParaRPr lang="en-US" sz="1600" dirty="0"/>
          </a:p>
        </p:txBody>
      </p:sp>
      <p:sp>
        <p:nvSpPr>
          <p:cNvPr id="6" name="Shape 3"/>
          <p:cNvSpPr/>
          <p:nvPr/>
        </p:nvSpPr>
        <p:spPr>
          <a:xfrm>
            <a:off x="1796796" y="2560320"/>
            <a:ext cx="2377440" cy="2377440"/>
          </a:xfrm>
          <a:prstGeom prst="ellipse">
            <a:avLst/>
          </a:prstGeom>
          <a:solidFill>
            <a:srgbClr val="212121"/>
          </a:solidFill>
          <a:ln w="31750">
            <a:solidFill>
              <a:srgbClr val="FEC00F"/>
            </a:solidFill>
            <a:prstDash val="solid"/>
          </a:ln>
        </p:spPr>
      </p:sp>
      <p:sp>
        <p:nvSpPr>
          <p:cNvPr id="7" name="Shape 4"/>
          <p:cNvSpPr/>
          <p:nvPr/>
        </p:nvSpPr>
        <p:spPr>
          <a:xfrm>
            <a:off x="2574036" y="2880360"/>
            <a:ext cx="822960" cy="822960"/>
          </a:xfrm>
          <a:prstGeom prst="ellipse">
            <a:avLst/>
          </a:prstGeom>
          <a:solidFill>
            <a:srgbClr val="FEC00F"/>
          </a:solidFill>
          <a:ln/>
        </p:spPr>
      </p:sp>
      <p:sp>
        <p:nvSpPr>
          <p:cNvPr id="8" name="Text 5"/>
          <p:cNvSpPr/>
          <p:nvPr/>
        </p:nvSpPr>
        <p:spPr>
          <a:xfrm>
            <a:off x="2574036" y="2880360"/>
            <a:ext cx="822960" cy="822960"/>
          </a:xfrm>
          <a:prstGeom prst="rect">
            <a:avLst/>
          </a:prstGeom>
          <a:noFill/>
          <a:ln/>
        </p:spPr>
        <p:txBody>
          <a:bodyPr wrap="square" rtlCol="0" anchor="ctr"/>
          <a:lstStyle/>
          <a:p>
            <a:pPr algn="ctr" indent="0" marL="0">
              <a:buNone/>
            </a:pPr>
            <a:r>
              <a:rPr lang="en-US" sz="2800" b="1" dirty="0">
                <a:solidFill>
                  <a:srgbClr val="212121"/>
                </a:solidFill>
                <a:latin typeface="Rajdhani" pitchFamily="34" charset="0"/>
                <a:ea typeface="Rajdhani" pitchFamily="34" charset="-122"/>
                <a:cs typeface="Rajdhani" pitchFamily="34" charset="-120"/>
              </a:rPr>
              <a:t>1</a:t>
            </a:r>
            <a:endParaRPr lang="en-US" sz="2800" dirty="0"/>
          </a:p>
        </p:txBody>
      </p:sp>
      <p:sp>
        <p:nvSpPr>
          <p:cNvPr id="9" name="Text 6"/>
          <p:cNvSpPr/>
          <p:nvPr/>
        </p:nvSpPr>
        <p:spPr>
          <a:xfrm>
            <a:off x="1888236" y="3886200"/>
            <a:ext cx="2194560" cy="411480"/>
          </a:xfrm>
          <a:prstGeom prst="rect">
            <a:avLst/>
          </a:prstGeom>
          <a:noFill/>
          <a:ln/>
        </p:spPr>
        <p:txBody>
          <a:bodyPr wrap="square" rtlCol="0" anchor="ctr"/>
          <a:lstStyle/>
          <a:p>
            <a:pPr algn="ctr" indent="0" marL="0">
              <a:buNone/>
            </a:pPr>
            <a:r>
              <a:rPr lang="en-US" sz="1400" b="1" dirty="0">
                <a:solidFill>
                  <a:srgbClr val="FEC00F"/>
                </a:solidFill>
                <a:latin typeface="Rajdhani" pitchFamily="34" charset="0"/>
                <a:ea typeface="Rajdhani" pitchFamily="34" charset="-122"/>
                <a:cs typeface="Rajdhani" pitchFamily="34" charset="-120"/>
              </a:rPr>
              <a:t>ESG QUALITY SCORE</a:t>
            </a:r>
            <a:endParaRPr lang="en-US" sz="1400" dirty="0"/>
          </a:p>
        </p:txBody>
      </p:sp>
      <p:sp>
        <p:nvSpPr>
          <p:cNvPr id="10" name="Text 7"/>
          <p:cNvSpPr/>
          <p:nvPr/>
        </p:nvSpPr>
        <p:spPr>
          <a:xfrm>
            <a:off x="1933956" y="4297680"/>
            <a:ext cx="2103120" cy="502920"/>
          </a:xfrm>
          <a:prstGeom prst="rect">
            <a:avLst/>
          </a:prstGeom>
          <a:noFill/>
          <a:ln/>
        </p:spPr>
        <p:txBody>
          <a:bodyPr wrap="square" rtlCol="0" anchor="ctr"/>
          <a:lstStyle/>
          <a:p>
            <a:pPr algn="ctr" indent="0" marL="0">
              <a:buNone/>
            </a:pPr>
            <a:r>
              <a:rPr lang="en-US" sz="1000" dirty="0">
                <a:solidFill>
                  <a:srgbClr val="FFFFFF"/>
                </a:solidFill>
                <a:latin typeface="Quicksand" pitchFamily="34" charset="0"/>
                <a:ea typeface="Quicksand" pitchFamily="34" charset="-122"/>
                <a:cs typeface="Quicksand" pitchFamily="34" charset="-120"/>
              </a:rPr>
              <a:t>(Environmental, Social, Governance ratings)</a:t>
            </a:r>
            <a:endParaRPr lang="en-US" sz="1000" dirty="0"/>
          </a:p>
        </p:txBody>
      </p:sp>
      <p:sp>
        <p:nvSpPr>
          <p:cNvPr id="11" name="Text 8"/>
          <p:cNvSpPr/>
          <p:nvPr/>
        </p:nvSpPr>
        <p:spPr>
          <a:xfrm>
            <a:off x="4311396" y="3611880"/>
            <a:ext cx="457200" cy="274320"/>
          </a:xfrm>
          <a:prstGeom prst="rect">
            <a:avLst/>
          </a:prstGeom>
          <a:noFill/>
          <a:ln/>
        </p:spPr>
        <p:txBody>
          <a:bodyPr wrap="square" rtlCol="0" anchor="ctr"/>
          <a:lstStyle/>
          <a:p>
            <a:pPr algn="ctr" indent="0" marL="0">
              <a:buNone/>
            </a:pPr>
            <a:r>
              <a:rPr lang="en-US" sz="1400" dirty="0">
                <a:solidFill>
                  <a:srgbClr val="737373"/>
                </a:solidFill>
                <a:latin typeface="Rajdhani" pitchFamily="34" charset="0"/>
                <a:ea typeface="Rajdhani" pitchFamily="34" charset="-122"/>
                <a:cs typeface="Rajdhani" pitchFamily="34" charset="-120"/>
              </a:rPr>
              <a:t>▶</a:t>
            </a:r>
            <a:endParaRPr lang="en-US" sz="1400" dirty="0"/>
          </a:p>
        </p:txBody>
      </p:sp>
      <p:sp>
        <p:nvSpPr>
          <p:cNvPr id="12" name="Shape 9"/>
          <p:cNvSpPr/>
          <p:nvPr/>
        </p:nvSpPr>
        <p:spPr>
          <a:xfrm>
            <a:off x="4905756" y="2560320"/>
            <a:ext cx="2377440" cy="2377440"/>
          </a:xfrm>
          <a:prstGeom prst="ellipse">
            <a:avLst/>
          </a:prstGeom>
          <a:solidFill>
            <a:srgbClr val="212121"/>
          </a:solidFill>
          <a:ln w="31750">
            <a:solidFill>
              <a:srgbClr val="FEC00F"/>
            </a:solidFill>
            <a:prstDash val="solid"/>
          </a:ln>
        </p:spPr>
      </p:sp>
      <p:sp>
        <p:nvSpPr>
          <p:cNvPr id="13" name="Shape 10"/>
          <p:cNvSpPr/>
          <p:nvPr/>
        </p:nvSpPr>
        <p:spPr>
          <a:xfrm>
            <a:off x="5682996" y="2880360"/>
            <a:ext cx="822960" cy="822960"/>
          </a:xfrm>
          <a:prstGeom prst="ellipse">
            <a:avLst/>
          </a:prstGeom>
          <a:solidFill>
            <a:srgbClr val="FEC00F"/>
          </a:solidFill>
          <a:ln/>
        </p:spPr>
      </p:sp>
      <p:sp>
        <p:nvSpPr>
          <p:cNvPr id="14" name="Text 11"/>
          <p:cNvSpPr/>
          <p:nvPr/>
        </p:nvSpPr>
        <p:spPr>
          <a:xfrm>
            <a:off x="5682996" y="2880360"/>
            <a:ext cx="822960" cy="822960"/>
          </a:xfrm>
          <a:prstGeom prst="rect">
            <a:avLst/>
          </a:prstGeom>
          <a:noFill/>
          <a:ln/>
        </p:spPr>
        <p:txBody>
          <a:bodyPr wrap="square" rtlCol="0" anchor="ctr"/>
          <a:lstStyle/>
          <a:p>
            <a:pPr algn="ctr" indent="0" marL="0">
              <a:buNone/>
            </a:pPr>
            <a:r>
              <a:rPr lang="en-US" sz="2800" b="1" dirty="0">
                <a:solidFill>
                  <a:srgbClr val="212121"/>
                </a:solidFill>
                <a:latin typeface="Rajdhani" pitchFamily="34" charset="0"/>
                <a:ea typeface="Rajdhani" pitchFamily="34" charset="-122"/>
                <a:cs typeface="Rajdhani" pitchFamily="34" charset="-120"/>
              </a:rPr>
              <a:t>2</a:t>
            </a:r>
            <a:endParaRPr lang="en-US" sz="2800" dirty="0"/>
          </a:p>
        </p:txBody>
      </p:sp>
      <p:sp>
        <p:nvSpPr>
          <p:cNvPr id="15" name="Text 12"/>
          <p:cNvSpPr/>
          <p:nvPr/>
        </p:nvSpPr>
        <p:spPr>
          <a:xfrm>
            <a:off x="4997196" y="3886200"/>
            <a:ext cx="2194560" cy="411480"/>
          </a:xfrm>
          <a:prstGeom prst="rect">
            <a:avLst/>
          </a:prstGeom>
          <a:noFill/>
          <a:ln/>
        </p:spPr>
        <p:txBody>
          <a:bodyPr wrap="square" rtlCol="0" anchor="ctr"/>
          <a:lstStyle/>
          <a:p>
            <a:pPr algn="ctr" indent="0" marL="0">
              <a:buNone/>
            </a:pPr>
            <a:r>
              <a:rPr lang="en-US" sz="1400" b="1" dirty="0">
                <a:solidFill>
                  <a:srgbClr val="FEC00F"/>
                </a:solidFill>
                <a:latin typeface="Rajdhani" pitchFamily="34" charset="0"/>
                <a:ea typeface="Rajdhani" pitchFamily="34" charset="-122"/>
                <a:cs typeface="Rajdhani" pitchFamily="34" charset="-120"/>
              </a:rPr>
              <a:t>MARKET MOMENTUM</a:t>
            </a:r>
            <a:endParaRPr lang="en-US" sz="1400" dirty="0"/>
          </a:p>
        </p:txBody>
      </p:sp>
      <p:sp>
        <p:nvSpPr>
          <p:cNvPr id="16" name="Text 13"/>
          <p:cNvSpPr/>
          <p:nvPr/>
        </p:nvSpPr>
        <p:spPr>
          <a:xfrm>
            <a:off x="5042916" y="4297680"/>
            <a:ext cx="2103120" cy="502920"/>
          </a:xfrm>
          <a:prstGeom prst="rect">
            <a:avLst/>
          </a:prstGeom>
          <a:noFill/>
          <a:ln/>
        </p:spPr>
        <p:txBody>
          <a:bodyPr wrap="square" rtlCol="0" anchor="ctr"/>
          <a:lstStyle/>
          <a:p>
            <a:pPr algn="ctr" indent="0" marL="0">
              <a:buNone/>
            </a:pPr>
            <a:r>
              <a:rPr lang="en-US" sz="1000" dirty="0">
                <a:solidFill>
                  <a:srgbClr val="FFFFFF"/>
                </a:solidFill>
                <a:latin typeface="Quicksand" pitchFamily="34" charset="0"/>
                <a:ea typeface="Quicksand" pitchFamily="34" charset="-122"/>
                <a:cs typeface="Quicksand" pitchFamily="34" charset="-120"/>
              </a:rPr>
              <a:t>(Trend strength and sustainability)</a:t>
            </a:r>
            <a:endParaRPr lang="en-US" sz="1000" dirty="0"/>
          </a:p>
        </p:txBody>
      </p:sp>
      <p:sp>
        <p:nvSpPr>
          <p:cNvPr id="17" name="Text 14"/>
          <p:cNvSpPr/>
          <p:nvPr/>
        </p:nvSpPr>
        <p:spPr>
          <a:xfrm>
            <a:off x="7420356" y="3611880"/>
            <a:ext cx="457200" cy="274320"/>
          </a:xfrm>
          <a:prstGeom prst="rect">
            <a:avLst/>
          </a:prstGeom>
          <a:noFill/>
          <a:ln/>
        </p:spPr>
        <p:txBody>
          <a:bodyPr wrap="square" rtlCol="0" anchor="ctr"/>
          <a:lstStyle/>
          <a:p>
            <a:pPr algn="ctr" indent="0" marL="0">
              <a:buNone/>
            </a:pPr>
            <a:r>
              <a:rPr lang="en-US" sz="1400" dirty="0">
                <a:solidFill>
                  <a:srgbClr val="737373"/>
                </a:solidFill>
                <a:latin typeface="Rajdhani" pitchFamily="34" charset="0"/>
                <a:ea typeface="Rajdhani" pitchFamily="34" charset="-122"/>
                <a:cs typeface="Rajdhani" pitchFamily="34" charset="-120"/>
              </a:rPr>
              <a:t>▶</a:t>
            </a:r>
            <a:endParaRPr lang="en-US" sz="1400" dirty="0"/>
          </a:p>
        </p:txBody>
      </p:sp>
      <p:sp>
        <p:nvSpPr>
          <p:cNvPr id="18" name="Shape 15"/>
          <p:cNvSpPr/>
          <p:nvPr/>
        </p:nvSpPr>
        <p:spPr>
          <a:xfrm>
            <a:off x="8014716" y="2560320"/>
            <a:ext cx="2377440" cy="2377440"/>
          </a:xfrm>
          <a:prstGeom prst="ellipse">
            <a:avLst/>
          </a:prstGeom>
          <a:solidFill>
            <a:srgbClr val="212121"/>
          </a:solidFill>
          <a:ln w="31750">
            <a:solidFill>
              <a:srgbClr val="FEC00F"/>
            </a:solidFill>
            <a:prstDash val="solid"/>
          </a:ln>
        </p:spPr>
      </p:sp>
      <p:sp>
        <p:nvSpPr>
          <p:cNvPr id="19" name="Shape 16"/>
          <p:cNvSpPr/>
          <p:nvPr/>
        </p:nvSpPr>
        <p:spPr>
          <a:xfrm>
            <a:off x="8791956" y="2880360"/>
            <a:ext cx="822960" cy="822960"/>
          </a:xfrm>
          <a:prstGeom prst="ellipse">
            <a:avLst/>
          </a:prstGeom>
          <a:solidFill>
            <a:srgbClr val="FEC00F"/>
          </a:solidFill>
          <a:ln/>
        </p:spPr>
      </p:sp>
      <p:sp>
        <p:nvSpPr>
          <p:cNvPr id="20" name="Text 17"/>
          <p:cNvSpPr/>
          <p:nvPr/>
        </p:nvSpPr>
        <p:spPr>
          <a:xfrm>
            <a:off x="8791956" y="2880360"/>
            <a:ext cx="822960" cy="822960"/>
          </a:xfrm>
          <a:prstGeom prst="rect">
            <a:avLst/>
          </a:prstGeom>
          <a:noFill/>
          <a:ln/>
        </p:spPr>
        <p:txBody>
          <a:bodyPr wrap="square" rtlCol="0" anchor="ctr"/>
          <a:lstStyle/>
          <a:p>
            <a:pPr algn="ctr" indent="0" marL="0">
              <a:buNone/>
            </a:pPr>
            <a:r>
              <a:rPr lang="en-US" sz="2800" b="1" dirty="0">
                <a:solidFill>
                  <a:srgbClr val="212121"/>
                </a:solidFill>
                <a:latin typeface="Rajdhani" pitchFamily="34" charset="0"/>
                <a:ea typeface="Rajdhani" pitchFamily="34" charset="-122"/>
                <a:cs typeface="Rajdhani" pitchFamily="34" charset="-120"/>
              </a:rPr>
              <a:t>3</a:t>
            </a:r>
            <a:endParaRPr lang="en-US" sz="2800" dirty="0"/>
          </a:p>
        </p:txBody>
      </p:sp>
      <p:sp>
        <p:nvSpPr>
          <p:cNvPr id="21" name="Text 18"/>
          <p:cNvSpPr/>
          <p:nvPr/>
        </p:nvSpPr>
        <p:spPr>
          <a:xfrm>
            <a:off x="8106156" y="3886200"/>
            <a:ext cx="2194560" cy="411480"/>
          </a:xfrm>
          <a:prstGeom prst="rect">
            <a:avLst/>
          </a:prstGeom>
          <a:noFill/>
          <a:ln/>
        </p:spPr>
        <p:txBody>
          <a:bodyPr wrap="square" rtlCol="0" anchor="ctr"/>
          <a:lstStyle/>
          <a:p>
            <a:pPr algn="ctr" indent="0" marL="0">
              <a:buNone/>
            </a:pPr>
            <a:r>
              <a:rPr lang="en-US" sz="1400" b="1" dirty="0">
                <a:solidFill>
                  <a:srgbClr val="FEC00F"/>
                </a:solidFill>
                <a:latin typeface="Rajdhani" pitchFamily="34" charset="0"/>
                <a:ea typeface="Rajdhani" pitchFamily="34" charset="-122"/>
                <a:cs typeface="Rajdhani" pitchFamily="34" charset="-120"/>
              </a:rPr>
              <a:t>RISK MANAGEMENT</a:t>
            </a:r>
            <a:endParaRPr lang="en-US" sz="1400" dirty="0"/>
          </a:p>
        </p:txBody>
      </p:sp>
      <p:sp>
        <p:nvSpPr>
          <p:cNvPr id="22" name="Text 19"/>
          <p:cNvSpPr/>
          <p:nvPr/>
        </p:nvSpPr>
        <p:spPr>
          <a:xfrm>
            <a:off x="8151876" y="4297680"/>
            <a:ext cx="2103120" cy="502920"/>
          </a:xfrm>
          <a:prstGeom prst="rect">
            <a:avLst/>
          </a:prstGeom>
          <a:noFill/>
          <a:ln/>
        </p:spPr>
        <p:txBody>
          <a:bodyPr wrap="square" rtlCol="0" anchor="ctr"/>
          <a:lstStyle/>
          <a:p>
            <a:pPr algn="ctr" indent="0" marL="0">
              <a:buNone/>
            </a:pPr>
            <a:r>
              <a:rPr lang="en-US" sz="1000" dirty="0">
                <a:solidFill>
                  <a:srgbClr val="FFFFFF"/>
                </a:solidFill>
                <a:latin typeface="Quicksand" pitchFamily="34" charset="0"/>
                <a:ea typeface="Quicksand" pitchFamily="34" charset="-122"/>
                <a:cs typeface="Quicksand" pitchFamily="34" charset="-120"/>
              </a:rPr>
              <a:t>(Downside protection and volatility control)</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EC00F"/>
                </a:solidFill>
                <a:latin typeface="Rajdhani" pitchFamily="34" charset="0"/>
                <a:ea typeface="Rajdhani" pitchFamily="34" charset="-122"/>
                <a:cs typeface="Rajdhani" pitchFamily="34" charset="-120"/>
              </a:rPr>
              <a:t>PROCESS</a:t>
            </a:r>
            <a:endParaRPr lang="en-US" sz="1100" dirty="0"/>
          </a:p>
        </p:txBody>
      </p:sp>
      <p:pic>
        <p:nvPicPr>
          <p:cNvPr id="3" name="Image 0" descr="C:\Users\SohaibAli\Documents\PresenterByPotomac\app\skills\JSPPTXPotomac\brand-assets\logos\potomac-icon-black.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640080"/>
          </a:xfrm>
          <a:prstGeom prst="rect">
            <a:avLst/>
          </a:prstGeom>
          <a:noFill/>
          <a:ln/>
        </p:spPr>
        <p:txBody>
          <a:bodyPr wrap="square" rtlCol="0" anchor="ctr"/>
          <a:lstStyle/>
          <a:p>
            <a:pPr indent="0" marL="0">
              <a:buNone/>
            </a:pPr>
            <a:r>
              <a:rPr lang="en-US" sz="2800" b="1" dirty="0">
                <a:solidFill>
                  <a:srgbClr val="212121"/>
                </a:solidFill>
                <a:latin typeface="Rajdhani" pitchFamily="34" charset="0"/>
                <a:ea typeface="Rajdhani" pitchFamily="34" charset="-122"/>
                <a:cs typeface="Rajdhani" pitchFamily="34" charset="-120"/>
              </a:rPr>
              <a:t>ESG QUALITY SCORE</a:t>
            </a:r>
            <a:endParaRPr lang="en-US" sz="2800" dirty="0"/>
          </a:p>
        </p:txBody>
      </p:sp>
      <p:sp>
        <p:nvSpPr>
          <p:cNvPr id="5" name="Shape 2"/>
          <p:cNvSpPr/>
          <p:nvPr/>
        </p:nvSpPr>
        <p:spPr>
          <a:xfrm>
            <a:off x="365760" y="1188720"/>
            <a:ext cx="1828800" cy="54864"/>
          </a:xfrm>
          <a:prstGeom prst="rect">
            <a:avLst/>
          </a:prstGeom>
          <a:solidFill>
            <a:srgbClr val="FEC00F"/>
          </a:solidFill>
          <a:ln/>
        </p:spPr>
      </p:sp>
      <p:sp>
        <p:nvSpPr>
          <p:cNvPr id="6" name="Shape 3"/>
          <p:cNvSpPr/>
          <p:nvPr/>
        </p:nvSpPr>
        <p:spPr>
          <a:xfrm>
            <a:off x="365760" y="1371600"/>
            <a:ext cx="11457432" cy="4754880"/>
          </a:xfrm>
          <a:prstGeom prst="rect">
            <a:avLst/>
          </a:prstGeom>
          <a:solidFill>
            <a:srgbClr val="C6C6C6"/>
          </a:solidFill>
          <a:ln w="12700">
            <a:solidFill>
              <a:srgbClr val="737373"/>
            </a:solidFill>
            <a:prstDash val="solid"/>
          </a:ln>
        </p:spPr>
      </p:sp>
      <p:sp>
        <p:nvSpPr>
          <p:cNvPr id="7" name="Text 4"/>
          <p:cNvSpPr/>
          <p:nvPr/>
        </p:nvSpPr>
        <p:spPr>
          <a:xfrm>
            <a:off x="365760" y="1371600"/>
            <a:ext cx="11457432" cy="4754880"/>
          </a:xfrm>
          <a:prstGeom prst="rect">
            <a:avLst/>
          </a:prstGeom>
          <a:noFill/>
          <a:ln/>
        </p:spPr>
        <p:txBody>
          <a:bodyPr wrap="square" rtlCol="0" anchor="ctr"/>
          <a:lstStyle/>
          <a:p>
            <a:pPr algn="ctr" indent="0" marL="0">
              <a:buNone/>
            </a:pPr>
            <a:r>
              <a:rPr lang="en-US" sz="2400" dirty="0">
                <a:solidFill>
                  <a:srgbClr val="737373"/>
                </a:solidFill>
                <a:latin typeface="Rajdhani" pitchFamily="34" charset="0"/>
                <a:ea typeface="Rajdhani" pitchFamily="34" charset="-122"/>
                <a:cs typeface="Rajdhani" pitchFamily="34" charset="-120"/>
              </a:rPr>
              <a:t>[ CHART ]</a:t>
            </a:r>
            <a:endParaRPr lang="en-US" sz="2400" dirty="0"/>
          </a:p>
        </p:txBody>
      </p:sp>
      <p:sp>
        <p:nvSpPr>
          <p:cNvPr id="8" name="Text 5"/>
          <p:cNvSpPr/>
          <p:nvPr/>
        </p:nvSpPr>
        <p:spPr>
          <a:xfrm>
            <a:off x="365760" y="6446520"/>
            <a:ext cx="11457432" cy="320040"/>
          </a:xfrm>
          <a:prstGeom prst="rect">
            <a:avLst/>
          </a:prstGeom>
          <a:noFill/>
          <a:ln/>
        </p:spPr>
        <p:txBody>
          <a:bodyPr wrap="square" rtlCol="0" anchor="ctr"/>
          <a:lstStyle/>
          <a:p>
            <a:pPr indent="0" marL="0">
              <a:buNone/>
            </a:pPr>
            <a:r>
              <a:rPr lang="en-US" sz="900" i="1" dirty="0">
                <a:solidFill>
                  <a:srgbClr val="737373"/>
                </a:solidFill>
                <a:latin typeface="Quicksand" pitchFamily="34" charset="0"/>
                <a:ea typeface="Quicksand" pitchFamily="34" charset="-122"/>
                <a:cs typeface="Quicksand" pitchFamily="34" charset="-120"/>
              </a:rPr>
              <a:t>For illustrative purposes only.</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EC00F"/>
                </a:solidFill>
                <a:latin typeface="Rajdhani" pitchFamily="34" charset="0"/>
                <a:ea typeface="Rajdhani" pitchFamily="34" charset="-122"/>
                <a:cs typeface="Rajdhani" pitchFamily="34" charset="-120"/>
              </a:rPr>
              <a:t>PROCESS</a:t>
            </a:r>
            <a:endParaRPr lang="en-US" sz="1100" dirty="0"/>
          </a:p>
        </p:txBody>
      </p:sp>
      <p:pic>
        <p:nvPicPr>
          <p:cNvPr id="3" name="Image 0" descr="C:\Users\SohaibAli\Documents\PresenterByPotomac\app\skills\JSPPTXPotomac\brand-assets\logos\potomac-icon-black.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640080"/>
          </a:xfrm>
          <a:prstGeom prst="rect">
            <a:avLst/>
          </a:prstGeom>
          <a:noFill/>
          <a:ln/>
        </p:spPr>
        <p:txBody>
          <a:bodyPr wrap="square" rtlCol="0" anchor="ctr"/>
          <a:lstStyle/>
          <a:p>
            <a:pPr indent="0" marL="0">
              <a:buNone/>
            </a:pPr>
            <a:r>
              <a:rPr lang="en-US" sz="2800" b="1" dirty="0">
                <a:solidFill>
                  <a:srgbClr val="212121"/>
                </a:solidFill>
                <a:latin typeface="Rajdhani" pitchFamily="34" charset="0"/>
                <a:ea typeface="Rajdhani" pitchFamily="34" charset="-122"/>
                <a:cs typeface="Rajdhani" pitchFamily="34" charset="-120"/>
              </a:rPr>
              <a:t>MARKET MOMENTUM</a:t>
            </a:r>
            <a:endParaRPr lang="en-US" sz="2800" dirty="0"/>
          </a:p>
        </p:txBody>
      </p:sp>
      <p:sp>
        <p:nvSpPr>
          <p:cNvPr id="5" name="Shape 2"/>
          <p:cNvSpPr/>
          <p:nvPr/>
        </p:nvSpPr>
        <p:spPr>
          <a:xfrm>
            <a:off x="365760" y="1188720"/>
            <a:ext cx="1828800" cy="54864"/>
          </a:xfrm>
          <a:prstGeom prst="rect">
            <a:avLst/>
          </a:prstGeom>
          <a:solidFill>
            <a:srgbClr val="FEC00F"/>
          </a:solidFill>
          <a:ln/>
        </p:spPr>
      </p:sp>
      <p:sp>
        <p:nvSpPr>
          <p:cNvPr id="6" name="Shape 3"/>
          <p:cNvSpPr/>
          <p:nvPr/>
        </p:nvSpPr>
        <p:spPr>
          <a:xfrm>
            <a:off x="365760" y="1371600"/>
            <a:ext cx="11457432" cy="4754880"/>
          </a:xfrm>
          <a:prstGeom prst="rect">
            <a:avLst/>
          </a:prstGeom>
          <a:solidFill>
            <a:srgbClr val="C6C6C6"/>
          </a:solidFill>
          <a:ln w="12700">
            <a:solidFill>
              <a:srgbClr val="737373"/>
            </a:solidFill>
            <a:prstDash val="solid"/>
          </a:ln>
        </p:spPr>
      </p:sp>
      <p:sp>
        <p:nvSpPr>
          <p:cNvPr id="7" name="Text 4"/>
          <p:cNvSpPr/>
          <p:nvPr/>
        </p:nvSpPr>
        <p:spPr>
          <a:xfrm>
            <a:off x="365760" y="1371600"/>
            <a:ext cx="11457432" cy="4754880"/>
          </a:xfrm>
          <a:prstGeom prst="rect">
            <a:avLst/>
          </a:prstGeom>
          <a:noFill/>
          <a:ln/>
        </p:spPr>
        <p:txBody>
          <a:bodyPr wrap="square" rtlCol="0" anchor="ctr"/>
          <a:lstStyle/>
          <a:p>
            <a:pPr algn="ctr" indent="0" marL="0">
              <a:buNone/>
            </a:pPr>
            <a:r>
              <a:rPr lang="en-US" sz="2400" dirty="0">
                <a:solidFill>
                  <a:srgbClr val="737373"/>
                </a:solidFill>
                <a:latin typeface="Rajdhani" pitchFamily="34" charset="0"/>
                <a:ea typeface="Rajdhani" pitchFamily="34" charset="-122"/>
                <a:cs typeface="Rajdhani" pitchFamily="34" charset="-120"/>
              </a:rPr>
              <a:t>[ CHART ]</a:t>
            </a:r>
            <a:endParaRPr lang="en-US" sz="2400" dirty="0"/>
          </a:p>
        </p:txBody>
      </p:sp>
      <p:sp>
        <p:nvSpPr>
          <p:cNvPr id="8" name="Text 5"/>
          <p:cNvSpPr/>
          <p:nvPr/>
        </p:nvSpPr>
        <p:spPr>
          <a:xfrm>
            <a:off x="365760" y="6446520"/>
            <a:ext cx="11457432" cy="320040"/>
          </a:xfrm>
          <a:prstGeom prst="rect">
            <a:avLst/>
          </a:prstGeom>
          <a:noFill/>
          <a:ln/>
        </p:spPr>
        <p:txBody>
          <a:bodyPr wrap="square" rtlCol="0" anchor="ctr"/>
          <a:lstStyle/>
          <a:p>
            <a:pPr indent="0" marL="0">
              <a:buNone/>
            </a:pPr>
            <a:r>
              <a:rPr lang="en-US" sz="900" i="1" dirty="0">
                <a:solidFill>
                  <a:srgbClr val="737373"/>
                </a:solidFill>
                <a:latin typeface="Quicksand" pitchFamily="34" charset="0"/>
                <a:ea typeface="Quicksand" pitchFamily="34" charset="-122"/>
                <a:cs typeface="Quicksand" pitchFamily="34" charset="-120"/>
              </a:rPr>
              <a:t>For illustrative purposes only.</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EC00F"/>
                </a:solidFill>
                <a:latin typeface="Rajdhani" pitchFamily="34" charset="0"/>
                <a:ea typeface="Rajdhani" pitchFamily="34" charset="-122"/>
                <a:cs typeface="Rajdhani" pitchFamily="34" charset="-120"/>
              </a:rPr>
              <a:t>PROCESS</a:t>
            </a:r>
            <a:endParaRPr lang="en-US" sz="1100" dirty="0"/>
          </a:p>
        </p:txBody>
      </p:sp>
      <p:pic>
        <p:nvPicPr>
          <p:cNvPr id="3" name="Image 0" descr="C:\Users\SohaibAli\Documents\PresenterByPotomac\app\skills\JSPPTXPotomac\brand-assets\logos\potomac-icon-black.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640080"/>
          </a:xfrm>
          <a:prstGeom prst="rect">
            <a:avLst/>
          </a:prstGeom>
          <a:noFill/>
          <a:ln/>
        </p:spPr>
        <p:txBody>
          <a:bodyPr wrap="square" rtlCol="0" anchor="ctr"/>
          <a:lstStyle/>
          <a:p>
            <a:pPr indent="0" marL="0">
              <a:buNone/>
            </a:pPr>
            <a:r>
              <a:rPr lang="en-US" sz="2800" b="1" dirty="0">
                <a:solidFill>
                  <a:srgbClr val="212121"/>
                </a:solidFill>
                <a:latin typeface="Rajdhani" pitchFamily="34" charset="0"/>
                <a:ea typeface="Rajdhani" pitchFamily="34" charset="-122"/>
                <a:cs typeface="Rajdhani" pitchFamily="34" charset="-120"/>
              </a:rPr>
              <a:t>RISK MANAGEMENT</a:t>
            </a:r>
            <a:endParaRPr lang="en-US" sz="2800" dirty="0"/>
          </a:p>
        </p:txBody>
      </p:sp>
      <p:sp>
        <p:nvSpPr>
          <p:cNvPr id="5" name="Shape 2"/>
          <p:cNvSpPr/>
          <p:nvPr/>
        </p:nvSpPr>
        <p:spPr>
          <a:xfrm>
            <a:off x="365760" y="1188720"/>
            <a:ext cx="1828800" cy="54864"/>
          </a:xfrm>
          <a:prstGeom prst="rect">
            <a:avLst/>
          </a:prstGeom>
          <a:solidFill>
            <a:srgbClr val="FEC00F"/>
          </a:solidFill>
          <a:ln/>
        </p:spPr>
      </p:sp>
      <p:sp>
        <p:nvSpPr>
          <p:cNvPr id="6" name="Shape 3"/>
          <p:cNvSpPr/>
          <p:nvPr/>
        </p:nvSpPr>
        <p:spPr>
          <a:xfrm>
            <a:off x="365760" y="1371600"/>
            <a:ext cx="11457432" cy="4754880"/>
          </a:xfrm>
          <a:prstGeom prst="rect">
            <a:avLst/>
          </a:prstGeom>
          <a:solidFill>
            <a:srgbClr val="C6C6C6"/>
          </a:solidFill>
          <a:ln w="12700">
            <a:solidFill>
              <a:srgbClr val="737373"/>
            </a:solidFill>
            <a:prstDash val="solid"/>
          </a:ln>
        </p:spPr>
      </p:sp>
      <p:sp>
        <p:nvSpPr>
          <p:cNvPr id="7" name="Text 4"/>
          <p:cNvSpPr/>
          <p:nvPr/>
        </p:nvSpPr>
        <p:spPr>
          <a:xfrm>
            <a:off x="365760" y="1371600"/>
            <a:ext cx="11457432" cy="4754880"/>
          </a:xfrm>
          <a:prstGeom prst="rect">
            <a:avLst/>
          </a:prstGeom>
          <a:noFill/>
          <a:ln/>
        </p:spPr>
        <p:txBody>
          <a:bodyPr wrap="square" rtlCol="0" anchor="ctr"/>
          <a:lstStyle/>
          <a:p>
            <a:pPr algn="ctr" indent="0" marL="0">
              <a:buNone/>
            </a:pPr>
            <a:r>
              <a:rPr lang="en-US" sz="2400" dirty="0">
                <a:solidFill>
                  <a:srgbClr val="737373"/>
                </a:solidFill>
                <a:latin typeface="Rajdhani" pitchFamily="34" charset="0"/>
                <a:ea typeface="Rajdhani" pitchFamily="34" charset="-122"/>
                <a:cs typeface="Rajdhani" pitchFamily="34" charset="-120"/>
              </a:rPr>
              <a:t>[ CHART ]</a:t>
            </a:r>
            <a:endParaRPr lang="en-US" sz="2400" dirty="0"/>
          </a:p>
        </p:txBody>
      </p:sp>
      <p:sp>
        <p:nvSpPr>
          <p:cNvPr id="8" name="Text 5"/>
          <p:cNvSpPr/>
          <p:nvPr/>
        </p:nvSpPr>
        <p:spPr>
          <a:xfrm>
            <a:off x="365760" y="6446520"/>
            <a:ext cx="11457432" cy="320040"/>
          </a:xfrm>
          <a:prstGeom prst="rect">
            <a:avLst/>
          </a:prstGeom>
          <a:noFill/>
          <a:ln/>
        </p:spPr>
        <p:txBody>
          <a:bodyPr wrap="square" rtlCol="0" anchor="ctr"/>
          <a:lstStyle/>
          <a:p>
            <a:pPr indent="0" marL="0">
              <a:buNone/>
            </a:pPr>
            <a:r>
              <a:rPr lang="en-US" sz="900" i="1" dirty="0">
                <a:solidFill>
                  <a:srgbClr val="737373"/>
                </a:solidFill>
                <a:latin typeface="Quicksand" pitchFamily="34" charset="0"/>
                <a:ea typeface="Quicksand" pitchFamily="34" charset="-122"/>
                <a:cs typeface="Quicksand" pitchFamily="34" charset="-120"/>
              </a:rPr>
              <a:t>For illustrative purposes only.</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12121"/>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EC00F"/>
                </a:solidFill>
                <a:latin typeface="Rajdhani" pitchFamily="34" charset="0"/>
                <a:ea typeface="Rajdhani" pitchFamily="34" charset="-122"/>
                <a:cs typeface="Rajdhani" pitchFamily="34" charset="-120"/>
              </a:rPr>
              <a:t>PROCESS</a:t>
            </a:r>
            <a:endParaRPr lang="en-US" sz="1100" dirty="0"/>
          </a:p>
        </p:txBody>
      </p:sp>
      <p:pic>
        <p:nvPicPr>
          <p:cNvPr id="3" name="Image 0" descr="C:\Users\SohaibAli\Documents\PresenterByPotomac\app\skills\JSPPTXPotomac\brand-assets\logos\potomac-icon-white.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822960"/>
          </a:xfrm>
          <a:prstGeom prst="rect">
            <a:avLst/>
          </a:prstGeom>
          <a:noFill/>
          <a:ln/>
        </p:spPr>
        <p:txBody>
          <a:bodyPr wrap="square" rtlCol="0" anchor="ctr"/>
          <a:lstStyle/>
          <a:p>
            <a:pPr indent="0" marL="0">
              <a:buNone/>
            </a:pPr>
            <a:r>
              <a:rPr lang="en-US" sz="2200" b="1" dirty="0">
                <a:solidFill>
                  <a:srgbClr val="FFFFFF"/>
                </a:solidFill>
                <a:latin typeface="Rajdhani" pitchFamily="34" charset="0"/>
                <a:ea typeface="Rajdhani" pitchFamily="34" charset="-122"/>
                <a:cs typeface="Rajdhani" pitchFamily="34" charset="-120"/>
              </a:rPr>
              <a:t>ESG LEADERS WITH TACTICAL TIMING CREATE SUSTAINABLE ALPHA</a:t>
            </a:r>
            <a:endParaRPr lang="en-US" sz="2200" dirty="0"/>
          </a:p>
        </p:txBody>
      </p:sp>
      <p:sp>
        <p:nvSpPr>
          <p:cNvPr id="5" name="Shape 2"/>
          <p:cNvSpPr/>
          <p:nvPr/>
        </p:nvSpPr>
        <p:spPr>
          <a:xfrm>
            <a:off x="365760" y="1554480"/>
            <a:ext cx="3636264" cy="4937760"/>
          </a:xfrm>
          <a:prstGeom prst="roundRect">
            <a:avLst>
              <a:gd name="adj" fmla="val 3772"/>
            </a:avLst>
          </a:prstGeom>
          <a:solidFill>
            <a:srgbClr val="212121"/>
          </a:solidFill>
          <a:ln w="25400">
            <a:solidFill>
              <a:srgbClr val="FEC00F"/>
            </a:solidFill>
            <a:prstDash val="solid"/>
          </a:ln>
          <a:effectLst>
            <a:outerShdw sx="100000" sy="100000" kx="0" ky="0" algn="bl" rotWithShape="0" blurRad="76200" dist="25400" dir="16200000">
              <a:srgbClr val="000000">
                <a:alpha val="20000"/>
              </a:srgbClr>
            </a:outerShdw>
          </a:effectLst>
        </p:spPr>
      </p:sp>
      <p:sp>
        <p:nvSpPr>
          <p:cNvPr id="6" name="Text 3"/>
          <p:cNvSpPr/>
          <p:nvPr/>
        </p:nvSpPr>
        <p:spPr>
          <a:xfrm>
            <a:off x="3956304" y="3749040"/>
            <a:ext cx="274320" cy="548640"/>
          </a:xfrm>
          <a:prstGeom prst="rect">
            <a:avLst/>
          </a:prstGeom>
          <a:noFill/>
          <a:ln/>
        </p:spPr>
        <p:txBody>
          <a:bodyPr wrap="square" rtlCol="0" anchor="ctr"/>
          <a:lstStyle/>
          <a:p>
            <a:pPr algn="ctr" indent="0" marL="0">
              <a:buNone/>
            </a:pPr>
            <a:r>
              <a:rPr lang="en-US" sz="2400" b="1" dirty="0">
                <a:solidFill>
                  <a:srgbClr val="FEC00F"/>
                </a:solidFill>
                <a:latin typeface="Rajdhani" pitchFamily="34" charset="0"/>
                <a:ea typeface="Rajdhani" pitchFamily="34" charset="-122"/>
                <a:cs typeface="Rajdhani" pitchFamily="34" charset="-120"/>
              </a:rPr>
              <a:t>+</a:t>
            </a:r>
            <a:endParaRPr lang="en-US" sz="2400" dirty="0"/>
          </a:p>
        </p:txBody>
      </p:sp>
      <p:sp>
        <p:nvSpPr>
          <p:cNvPr id="7" name="Shape 4"/>
          <p:cNvSpPr/>
          <p:nvPr/>
        </p:nvSpPr>
        <p:spPr>
          <a:xfrm>
            <a:off x="640080" y="1371600"/>
            <a:ext cx="3087624" cy="365760"/>
          </a:xfrm>
          <a:prstGeom prst="roundRect">
            <a:avLst>
              <a:gd name="adj" fmla="val 50000"/>
            </a:avLst>
          </a:prstGeom>
          <a:solidFill>
            <a:srgbClr val="444444"/>
          </a:solidFill>
          <a:ln/>
        </p:spPr>
      </p:sp>
      <p:sp>
        <p:nvSpPr>
          <p:cNvPr id="8" name="Text 5"/>
          <p:cNvSpPr/>
          <p:nvPr/>
        </p:nvSpPr>
        <p:spPr>
          <a:xfrm>
            <a:off x="640080" y="1371600"/>
            <a:ext cx="3087624" cy="365760"/>
          </a:xfrm>
          <a:prstGeom prst="rect">
            <a:avLst/>
          </a:prstGeom>
          <a:noFill/>
          <a:ln/>
        </p:spPr>
        <p:txBody>
          <a:bodyPr wrap="square" rtlCol="0" anchor="ctr"/>
          <a:lstStyle/>
          <a:p>
            <a:pPr algn="ctr" indent="0" marL="0">
              <a:buNone/>
            </a:pPr>
            <a:r>
              <a:rPr lang="en-US" sz="1100" b="1" dirty="0">
                <a:solidFill>
                  <a:srgbClr val="FEC00F"/>
                </a:solidFill>
                <a:latin typeface="Rajdhani" pitchFamily="34" charset="0"/>
                <a:ea typeface="Rajdhani" pitchFamily="34" charset="-122"/>
                <a:cs typeface="Rajdhani" pitchFamily="34" charset="-120"/>
              </a:rPr>
              <a:t>ESG SCREENING</a:t>
            </a:r>
            <a:endParaRPr lang="en-US" sz="1100" dirty="0"/>
          </a:p>
        </p:txBody>
      </p:sp>
      <p:sp>
        <p:nvSpPr>
          <p:cNvPr id="9" name="Text 6"/>
          <p:cNvSpPr/>
          <p:nvPr/>
        </p:nvSpPr>
        <p:spPr>
          <a:xfrm>
            <a:off x="502920" y="1874520"/>
            <a:ext cx="3361944" cy="4389120"/>
          </a:xfrm>
          <a:prstGeom prst="rect">
            <a:avLst/>
          </a:prstGeom>
          <a:noFill/>
          <a:ln/>
        </p:spPr>
        <p:txBody>
          <a:bodyPr wrap="square" rtlCol="0" anchor="ctr"/>
          <a:lstStyle/>
          <a:p>
            <a:pPr algn="ctr" indent="0" marL="0">
              <a:buNone/>
            </a:pPr>
            <a:r>
              <a:rPr lang="en-US" sz="1300" dirty="0">
                <a:solidFill>
                  <a:srgbClr val="FFFFFF"/>
                </a:solidFill>
                <a:latin typeface="Quicksand" pitchFamily="34" charset="0"/>
                <a:ea typeface="Quicksand" pitchFamily="34" charset="-122"/>
                <a:cs typeface="Quicksand" pitchFamily="34" charset="-120"/>
              </a:rPr>
              <a:t>Select companies with top ESG ratings and sustainable business practices.</a:t>
            </a:r>
            <a:endParaRPr lang="en-US" sz="1300" dirty="0"/>
          </a:p>
        </p:txBody>
      </p:sp>
      <p:sp>
        <p:nvSpPr>
          <p:cNvPr id="10" name="Shape 7"/>
          <p:cNvSpPr/>
          <p:nvPr/>
        </p:nvSpPr>
        <p:spPr>
          <a:xfrm>
            <a:off x="4093464" y="1554480"/>
            <a:ext cx="3636264" cy="4937760"/>
          </a:xfrm>
          <a:prstGeom prst="roundRect">
            <a:avLst>
              <a:gd name="adj" fmla="val 3772"/>
            </a:avLst>
          </a:prstGeom>
          <a:solidFill>
            <a:srgbClr val="212121"/>
          </a:solidFill>
          <a:ln w="25400">
            <a:solidFill>
              <a:srgbClr val="FEC00F"/>
            </a:solidFill>
            <a:prstDash val="solid"/>
          </a:ln>
          <a:effectLst>
            <a:outerShdw sx="100000" sy="100000" kx="0" ky="0" algn="bl" rotWithShape="0" blurRad="76200" dist="25400" dir="16200000">
              <a:srgbClr val="000000">
                <a:alpha val="20000"/>
              </a:srgbClr>
            </a:outerShdw>
          </a:effectLst>
        </p:spPr>
      </p:sp>
      <p:sp>
        <p:nvSpPr>
          <p:cNvPr id="11" name="Text 8"/>
          <p:cNvSpPr/>
          <p:nvPr/>
        </p:nvSpPr>
        <p:spPr>
          <a:xfrm>
            <a:off x="7684008" y="3749040"/>
            <a:ext cx="274320" cy="548640"/>
          </a:xfrm>
          <a:prstGeom prst="rect">
            <a:avLst/>
          </a:prstGeom>
          <a:noFill/>
          <a:ln/>
        </p:spPr>
        <p:txBody>
          <a:bodyPr wrap="square" rtlCol="0" anchor="ctr"/>
          <a:lstStyle/>
          <a:p>
            <a:pPr algn="ctr" indent="0" marL="0">
              <a:buNone/>
            </a:pPr>
            <a:r>
              <a:rPr lang="en-US" sz="2400" b="1" dirty="0">
                <a:solidFill>
                  <a:srgbClr val="FEC00F"/>
                </a:solidFill>
                <a:latin typeface="Rajdhani" pitchFamily="34" charset="0"/>
                <a:ea typeface="Rajdhani" pitchFamily="34" charset="-122"/>
                <a:cs typeface="Rajdhani" pitchFamily="34" charset="-120"/>
              </a:rPr>
              <a:t>=</a:t>
            </a:r>
            <a:endParaRPr lang="en-US" sz="2400" dirty="0"/>
          </a:p>
        </p:txBody>
      </p:sp>
      <p:sp>
        <p:nvSpPr>
          <p:cNvPr id="12" name="Shape 9"/>
          <p:cNvSpPr/>
          <p:nvPr/>
        </p:nvSpPr>
        <p:spPr>
          <a:xfrm>
            <a:off x="4367784" y="1371600"/>
            <a:ext cx="3087624" cy="365760"/>
          </a:xfrm>
          <a:prstGeom prst="roundRect">
            <a:avLst>
              <a:gd name="adj" fmla="val 50000"/>
            </a:avLst>
          </a:prstGeom>
          <a:solidFill>
            <a:srgbClr val="444444"/>
          </a:solidFill>
          <a:ln/>
        </p:spPr>
      </p:sp>
      <p:sp>
        <p:nvSpPr>
          <p:cNvPr id="13" name="Text 10"/>
          <p:cNvSpPr/>
          <p:nvPr/>
        </p:nvSpPr>
        <p:spPr>
          <a:xfrm>
            <a:off x="4367784" y="1371600"/>
            <a:ext cx="3087624" cy="365760"/>
          </a:xfrm>
          <a:prstGeom prst="rect">
            <a:avLst/>
          </a:prstGeom>
          <a:noFill/>
          <a:ln/>
        </p:spPr>
        <p:txBody>
          <a:bodyPr wrap="square" rtlCol="0" anchor="ctr"/>
          <a:lstStyle/>
          <a:p>
            <a:pPr algn="ctr" indent="0" marL="0">
              <a:buNone/>
            </a:pPr>
            <a:r>
              <a:rPr lang="en-US" sz="1100" b="1" dirty="0">
                <a:solidFill>
                  <a:srgbClr val="FEC00F"/>
                </a:solidFill>
                <a:latin typeface="Rajdhani" pitchFamily="34" charset="0"/>
                <a:ea typeface="Rajdhani" pitchFamily="34" charset="-122"/>
                <a:cs typeface="Rajdhani" pitchFamily="34" charset="-120"/>
              </a:rPr>
              <a:t>TACTICAL OVERLAY</a:t>
            </a:r>
            <a:endParaRPr lang="en-US" sz="1100" dirty="0"/>
          </a:p>
        </p:txBody>
      </p:sp>
      <p:sp>
        <p:nvSpPr>
          <p:cNvPr id="14" name="Text 11"/>
          <p:cNvSpPr/>
          <p:nvPr/>
        </p:nvSpPr>
        <p:spPr>
          <a:xfrm>
            <a:off x="4230624" y="1874520"/>
            <a:ext cx="3361944" cy="4389120"/>
          </a:xfrm>
          <a:prstGeom prst="rect">
            <a:avLst/>
          </a:prstGeom>
          <a:noFill/>
          <a:ln/>
        </p:spPr>
        <p:txBody>
          <a:bodyPr wrap="square" rtlCol="0" anchor="ctr"/>
          <a:lstStyle/>
          <a:p>
            <a:pPr algn="ctr" indent="0" marL="0">
              <a:buNone/>
            </a:pPr>
            <a:r>
              <a:rPr lang="en-US" sz="1300" dirty="0">
                <a:solidFill>
                  <a:srgbClr val="FFFFFF"/>
                </a:solidFill>
                <a:latin typeface="Quicksand" pitchFamily="34" charset="0"/>
                <a:ea typeface="Quicksand" pitchFamily="34" charset="-122"/>
                <a:cs typeface="Quicksand" pitchFamily="34" charset="-120"/>
              </a:rPr>
              <a:t>Apply momentum and risk management signals to optimize entry and exit timing.</a:t>
            </a:r>
            <a:endParaRPr lang="en-US" sz="1300" dirty="0"/>
          </a:p>
        </p:txBody>
      </p:sp>
      <p:sp>
        <p:nvSpPr>
          <p:cNvPr id="15" name="Shape 12"/>
          <p:cNvSpPr/>
          <p:nvPr/>
        </p:nvSpPr>
        <p:spPr>
          <a:xfrm>
            <a:off x="7821168" y="1554480"/>
            <a:ext cx="3636264" cy="4937760"/>
          </a:xfrm>
          <a:prstGeom prst="roundRect">
            <a:avLst>
              <a:gd name="adj" fmla="val 3772"/>
            </a:avLst>
          </a:prstGeom>
          <a:solidFill>
            <a:srgbClr val="FEC00F"/>
          </a:solidFill>
          <a:ln w="25400">
            <a:solidFill>
              <a:srgbClr val="FEC00F"/>
            </a:solidFill>
            <a:prstDash val="solid"/>
          </a:ln>
          <a:effectLst>
            <a:outerShdw sx="100000" sy="100000" kx="0" ky="0" algn="bl" rotWithShape="0" blurRad="76200" dist="25400" dir="16200000">
              <a:srgbClr val="000000">
                <a:alpha val="20000"/>
              </a:srgbClr>
            </a:outerShdw>
          </a:effectLst>
        </p:spPr>
      </p:sp>
      <p:sp>
        <p:nvSpPr>
          <p:cNvPr id="16" name="Shape 13"/>
          <p:cNvSpPr/>
          <p:nvPr/>
        </p:nvSpPr>
        <p:spPr>
          <a:xfrm>
            <a:off x="8095488" y="1371600"/>
            <a:ext cx="3087624" cy="365760"/>
          </a:xfrm>
          <a:prstGeom prst="roundRect">
            <a:avLst>
              <a:gd name="adj" fmla="val 50000"/>
            </a:avLst>
          </a:prstGeom>
          <a:solidFill>
            <a:srgbClr val="FEC00F"/>
          </a:solidFill>
          <a:ln/>
        </p:spPr>
      </p:sp>
      <p:sp>
        <p:nvSpPr>
          <p:cNvPr id="17" name="Text 14"/>
          <p:cNvSpPr/>
          <p:nvPr/>
        </p:nvSpPr>
        <p:spPr>
          <a:xfrm>
            <a:off x="8095488" y="1371600"/>
            <a:ext cx="3087624" cy="365760"/>
          </a:xfrm>
          <a:prstGeom prst="rect">
            <a:avLst/>
          </a:prstGeom>
          <a:noFill/>
          <a:ln/>
        </p:spPr>
        <p:txBody>
          <a:bodyPr wrap="square" rtlCol="0" anchor="ctr"/>
          <a:lstStyle/>
          <a:p>
            <a:pPr algn="ctr" indent="0" marL="0">
              <a:buNone/>
            </a:pPr>
            <a:r>
              <a:rPr lang="en-US" sz="1100" b="1" dirty="0">
                <a:solidFill>
                  <a:srgbClr val="212121"/>
                </a:solidFill>
                <a:latin typeface="Rajdhani" pitchFamily="34" charset="0"/>
                <a:ea typeface="Rajdhani" pitchFamily="34" charset="-122"/>
                <a:cs typeface="Rajdhani" pitchFamily="34" charset="-120"/>
              </a:rPr>
              <a:t>ESG TACTICAL</a:t>
            </a:r>
            <a:endParaRPr lang="en-US" sz="1100" dirty="0"/>
          </a:p>
        </p:txBody>
      </p:sp>
      <p:sp>
        <p:nvSpPr>
          <p:cNvPr id="18" name="Text 15"/>
          <p:cNvSpPr/>
          <p:nvPr/>
        </p:nvSpPr>
        <p:spPr>
          <a:xfrm>
            <a:off x="7958328" y="1874520"/>
            <a:ext cx="3361944" cy="4389120"/>
          </a:xfrm>
          <a:prstGeom prst="rect">
            <a:avLst/>
          </a:prstGeom>
          <a:noFill/>
          <a:ln/>
        </p:spPr>
        <p:txBody>
          <a:bodyPr wrap="square" rtlCol="0" anchor="ctr"/>
          <a:lstStyle/>
          <a:p>
            <a:pPr algn="ctr" indent="0" marL="0">
              <a:buNone/>
            </a:pPr>
            <a:r>
              <a:rPr lang="en-US" sz="1300" dirty="0">
                <a:solidFill>
                  <a:srgbClr val="212121"/>
                </a:solidFill>
                <a:latin typeface="Quicksand" pitchFamily="34" charset="0"/>
                <a:ea typeface="Quicksand" pitchFamily="34" charset="-122"/>
                <a:cs typeface="Quicksand" pitchFamily="34" charset="-120"/>
              </a:rPr>
              <a:t>Sustainable investing with tactical risk management.</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12121"/>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EC00F"/>
                </a:solidFill>
                <a:latin typeface="Rajdhani" pitchFamily="34" charset="0"/>
                <a:ea typeface="Rajdhani" pitchFamily="34" charset="-122"/>
                <a:cs typeface="Rajdhani" pitchFamily="34" charset="-120"/>
              </a:rPr>
              <a:t>PROCESS</a:t>
            </a:r>
            <a:endParaRPr lang="en-US" sz="1100" dirty="0"/>
          </a:p>
        </p:txBody>
      </p:sp>
      <p:pic>
        <p:nvPicPr>
          <p:cNvPr id="3" name="Image 0" descr="C:\Users\SohaibAli\Documents\PresenterByPotomac\app\skills\JSPPTXPotomac\brand-assets\logos\potomac-icon-white.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594360"/>
          </a:xfrm>
          <a:prstGeom prst="rect">
            <a:avLst/>
          </a:prstGeom>
          <a:noFill/>
          <a:ln/>
        </p:spPr>
        <p:txBody>
          <a:bodyPr wrap="square" rtlCol="0" anchor="ctr"/>
          <a:lstStyle/>
          <a:p>
            <a:pPr indent="0" marL="0">
              <a:buNone/>
            </a:pPr>
            <a:r>
              <a:rPr lang="en-US" sz="2600" b="1" dirty="0">
                <a:solidFill>
                  <a:srgbClr val="FFFFFF"/>
                </a:solidFill>
                <a:latin typeface="Rajdhani" pitchFamily="34" charset="0"/>
                <a:ea typeface="Rajdhani" pitchFamily="34" charset="-122"/>
                <a:cs typeface="Rajdhani" pitchFamily="34" charset="-120"/>
              </a:rPr>
              <a:t>REDUCING ESG RISK THROUGH DYNAMIC ALLOCATION</a:t>
            </a:r>
            <a:endParaRPr lang="en-US" sz="2600" dirty="0"/>
          </a:p>
        </p:txBody>
      </p:sp>
      <p:sp>
        <p:nvSpPr>
          <p:cNvPr id="5" name="Shape 2"/>
          <p:cNvSpPr/>
          <p:nvPr/>
        </p:nvSpPr>
        <p:spPr>
          <a:xfrm>
            <a:off x="365760" y="1691640"/>
            <a:ext cx="4572000" cy="1280160"/>
          </a:xfrm>
          <a:prstGeom prst="rect">
            <a:avLst/>
          </a:prstGeom>
          <a:solidFill>
            <a:srgbClr val="212121"/>
          </a:solidFill>
          <a:ln w="25400">
            <a:solidFill>
              <a:srgbClr val="FEC00F"/>
            </a:solidFill>
            <a:prstDash val="solid"/>
          </a:ln>
        </p:spPr>
      </p:sp>
      <p:sp>
        <p:nvSpPr>
          <p:cNvPr id="6" name="Text 3"/>
          <p:cNvSpPr/>
          <p:nvPr/>
        </p:nvSpPr>
        <p:spPr>
          <a:xfrm>
            <a:off x="548640" y="1783080"/>
            <a:ext cx="4206240" cy="365760"/>
          </a:xfrm>
          <a:prstGeom prst="rect">
            <a:avLst/>
          </a:prstGeom>
          <a:noFill/>
          <a:ln/>
        </p:spPr>
        <p:txBody>
          <a:bodyPr wrap="square" rtlCol="0" anchor="ctr"/>
          <a:lstStyle/>
          <a:p>
            <a:pPr indent="0" marL="0">
              <a:buNone/>
            </a:pPr>
            <a:r>
              <a:rPr lang="en-US" sz="1400" b="1" dirty="0">
                <a:solidFill>
                  <a:srgbClr val="FEC00F"/>
                </a:solidFill>
                <a:latin typeface="Rajdhani" pitchFamily="34" charset="0"/>
                <a:ea typeface="Rajdhani" pitchFamily="34" charset="-122"/>
                <a:cs typeface="Rajdhani" pitchFamily="34" charset="-120"/>
              </a:rPr>
              <a:t>ESG LEADERS</a:t>
            </a:r>
            <a:endParaRPr lang="en-US" sz="1400" dirty="0"/>
          </a:p>
        </p:txBody>
      </p:sp>
      <p:sp>
        <p:nvSpPr>
          <p:cNvPr id="7" name="Text 4"/>
          <p:cNvSpPr/>
          <p:nvPr/>
        </p:nvSpPr>
        <p:spPr>
          <a:xfrm>
            <a:off x="548640" y="2194560"/>
            <a:ext cx="4206240" cy="685800"/>
          </a:xfrm>
          <a:prstGeom prst="rect">
            <a:avLst/>
          </a:prstGeom>
          <a:noFill/>
          <a:ln/>
        </p:spPr>
        <p:txBody>
          <a:bodyPr wrap="square" rtlCol="0" anchor="ctr"/>
          <a:lstStyle/>
          <a:p>
            <a:pPr indent="0" marL="0">
              <a:buNone/>
            </a:pPr>
            <a:r>
              <a:rPr lang="en-US" sz="1200" dirty="0">
                <a:solidFill>
                  <a:srgbClr val="FFFFFF"/>
                </a:solidFill>
                <a:latin typeface="Quicksand" pitchFamily="34" charset="0"/>
                <a:ea typeface="Quicksand" pitchFamily="34" charset="-122"/>
                <a:cs typeface="Quicksand" pitchFamily="34" charset="-120"/>
              </a:rPr>
              <a:t>Top-rated ESG companies: Invested 85% of the time</a:t>
            </a:r>
            <a:endParaRPr lang="en-US" sz="1200" dirty="0"/>
          </a:p>
        </p:txBody>
      </p:sp>
      <p:sp>
        <p:nvSpPr>
          <p:cNvPr id="8" name="Shape 5"/>
          <p:cNvSpPr/>
          <p:nvPr/>
        </p:nvSpPr>
        <p:spPr>
          <a:xfrm>
            <a:off x="365760" y="3154680"/>
            <a:ext cx="4572000" cy="1280160"/>
          </a:xfrm>
          <a:prstGeom prst="rect">
            <a:avLst/>
          </a:prstGeom>
          <a:solidFill>
            <a:srgbClr val="212121"/>
          </a:solidFill>
          <a:ln w="25400">
            <a:solidFill>
              <a:srgbClr val="FEC00F"/>
            </a:solidFill>
            <a:prstDash val="solid"/>
          </a:ln>
        </p:spPr>
      </p:sp>
      <p:sp>
        <p:nvSpPr>
          <p:cNvPr id="9" name="Text 6"/>
          <p:cNvSpPr/>
          <p:nvPr/>
        </p:nvSpPr>
        <p:spPr>
          <a:xfrm>
            <a:off x="548640" y="3246120"/>
            <a:ext cx="4206240" cy="365760"/>
          </a:xfrm>
          <a:prstGeom prst="rect">
            <a:avLst/>
          </a:prstGeom>
          <a:noFill/>
          <a:ln/>
        </p:spPr>
        <p:txBody>
          <a:bodyPr wrap="square" rtlCol="0" anchor="ctr"/>
          <a:lstStyle/>
          <a:p>
            <a:pPr indent="0" marL="0">
              <a:buNone/>
            </a:pPr>
            <a:r>
              <a:rPr lang="en-US" sz="1400" b="1" dirty="0">
                <a:solidFill>
                  <a:srgbClr val="FEC00F"/>
                </a:solidFill>
                <a:latin typeface="Rajdhani" pitchFamily="34" charset="0"/>
                <a:ea typeface="Rajdhani" pitchFamily="34" charset="-122"/>
                <a:cs typeface="Rajdhani" pitchFamily="34" charset="-120"/>
              </a:rPr>
              <a:t>MOMENTUM FILTER</a:t>
            </a:r>
            <a:endParaRPr lang="en-US" sz="1400" dirty="0"/>
          </a:p>
        </p:txBody>
      </p:sp>
      <p:sp>
        <p:nvSpPr>
          <p:cNvPr id="10" name="Text 7"/>
          <p:cNvSpPr/>
          <p:nvPr/>
        </p:nvSpPr>
        <p:spPr>
          <a:xfrm>
            <a:off x="548640" y="3657600"/>
            <a:ext cx="4206240" cy="685800"/>
          </a:xfrm>
          <a:prstGeom prst="rect">
            <a:avLst/>
          </a:prstGeom>
          <a:noFill/>
          <a:ln/>
        </p:spPr>
        <p:txBody>
          <a:bodyPr wrap="square" rtlCol="0" anchor="ctr"/>
          <a:lstStyle/>
          <a:p>
            <a:pPr indent="0" marL="0">
              <a:buNone/>
            </a:pPr>
            <a:r>
              <a:rPr lang="en-US" sz="1200" dirty="0">
                <a:solidFill>
                  <a:srgbClr val="FFFFFF"/>
                </a:solidFill>
                <a:latin typeface="Quicksand" pitchFamily="34" charset="0"/>
                <a:ea typeface="Quicksand" pitchFamily="34" charset="-122"/>
                <a:cs typeface="Quicksand" pitchFamily="34" charset="-120"/>
              </a:rPr>
              <a:t>Trend confirmation signals: Active 78% of the time</a:t>
            </a:r>
            <a:endParaRPr lang="en-US" sz="1200" dirty="0"/>
          </a:p>
        </p:txBody>
      </p:sp>
      <p:sp>
        <p:nvSpPr>
          <p:cNvPr id="11" name="Shape 8"/>
          <p:cNvSpPr/>
          <p:nvPr/>
        </p:nvSpPr>
        <p:spPr>
          <a:xfrm>
            <a:off x="365760" y="4617720"/>
            <a:ext cx="4572000" cy="1280160"/>
          </a:xfrm>
          <a:prstGeom prst="rect">
            <a:avLst/>
          </a:prstGeom>
          <a:solidFill>
            <a:srgbClr val="212121"/>
          </a:solidFill>
          <a:ln w="25400">
            <a:solidFill>
              <a:srgbClr val="FEC00F"/>
            </a:solidFill>
            <a:prstDash val="solid"/>
          </a:ln>
        </p:spPr>
      </p:sp>
      <p:sp>
        <p:nvSpPr>
          <p:cNvPr id="12" name="Text 9"/>
          <p:cNvSpPr/>
          <p:nvPr/>
        </p:nvSpPr>
        <p:spPr>
          <a:xfrm>
            <a:off x="548640" y="4709160"/>
            <a:ext cx="4206240" cy="365760"/>
          </a:xfrm>
          <a:prstGeom prst="rect">
            <a:avLst/>
          </a:prstGeom>
          <a:noFill/>
          <a:ln/>
        </p:spPr>
        <p:txBody>
          <a:bodyPr wrap="square" rtlCol="0" anchor="ctr"/>
          <a:lstStyle/>
          <a:p>
            <a:pPr indent="0" marL="0">
              <a:buNone/>
            </a:pPr>
            <a:r>
              <a:rPr lang="en-US" sz="1400" b="1" dirty="0">
                <a:solidFill>
                  <a:srgbClr val="FEC00F"/>
                </a:solidFill>
                <a:latin typeface="Rajdhani" pitchFamily="34" charset="0"/>
                <a:ea typeface="Rajdhani" pitchFamily="34" charset="-122"/>
                <a:cs typeface="Rajdhani" pitchFamily="34" charset="-120"/>
              </a:rPr>
              <a:t>RISK CONTROL</a:t>
            </a:r>
            <a:endParaRPr lang="en-US" sz="1400" dirty="0"/>
          </a:p>
        </p:txBody>
      </p:sp>
      <p:sp>
        <p:nvSpPr>
          <p:cNvPr id="13" name="Text 10"/>
          <p:cNvSpPr/>
          <p:nvPr/>
        </p:nvSpPr>
        <p:spPr>
          <a:xfrm>
            <a:off x="548640" y="5120640"/>
            <a:ext cx="4206240" cy="685800"/>
          </a:xfrm>
          <a:prstGeom prst="rect">
            <a:avLst/>
          </a:prstGeom>
          <a:noFill/>
          <a:ln/>
        </p:spPr>
        <p:txBody>
          <a:bodyPr wrap="square" rtlCol="0" anchor="ctr"/>
          <a:lstStyle/>
          <a:p>
            <a:pPr indent="0" marL="0">
              <a:buNone/>
            </a:pPr>
            <a:r>
              <a:rPr lang="en-US" sz="1200" dirty="0">
                <a:solidFill>
                  <a:srgbClr val="FFFFFF"/>
                </a:solidFill>
                <a:latin typeface="Quicksand" pitchFamily="34" charset="0"/>
                <a:ea typeface="Quicksand" pitchFamily="34" charset="-122"/>
                <a:cs typeface="Quicksand" pitchFamily="34" charset="-120"/>
              </a:rPr>
              <a:t>Volatility protection overlay: Engaged 22% of the time</a:t>
            </a:r>
            <a:endParaRPr lang="en-US" sz="1200" dirty="0"/>
          </a:p>
        </p:txBody>
      </p:sp>
      <p:sp>
        <p:nvSpPr>
          <p:cNvPr id="14" name="Text 11"/>
          <p:cNvSpPr/>
          <p:nvPr/>
        </p:nvSpPr>
        <p:spPr>
          <a:xfrm>
            <a:off x="4937760" y="3520440"/>
            <a:ext cx="731520" cy="731520"/>
          </a:xfrm>
          <a:prstGeom prst="rect">
            <a:avLst/>
          </a:prstGeom>
          <a:noFill/>
          <a:ln/>
        </p:spPr>
        <p:txBody>
          <a:bodyPr wrap="square" rtlCol="0" anchor="ctr"/>
          <a:lstStyle/>
          <a:p>
            <a:pPr algn="ctr" indent="0" marL="0">
              <a:buNone/>
            </a:pPr>
            <a:r>
              <a:rPr lang="en-US" sz="3600" dirty="0">
                <a:solidFill>
                  <a:srgbClr val="FEC00F"/>
                </a:solidFill>
                <a:latin typeface="Rajdhani" pitchFamily="34" charset="0"/>
                <a:ea typeface="Rajdhani" pitchFamily="34" charset="-122"/>
                <a:cs typeface="Rajdhani" pitchFamily="34" charset="-120"/>
              </a:rPr>
              <a:t>→</a:t>
            </a:r>
            <a:endParaRPr lang="en-US" sz="3600" dirty="0"/>
          </a:p>
        </p:txBody>
      </p:sp>
      <p:sp>
        <p:nvSpPr>
          <p:cNvPr id="15" name="Shape 12"/>
          <p:cNvSpPr/>
          <p:nvPr/>
        </p:nvSpPr>
        <p:spPr>
          <a:xfrm>
            <a:off x="5852160" y="1691640"/>
            <a:ext cx="5971032" cy="4206240"/>
          </a:xfrm>
          <a:prstGeom prst="rect">
            <a:avLst/>
          </a:prstGeom>
          <a:solidFill>
            <a:srgbClr val="FEC00F"/>
          </a:solidFill>
          <a:ln/>
        </p:spPr>
      </p:sp>
      <p:sp>
        <p:nvSpPr>
          <p:cNvPr id="16" name="Text 13"/>
          <p:cNvSpPr/>
          <p:nvPr/>
        </p:nvSpPr>
        <p:spPr>
          <a:xfrm>
            <a:off x="6035040" y="1874520"/>
            <a:ext cx="5605272" cy="502920"/>
          </a:xfrm>
          <a:prstGeom prst="rect">
            <a:avLst/>
          </a:prstGeom>
          <a:noFill/>
          <a:ln/>
        </p:spPr>
        <p:txBody>
          <a:bodyPr wrap="square" rtlCol="0" anchor="ctr"/>
          <a:lstStyle/>
          <a:p>
            <a:pPr algn="ctr" indent="0" marL="0">
              <a:buNone/>
            </a:pPr>
            <a:r>
              <a:rPr lang="en-US" sz="1500" b="1" dirty="0">
                <a:solidFill>
                  <a:srgbClr val="212121"/>
                </a:solidFill>
                <a:latin typeface="Rajdhani" pitchFamily="34" charset="0"/>
                <a:ea typeface="Rajdhani" pitchFamily="34" charset="-122"/>
                <a:cs typeface="Rajdhani" pitchFamily="34" charset="-120"/>
              </a:rPr>
              <a:t>ESG TACTICAL</a:t>
            </a:r>
            <a:endParaRPr lang="en-US" sz="1500" dirty="0"/>
          </a:p>
        </p:txBody>
      </p:sp>
      <p:sp>
        <p:nvSpPr>
          <p:cNvPr id="17" name="Text 14"/>
          <p:cNvSpPr/>
          <p:nvPr/>
        </p:nvSpPr>
        <p:spPr>
          <a:xfrm>
            <a:off x="6035040" y="2468880"/>
            <a:ext cx="5605272" cy="3200400"/>
          </a:xfrm>
          <a:prstGeom prst="rect">
            <a:avLst/>
          </a:prstGeom>
          <a:noFill/>
          <a:ln/>
        </p:spPr>
        <p:txBody>
          <a:bodyPr wrap="square" rtlCol="0" anchor="ctr"/>
          <a:lstStyle/>
          <a:p>
            <a:pPr algn="ctr" indent="0" marL="0">
              <a:buNone/>
            </a:pPr>
            <a:r>
              <a:rPr lang="en-US" sz="1300" dirty="0">
                <a:solidFill>
                  <a:srgbClr val="212121"/>
                </a:solidFill>
                <a:latin typeface="Quicksand" pitchFamily="34" charset="0"/>
                <a:ea typeface="Quicksand" pitchFamily="34" charset="-122"/>
                <a:cs typeface="Quicksand" pitchFamily="34" charset="-120"/>
              </a:rPr>
              <a:t>Combined system exposure averages 72% to optimize risk-adjusted returns.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12121"/>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EC00F"/>
                </a:solidFill>
                <a:latin typeface="Rajdhani" pitchFamily="34" charset="0"/>
                <a:ea typeface="Rajdhani" pitchFamily="34" charset="-122"/>
                <a:cs typeface="Rajdhani" pitchFamily="34" charset="-120"/>
              </a:rPr>
              <a:t>ESG TACTICAL STRATEGY</a:t>
            </a:r>
            <a:endParaRPr lang="en-US" sz="1100" dirty="0"/>
          </a:p>
        </p:txBody>
      </p:sp>
      <p:pic>
        <p:nvPicPr>
          <p:cNvPr id="3" name="Image 0" descr="C:\Users\SohaibAli\Documents\PresenterByPotomac\app\skills\JSPPTXPotomac\brand-assets\logos\potomac-icon-white.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640080"/>
          </a:xfrm>
          <a:prstGeom prst="rect">
            <a:avLst/>
          </a:prstGeom>
          <a:noFill/>
          <a:ln/>
        </p:spPr>
        <p:txBody>
          <a:bodyPr wrap="square" rtlCol="0" anchor="ctr"/>
          <a:lstStyle/>
          <a:p>
            <a:pPr indent="0" marL="0">
              <a:buNone/>
            </a:pPr>
            <a:r>
              <a:rPr lang="en-US" sz="2600" b="1" dirty="0">
                <a:solidFill>
                  <a:srgbClr val="FFFFFF"/>
                </a:solidFill>
                <a:latin typeface="Rajdhani" pitchFamily="34" charset="0"/>
                <a:ea typeface="Rajdhani" pitchFamily="34" charset="-122"/>
                <a:cs typeface="Rajdhani" pitchFamily="34" charset="-120"/>
              </a:rPr>
              <a:t>ESG TACTICAL ALLOCATION</a:t>
            </a:r>
            <a:endParaRPr lang="en-US" sz="2600" dirty="0"/>
          </a:p>
        </p:txBody>
      </p:sp>
      <p:sp>
        <p:nvSpPr>
          <p:cNvPr id="5" name="Text 2"/>
          <p:cNvSpPr/>
          <p:nvPr/>
        </p:nvSpPr>
        <p:spPr>
          <a:xfrm>
            <a:off x="365760" y="1371600"/>
            <a:ext cx="3474720" cy="365760"/>
          </a:xfrm>
          <a:prstGeom prst="rect">
            <a:avLst/>
          </a:prstGeom>
          <a:noFill/>
          <a:ln/>
        </p:spPr>
        <p:txBody>
          <a:bodyPr wrap="square" rtlCol="0" anchor="ctr"/>
          <a:lstStyle/>
          <a:p>
            <a:pPr indent="0" marL="0">
              <a:buNone/>
            </a:pPr>
            <a:r>
              <a:rPr lang="en-US" sz="1400" b="1" dirty="0">
                <a:solidFill>
                  <a:srgbClr val="FEC00F"/>
                </a:solidFill>
                <a:latin typeface="Rajdhani" pitchFamily="34" charset="0"/>
                <a:ea typeface="Rajdhani" pitchFamily="34" charset="-122"/>
                <a:cs typeface="Rajdhani" pitchFamily="34" charset="-120"/>
              </a:rPr>
              <a:t>CRSGX 65%</a:t>
            </a:r>
            <a:endParaRPr lang="en-US" sz="1400" dirty="0"/>
          </a:p>
        </p:txBody>
      </p:sp>
      <p:sp>
        <p:nvSpPr>
          <p:cNvPr id="6" name="Text 3"/>
          <p:cNvSpPr/>
          <p:nvPr/>
        </p:nvSpPr>
        <p:spPr>
          <a:xfrm>
            <a:off x="365760" y="1737360"/>
            <a:ext cx="3474720" cy="914400"/>
          </a:xfrm>
          <a:prstGeom prst="rect">
            <a:avLst/>
          </a:prstGeom>
          <a:noFill/>
          <a:ln/>
        </p:spPr>
        <p:txBody>
          <a:bodyPr wrap="square" rtlCol="0" anchor="ctr"/>
          <a:lstStyle/>
          <a:p>
            <a:pPr indent="0" marL="0">
              <a:buNone/>
            </a:pPr>
            <a:r>
              <a:rPr lang="en-US" sz="1200" dirty="0">
                <a:solidFill>
                  <a:srgbClr val="FFFFFF"/>
                </a:solidFill>
                <a:latin typeface="Quicksand" pitchFamily="34" charset="0"/>
                <a:ea typeface="Quicksand" pitchFamily="34" charset="-122"/>
                <a:cs typeface="Quicksand" pitchFamily="34" charset="-120"/>
              </a:rPr>
              <a:t>Core ESG equity fund with high-quality sustainable companies</a:t>
            </a:r>
            <a:endParaRPr lang="en-US" sz="1200" dirty="0"/>
          </a:p>
        </p:txBody>
      </p:sp>
      <p:sp>
        <p:nvSpPr>
          <p:cNvPr id="7" name="Text 4"/>
          <p:cNvSpPr/>
          <p:nvPr/>
        </p:nvSpPr>
        <p:spPr>
          <a:xfrm>
            <a:off x="8074152" y="1371600"/>
            <a:ext cx="3474720" cy="365760"/>
          </a:xfrm>
          <a:prstGeom prst="rect">
            <a:avLst/>
          </a:prstGeom>
          <a:noFill/>
          <a:ln/>
        </p:spPr>
        <p:txBody>
          <a:bodyPr wrap="square" rtlCol="0" anchor="ctr"/>
          <a:lstStyle/>
          <a:p>
            <a:pPr indent="0" marL="0">
              <a:buNone/>
            </a:pPr>
            <a:r>
              <a:rPr lang="en-US" sz="1400" b="1" dirty="0">
                <a:solidFill>
                  <a:srgbClr val="FEC00F"/>
                </a:solidFill>
                <a:latin typeface="Rajdhani" pitchFamily="34" charset="0"/>
                <a:ea typeface="Rajdhani" pitchFamily="34" charset="-122"/>
                <a:cs typeface="Rajdhani" pitchFamily="34" charset="-120"/>
              </a:rPr>
              <a:t>ESGBX 15%</a:t>
            </a:r>
            <a:endParaRPr lang="en-US" sz="1400" dirty="0"/>
          </a:p>
        </p:txBody>
      </p:sp>
      <p:sp>
        <p:nvSpPr>
          <p:cNvPr id="8" name="Text 5"/>
          <p:cNvSpPr/>
          <p:nvPr/>
        </p:nvSpPr>
        <p:spPr>
          <a:xfrm>
            <a:off x="8074152" y="1737360"/>
            <a:ext cx="3474720" cy="914400"/>
          </a:xfrm>
          <a:prstGeom prst="rect">
            <a:avLst/>
          </a:prstGeom>
          <a:noFill/>
          <a:ln/>
        </p:spPr>
        <p:txBody>
          <a:bodyPr wrap="square" rtlCol="0" anchor="ctr"/>
          <a:lstStyle/>
          <a:p>
            <a:pPr indent="0" marL="0">
              <a:buNone/>
            </a:pPr>
            <a:r>
              <a:rPr lang="en-US" sz="1200" dirty="0">
                <a:solidFill>
                  <a:srgbClr val="FFFFFF"/>
                </a:solidFill>
                <a:latin typeface="Quicksand" pitchFamily="34" charset="0"/>
                <a:ea typeface="Quicksand" pitchFamily="34" charset="-122"/>
                <a:cs typeface="Quicksand" pitchFamily="34" charset="-120"/>
              </a:rPr>
              <a:t>ESG bond fund providing defensive income exposure</a:t>
            </a:r>
            <a:endParaRPr lang="en-US" sz="1200" dirty="0"/>
          </a:p>
        </p:txBody>
      </p:sp>
      <p:sp>
        <p:nvSpPr>
          <p:cNvPr id="9" name="Text 6"/>
          <p:cNvSpPr/>
          <p:nvPr/>
        </p:nvSpPr>
        <p:spPr>
          <a:xfrm>
            <a:off x="365760" y="4114800"/>
            <a:ext cx="3474720" cy="365760"/>
          </a:xfrm>
          <a:prstGeom prst="rect">
            <a:avLst/>
          </a:prstGeom>
          <a:noFill/>
          <a:ln/>
        </p:spPr>
        <p:txBody>
          <a:bodyPr wrap="square" rtlCol="0" anchor="ctr"/>
          <a:lstStyle/>
          <a:p>
            <a:pPr indent="0" marL="0">
              <a:buNone/>
            </a:pPr>
            <a:r>
              <a:rPr lang="en-US" sz="1400" b="1" dirty="0">
                <a:solidFill>
                  <a:srgbClr val="FEC00F"/>
                </a:solidFill>
                <a:latin typeface="Rajdhani" pitchFamily="34" charset="0"/>
                <a:ea typeface="Rajdhani" pitchFamily="34" charset="-122"/>
                <a:cs typeface="Rajdhani" pitchFamily="34" charset="-120"/>
              </a:rPr>
              <a:t>CRSEX 10%</a:t>
            </a:r>
            <a:endParaRPr lang="en-US" sz="1400" dirty="0"/>
          </a:p>
        </p:txBody>
      </p:sp>
      <p:sp>
        <p:nvSpPr>
          <p:cNvPr id="10" name="Text 7"/>
          <p:cNvSpPr/>
          <p:nvPr/>
        </p:nvSpPr>
        <p:spPr>
          <a:xfrm>
            <a:off x="365760" y="4480560"/>
            <a:ext cx="3474720" cy="914400"/>
          </a:xfrm>
          <a:prstGeom prst="rect">
            <a:avLst/>
          </a:prstGeom>
          <a:noFill/>
          <a:ln/>
        </p:spPr>
        <p:txBody>
          <a:bodyPr wrap="square" rtlCol="0" anchor="ctr"/>
          <a:lstStyle/>
          <a:p>
            <a:pPr indent="0" marL="0">
              <a:buNone/>
            </a:pPr>
            <a:r>
              <a:rPr lang="en-US" sz="1200" dirty="0">
                <a:solidFill>
                  <a:srgbClr val="FFFFFF"/>
                </a:solidFill>
                <a:latin typeface="Quicksand" pitchFamily="34" charset="0"/>
                <a:ea typeface="Quicksand" pitchFamily="34" charset="-122"/>
                <a:cs typeface="Quicksand" pitchFamily="34" charset="-120"/>
              </a:rPr>
              <a:t>Clean energy sector fund with tactical overlay</a:t>
            </a:r>
            <a:endParaRPr lang="en-US" sz="1200" dirty="0"/>
          </a:p>
        </p:txBody>
      </p:sp>
      <p:sp>
        <p:nvSpPr>
          <p:cNvPr id="11" name="Text 8"/>
          <p:cNvSpPr/>
          <p:nvPr/>
        </p:nvSpPr>
        <p:spPr>
          <a:xfrm>
            <a:off x="8074152" y="4114800"/>
            <a:ext cx="3474720" cy="365760"/>
          </a:xfrm>
          <a:prstGeom prst="rect">
            <a:avLst/>
          </a:prstGeom>
          <a:noFill/>
          <a:ln/>
        </p:spPr>
        <p:txBody>
          <a:bodyPr wrap="square" rtlCol="0" anchor="ctr"/>
          <a:lstStyle/>
          <a:p>
            <a:pPr indent="0" marL="0">
              <a:buNone/>
            </a:pPr>
            <a:r>
              <a:rPr lang="en-US" sz="1400" b="1" dirty="0">
                <a:solidFill>
                  <a:srgbClr val="FEC00F"/>
                </a:solidFill>
                <a:latin typeface="Rajdhani" pitchFamily="34" charset="0"/>
                <a:ea typeface="Rajdhani" pitchFamily="34" charset="-122"/>
                <a:cs typeface="Rajdhani" pitchFamily="34" charset="-120"/>
              </a:rPr>
              <a:t>ESGDX 10%</a:t>
            </a:r>
            <a:endParaRPr lang="en-US" sz="1400" dirty="0"/>
          </a:p>
        </p:txBody>
      </p:sp>
      <p:sp>
        <p:nvSpPr>
          <p:cNvPr id="12" name="Text 9"/>
          <p:cNvSpPr/>
          <p:nvPr/>
        </p:nvSpPr>
        <p:spPr>
          <a:xfrm>
            <a:off x="8074152" y="4480560"/>
            <a:ext cx="3474720" cy="914400"/>
          </a:xfrm>
          <a:prstGeom prst="rect">
            <a:avLst/>
          </a:prstGeom>
          <a:noFill/>
          <a:ln/>
        </p:spPr>
        <p:txBody>
          <a:bodyPr wrap="square" rtlCol="0" anchor="ctr"/>
          <a:lstStyle/>
          <a:p>
            <a:pPr indent="0" marL="0">
              <a:buNone/>
            </a:pPr>
            <a:r>
              <a:rPr lang="en-US" sz="1200" dirty="0">
                <a:solidFill>
                  <a:srgbClr val="FFFFFF"/>
                </a:solidFill>
                <a:latin typeface="Quicksand" pitchFamily="34" charset="0"/>
                <a:ea typeface="Quicksand" pitchFamily="34" charset="-122"/>
                <a:cs typeface="Quicksand" pitchFamily="34" charset="-120"/>
              </a:rPr>
              <a:t>ESG dividend fund for defensive equity exposure</a:t>
            </a:r>
            <a:endParaRPr lang="en-US" sz="1200" dirty="0"/>
          </a:p>
        </p:txBody>
      </p:sp>
      <p:sp>
        <p:nvSpPr>
          <p:cNvPr id="13" name="Shape 10"/>
          <p:cNvSpPr/>
          <p:nvPr/>
        </p:nvSpPr>
        <p:spPr>
          <a:xfrm>
            <a:off x="4631436" y="2468880"/>
            <a:ext cx="2926080" cy="2011680"/>
          </a:xfrm>
          <a:prstGeom prst="rect">
            <a:avLst/>
          </a:prstGeom>
          <a:solidFill>
            <a:srgbClr val="212121"/>
          </a:solidFill>
          <a:ln w="25400">
            <a:solidFill>
              <a:srgbClr val="FEC00F"/>
            </a:solidFill>
            <a:prstDash val="solid"/>
          </a:ln>
        </p:spPr>
      </p:sp>
      <p:sp>
        <p:nvSpPr>
          <p:cNvPr id="14" name="Text 11"/>
          <p:cNvSpPr/>
          <p:nvPr/>
        </p:nvSpPr>
        <p:spPr>
          <a:xfrm>
            <a:off x="4631436" y="2651760"/>
            <a:ext cx="2926080" cy="457200"/>
          </a:xfrm>
          <a:prstGeom prst="rect">
            <a:avLst/>
          </a:prstGeom>
          <a:noFill/>
          <a:ln/>
        </p:spPr>
        <p:txBody>
          <a:bodyPr wrap="square" rtlCol="0" anchor="ctr"/>
          <a:lstStyle/>
          <a:p>
            <a:pPr algn="ctr" indent="0" marL="0">
              <a:buNone/>
            </a:pPr>
            <a:r>
              <a:rPr lang="en-US" sz="1400" b="1" dirty="0">
                <a:solidFill>
                  <a:srgbClr val="FEC00F"/>
                </a:solidFill>
                <a:latin typeface="Rajdhani" pitchFamily="34" charset="0"/>
                <a:ea typeface="Rajdhani" pitchFamily="34" charset="-122"/>
                <a:cs typeface="Rajdhani" pitchFamily="34" charset="-120"/>
              </a:rPr>
              <a:t>ESG LEADERS WITH TACTICAL TIMING</a:t>
            </a:r>
            <a:endParaRPr lang="en-US" sz="1400" dirty="0"/>
          </a:p>
        </p:txBody>
      </p:sp>
      <p:sp>
        <p:nvSpPr>
          <p:cNvPr id="15" name="Text 12"/>
          <p:cNvSpPr/>
          <p:nvPr/>
        </p:nvSpPr>
        <p:spPr>
          <a:xfrm>
            <a:off x="4631436" y="3154680"/>
            <a:ext cx="2926080" cy="1097280"/>
          </a:xfrm>
          <a:prstGeom prst="rect">
            <a:avLst/>
          </a:prstGeom>
          <a:noFill/>
          <a:ln/>
        </p:spPr>
        <p:txBody>
          <a:bodyPr wrap="square" rtlCol="0" anchor="ctr"/>
          <a:lstStyle/>
          <a:p>
            <a:pPr algn="ctr" indent="0" marL="0">
              <a:buNone/>
            </a:pPr>
            <a:r>
              <a:rPr lang="en-US" sz="1200" dirty="0">
                <a:solidFill>
                  <a:srgbClr val="FFFFFF"/>
                </a:solidFill>
                <a:latin typeface="Quicksand" pitchFamily="34" charset="0"/>
                <a:ea typeface="Quicksand" pitchFamily="34" charset="-122"/>
                <a:cs typeface="Quicksand" pitchFamily="34" charset="-120"/>
              </a:rPr>
              <a:t>Risk-on: ESG equity exposure. Risk-off: ESG bonds, cash, defensive sectors.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EC00F"/>
                </a:solidFill>
                <a:latin typeface="Rajdhani" pitchFamily="34" charset="0"/>
                <a:ea typeface="Rajdhani" pitchFamily="34" charset="-122"/>
                <a:cs typeface="Rajdhani" pitchFamily="34" charset="-120"/>
              </a:rPr>
              <a:t>ESG TACTICAL STRATEGY</a:t>
            </a:r>
            <a:endParaRPr lang="en-US" sz="1100" dirty="0"/>
          </a:p>
        </p:txBody>
      </p:sp>
      <p:pic>
        <p:nvPicPr>
          <p:cNvPr id="3" name="Image 0" descr="C:\Users\SohaibAli\Documents\PresenterByPotomac\app\skills\JSPPTXPotomac\brand-assets\logos\potomac-icon-black.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640080"/>
          </a:xfrm>
          <a:prstGeom prst="rect">
            <a:avLst/>
          </a:prstGeom>
          <a:noFill/>
          <a:ln/>
        </p:spPr>
        <p:txBody>
          <a:bodyPr wrap="square" rtlCol="0" anchor="ctr"/>
          <a:lstStyle/>
          <a:p>
            <a:pPr indent="0" marL="0">
              <a:buNone/>
            </a:pPr>
            <a:r>
              <a:rPr lang="en-US" sz="2800" b="1" dirty="0">
                <a:solidFill>
                  <a:srgbClr val="212121"/>
                </a:solidFill>
                <a:latin typeface="Rajdhani" pitchFamily="34" charset="0"/>
                <a:ea typeface="Rajdhani" pitchFamily="34" charset="-122"/>
                <a:cs typeface="Rajdhani" pitchFamily="34" charset="-120"/>
              </a:rPr>
              <a:t>ESG DOESN'T HAVE TO MEAN SACRIFICING RETURNS!</a:t>
            </a:r>
            <a:endParaRPr lang="en-US" sz="2800" dirty="0"/>
          </a:p>
        </p:txBody>
      </p:sp>
      <p:sp>
        <p:nvSpPr>
          <p:cNvPr id="5" name="Shape 2"/>
          <p:cNvSpPr/>
          <p:nvPr/>
        </p:nvSpPr>
        <p:spPr>
          <a:xfrm>
            <a:off x="365760" y="1188720"/>
            <a:ext cx="1828800" cy="54864"/>
          </a:xfrm>
          <a:prstGeom prst="rect">
            <a:avLst/>
          </a:prstGeom>
          <a:solidFill>
            <a:srgbClr val="FEC00F"/>
          </a:solidFill>
          <a:ln/>
        </p:spPr>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365760" y="1371600"/>
          <a:ext cx="11457432" cy="914400"/>
        </p:xfrm>
        <a:graphic>
          <a:graphicData uri="http://schemas.openxmlformats.org/drawingml/2006/table">
            <a:tbl>
              <a:tblPr/>
              <a:tblGrid>
                <a:gridCol w="1909572"/>
                <a:gridCol w="1909572"/>
                <a:gridCol w="1909572"/>
                <a:gridCol w="1909572"/>
                <a:gridCol w="1909572"/>
                <a:gridCol w="1909572"/>
              </a:tblGrid>
              <a:tr h="411480">
                <a:tc gridSpan="6">
                  <a:txBody>
                    <a:bodyPr/>
                    <a:lstStyle/>
                    <a:p>
                      <a:pPr algn="ctr" indent="0" marL="0">
                        <a:buNone/>
                      </a:pPr>
                      <a:r>
                        <a:rPr lang="en-US" sz="1400" b="1" dirty="0">
                          <a:solidFill>
                            <a:srgbClr val="212121"/>
                          </a:solidFill>
                          <a:latin typeface="Rajdhani" pitchFamily="34" charset="0"/>
                          <a:ea typeface="Rajdhani" pitchFamily="34" charset="-122"/>
                          <a:cs typeface="Rajdhani" pitchFamily="34" charset="-120"/>
                        </a:rPr>
                        <a:t>PERFORMANCE COMPARISON</a:t>
                      </a:r>
                      <a:endParaRPr lang="en-US" sz="14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EC00F"/>
                    </a:solidFill>
                  </a:tcPr>
                </a:tc>
                <a:tc hMerge="1">
                  <a:tcPr/>
                </a:tc>
                <a:tc hMerge="1">
                  <a:tcPr/>
                </a:tc>
                <a:tc hMerge="1">
                  <a:tcPr/>
                </a:tc>
                <a:tc hMerge="1">
                  <a:tcPr/>
                </a:tc>
                <a:tc hMerge="1">
                  <a:tcPr/>
                </a:tc>
              </a:tr>
              <a:tr h="411480">
                <a:tc>
                  <a:txBody>
                    <a:bodyPr/>
                    <a:lstStyle/>
                    <a:p>
                      <a:pPr algn="ctr" indent="0" marL="0">
                        <a:buNone/>
                      </a:pPr>
                      <a:r>
                        <a:rPr lang="en-US" sz="1200" b="1" dirty="0">
                          <a:solidFill>
                            <a:srgbClr val="FFFFFF"/>
                          </a:solidFill>
                          <a:latin typeface="Rajdhani" pitchFamily="34" charset="0"/>
                          <a:ea typeface="Rajdhani" pitchFamily="34" charset="-122"/>
                          <a:cs typeface="Rajdhani" pitchFamily="34" charset="-120"/>
                        </a:rPr>
                        <a:t>FUND NAME</a:t>
                      </a:r>
                      <a:endParaRPr lang="en-US" sz="12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212121"/>
                    </a:solidFill>
                  </a:tcPr>
                </a:tc>
                <a:tc>
                  <a:txBody>
                    <a:bodyPr/>
                    <a:lstStyle/>
                    <a:p>
                      <a:pPr algn="ctr" indent="0" marL="0">
                        <a:buNone/>
                      </a:pPr>
                      <a:r>
                        <a:rPr lang="en-US" sz="1200" b="1" dirty="0">
                          <a:solidFill>
                            <a:srgbClr val="FFFFFF"/>
                          </a:solidFill>
                          <a:latin typeface="Rajdhani" pitchFamily="34" charset="0"/>
                          <a:ea typeface="Rajdhani" pitchFamily="34" charset="-122"/>
                          <a:cs typeface="Rajdhani" pitchFamily="34" charset="-120"/>
                        </a:rPr>
                        <a:t>TICKER</a:t>
                      </a:r>
                      <a:endParaRPr lang="en-US" sz="12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212121"/>
                    </a:solidFill>
                  </a:tcPr>
                </a:tc>
                <a:tc>
                  <a:txBody>
                    <a:bodyPr/>
                    <a:lstStyle/>
                    <a:p>
                      <a:pPr algn="ctr" indent="0" marL="0">
                        <a:buNone/>
                      </a:pPr>
                      <a:r>
                        <a:rPr lang="en-US" sz="1200" b="1" dirty="0">
                          <a:solidFill>
                            <a:srgbClr val="FFFFFF"/>
                          </a:solidFill>
                          <a:latin typeface="Rajdhani" pitchFamily="34" charset="0"/>
                          <a:ea typeface="Rajdhani" pitchFamily="34" charset="-122"/>
                          <a:cs typeface="Rajdhani" pitchFamily="34" charset="-120"/>
                        </a:rPr>
                        <a:t>1-YR</a:t>
                      </a:r>
                      <a:endParaRPr lang="en-US" sz="12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212121"/>
                    </a:solidFill>
                  </a:tcPr>
                </a:tc>
                <a:tc>
                  <a:txBody>
                    <a:bodyPr/>
                    <a:lstStyle/>
                    <a:p>
                      <a:pPr algn="ctr" indent="0" marL="0">
                        <a:buNone/>
                      </a:pPr>
                      <a:r>
                        <a:rPr lang="en-US" sz="1200" b="1" dirty="0">
                          <a:solidFill>
                            <a:srgbClr val="FFFFFF"/>
                          </a:solidFill>
                          <a:latin typeface="Rajdhani" pitchFamily="34" charset="0"/>
                          <a:ea typeface="Rajdhani" pitchFamily="34" charset="-122"/>
                          <a:cs typeface="Rajdhani" pitchFamily="34" charset="-120"/>
                        </a:rPr>
                        <a:t>5-YR</a:t>
                      </a:r>
                      <a:endParaRPr lang="en-US" sz="12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212121"/>
                    </a:solidFill>
                  </a:tcPr>
                </a:tc>
                <a:tc>
                  <a:txBody>
                    <a:bodyPr/>
                    <a:lstStyle/>
                    <a:p>
                      <a:pPr algn="ctr" indent="0" marL="0">
                        <a:buNone/>
                      </a:pPr>
                      <a:r>
                        <a:rPr lang="en-US" sz="1200" b="1" dirty="0">
                          <a:solidFill>
                            <a:srgbClr val="FFFFFF"/>
                          </a:solidFill>
                          <a:latin typeface="Rajdhani" pitchFamily="34" charset="0"/>
                          <a:ea typeface="Rajdhani" pitchFamily="34" charset="-122"/>
                          <a:cs typeface="Rajdhani" pitchFamily="34" charset="-120"/>
                        </a:rPr>
                        <a:t>10-YR</a:t>
                      </a:r>
                      <a:endParaRPr lang="en-US" sz="12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212121"/>
                    </a:solidFill>
                  </a:tcPr>
                </a:tc>
                <a:tc>
                  <a:txBody>
                    <a:bodyPr/>
                    <a:lstStyle/>
                    <a:p>
                      <a:pPr algn="ctr" indent="0" marL="0">
                        <a:buNone/>
                      </a:pPr>
                      <a:r>
                        <a:rPr lang="en-US" sz="1200" b="1" dirty="0">
                          <a:solidFill>
                            <a:srgbClr val="FFFFFF"/>
                          </a:solidFill>
                          <a:latin typeface="Rajdhani" pitchFamily="34" charset="0"/>
                          <a:ea typeface="Rajdhani" pitchFamily="34" charset="-122"/>
                          <a:cs typeface="Rajdhani" pitchFamily="34" charset="-120"/>
                        </a:rPr>
                        <a:t>ESG RATING</a:t>
                      </a:r>
                      <a:endParaRPr lang="en-US" sz="12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212121"/>
                    </a:solidFill>
                  </a:tcPr>
                </a:tc>
              </a:tr>
              <a:tr h="411480">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MSCI KLD 400 Social Index</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DSI</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24.12%</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12.85%</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13.47%</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AAA</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r>
              <a:tr h="411480">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Potomac ESG Tactical (Net 2.5%)</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ESGTX</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26.38%</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13.92%</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14.15%</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AA</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r>
              <a:tr h="411480">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S&amp;P 500 Total Return</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SPY</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28.47%</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15.34%</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14.82%</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A</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r>
            </a:tbl>
          </a:graphicData>
        </a:graphic>
      </p:graphicFrame>
      <p:sp>
        <p:nvSpPr>
          <p:cNvPr id="7" name="Text 3"/>
          <p:cNvSpPr/>
          <p:nvPr/>
        </p:nvSpPr>
        <p:spPr>
          <a:xfrm>
            <a:off x="365760" y="6446520"/>
            <a:ext cx="11457432" cy="320040"/>
          </a:xfrm>
          <a:prstGeom prst="rect">
            <a:avLst/>
          </a:prstGeom>
          <a:noFill/>
          <a:ln/>
        </p:spPr>
        <p:txBody>
          <a:bodyPr wrap="square" rtlCol="0" anchor="ctr"/>
          <a:lstStyle/>
          <a:p>
            <a:pPr indent="0" marL="0">
              <a:buNone/>
            </a:pPr>
            <a:r>
              <a:rPr lang="en-US" sz="900" i="1" dirty="0">
                <a:solidFill>
                  <a:srgbClr val="737373"/>
                </a:solidFill>
                <a:latin typeface="Quicksand" pitchFamily="34" charset="0"/>
                <a:ea typeface="Quicksand" pitchFamily="34" charset="-122"/>
                <a:cs typeface="Quicksand" pitchFamily="34" charset="-120"/>
              </a:rPr>
              <a:t>For illustrative purposes only. Source: FastTrack as of 12/31/2024.</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EC00F"/>
                </a:solidFill>
                <a:latin typeface="Rajdhani" pitchFamily="34" charset="0"/>
                <a:ea typeface="Rajdhani" pitchFamily="34" charset="-122"/>
                <a:cs typeface="Rajdhani" pitchFamily="34" charset="-120"/>
              </a:rPr>
              <a:t>ESG TACTICAL STRATEGY</a:t>
            </a:r>
            <a:endParaRPr lang="en-US" sz="1100" dirty="0"/>
          </a:p>
        </p:txBody>
      </p:sp>
      <p:pic>
        <p:nvPicPr>
          <p:cNvPr id="3" name="Image 0" descr="C:\Users\SohaibAli\Documents\PresenterByPotomac\app\skills\JSPPTXPotomac\brand-assets\logos\potomac-icon-black.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640080"/>
          </a:xfrm>
          <a:prstGeom prst="rect">
            <a:avLst/>
          </a:prstGeom>
          <a:noFill/>
          <a:ln/>
        </p:spPr>
        <p:txBody>
          <a:bodyPr wrap="square" rtlCol="0" anchor="ctr"/>
          <a:lstStyle/>
          <a:p>
            <a:pPr indent="0" marL="0">
              <a:buNone/>
            </a:pPr>
            <a:r>
              <a:rPr lang="en-US" sz="2600" b="1" dirty="0">
                <a:solidFill>
                  <a:srgbClr val="212121"/>
                </a:solidFill>
                <a:latin typeface="Rajdhani" pitchFamily="34" charset="0"/>
                <a:ea typeface="Rajdhani" pitchFamily="34" charset="-122"/>
                <a:cs typeface="Rajdhani" pitchFamily="34" charset="-120"/>
              </a:rPr>
              <a:t>ESG WITH ENHANCED RISK CONTROL</a:t>
            </a:r>
            <a:endParaRPr lang="en-US" sz="2600" dirty="0"/>
          </a:p>
        </p:txBody>
      </p:sp>
      <p:sp>
        <p:nvSpPr>
          <p:cNvPr id="5" name="Shape 2"/>
          <p:cNvSpPr/>
          <p:nvPr/>
        </p:nvSpPr>
        <p:spPr>
          <a:xfrm>
            <a:off x="365760" y="1188720"/>
            <a:ext cx="1828800" cy="54864"/>
          </a:xfrm>
          <a:prstGeom prst="rect">
            <a:avLst/>
          </a:prstGeom>
          <a:solidFill>
            <a:srgbClr val="FEC00F"/>
          </a:solidFill>
          <a:ln/>
        </p:spPr>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365760" y="1371600"/>
          <a:ext cx="11457432" cy="914400"/>
        </p:xfrm>
        <a:graphic>
          <a:graphicData uri="http://schemas.openxmlformats.org/drawingml/2006/table">
            <a:tbl>
              <a:tblPr/>
              <a:tblGrid>
                <a:gridCol w="1909572"/>
                <a:gridCol w="1909572"/>
                <a:gridCol w="1909572"/>
                <a:gridCol w="1909572"/>
                <a:gridCol w="1909572"/>
                <a:gridCol w="1909572"/>
              </a:tblGrid>
              <a:tr h="411480">
                <a:tc gridSpan="6">
                  <a:txBody>
                    <a:bodyPr/>
                    <a:lstStyle/>
                    <a:p>
                      <a:pPr algn="ctr" indent="0" marL="0">
                        <a:buNone/>
                      </a:pPr>
                      <a:r>
                        <a:rPr lang="en-US" sz="1400" b="1" dirty="0">
                          <a:solidFill>
                            <a:srgbClr val="212121"/>
                          </a:solidFill>
                          <a:latin typeface="Rajdhani" pitchFamily="34" charset="0"/>
                          <a:ea typeface="Rajdhani" pitchFamily="34" charset="-122"/>
                          <a:cs typeface="Rajdhani" pitchFamily="34" charset="-120"/>
                        </a:rPr>
                        <a:t>RISK COMPARISON</a:t>
                      </a:r>
                      <a:endParaRPr lang="en-US" sz="14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EC00F"/>
                    </a:solidFill>
                  </a:tcPr>
                </a:tc>
                <a:tc hMerge="1">
                  <a:tcPr/>
                </a:tc>
                <a:tc hMerge="1">
                  <a:tcPr/>
                </a:tc>
                <a:tc hMerge="1">
                  <a:tcPr/>
                </a:tc>
                <a:tc hMerge="1">
                  <a:tcPr/>
                </a:tc>
                <a:tc hMerge="1">
                  <a:tcPr/>
                </a:tc>
              </a:tr>
              <a:tr h="411480">
                <a:tc>
                  <a:txBody>
                    <a:bodyPr/>
                    <a:lstStyle/>
                    <a:p>
                      <a:pPr algn="ctr" indent="0" marL="0">
                        <a:buNone/>
                      </a:pPr>
                      <a:endParaRPr lang="en-US" sz="12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212121"/>
                    </a:solidFill>
                  </a:tcPr>
                </a:tc>
                <a:tc>
                  <a:txBody>
                    <a:bodyPr/>
                    <a:lstStyle/>
                    <a:p>
                      <a:pPr algn="ctr" indent="0" marL="0">
                        <a:buNone/>
                      </a:pPr>
                      <a:r>
                        <a:rPr lang="en-US" sz="1200" b="1" dirty="0">
                          <a:solidFill>
                            <a:srgbClr val="FFFFFF"/>
                          </a:solidFill>
                          <a:latin typeface="Rajdhani" pitchFamily="34" charset="0"/>
                          <a:ea typeface="Rajdhani" pitchFamily="34" charset="-122"/>
                          <a:cs typeface="Rajdhani" pitchFamily="34" charset="-120"/>
                        </a:rPr>
                        <a:t>1-YR</a:t>
                      </a:r>
                      <a:endParaRPr lang="en-US" sz="12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212121"/>
                    </a:solidFill>
                  </a:tcPr>
                </a:tc>
                <a:tc>
                  <a:txBody>
                    <a:bodyPr/>
                    <a:lstStyle/>
                    <a:p>
                      <a:pPr algn="ctr" indent="0" marL="0">
                        <a:buNone/>
                      </a:pPr>
                      <a:r>
                        <a:rPr lang="en-US" sz="1200" b="1" dirty="0">
                          <a:solidFill>
                            <a:srgbClr val="FFFFFF"/>
                          </a:solidFill>
                          <a:latin typeface="Rajdhani" pitchFamily="34" charset="0"/>
                          <a:ea typeface="Rajdhani" pitchFamily="34" charset="-122"/>
                          <a:cs typeface="Rajdhani" pitchFamily="34" charset="-120"/>
                        </a:rPr>
                        <a:t>5-YR</a:t>
                      </a:r>
                      <a:endParaRPr lang="en-US" sz="12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212121"/>
                    </a:solidFill>
                  </a:tcPr>
                </a:tc>
                <a:tc>
                  <a:txBody>
                    <a:bodyPr/>
                    <a:lstStyle/>
                    <a:p>
                      <a:pPr algn="ctr" indent="0" marL="0">
                        <a:buNone/>
                      </a:pPr>
                      <a:r>
                        <a:rPr lang="en-US" sz="1200" b="1" dirty="0">
                          <a:solidFill>
                            <a:srgbClr val="FFFFFF"/>
                          </a:solidFill>
                          <a:latin typeface="Rajdhani" pitchFamily="34" charset="0"/>
                          <a:ea typeface="Rajdhani" pitchFamily="34" charset="-122"/>
                          <a:cs typeface="Rajdhani" pitchFamily="34" charset="-120"/>
                        </a:rPr>
                        <a:t>10-YR</a:t>
                      </a:r>
                      <a:endParaRPr lang="en-US" sz="12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212121"/>
                    </a:solidFill>
                  </a:tcPr>
                </a:tc>
                <a:tc>
                  <a:txBody>
                    <a:bodyPr/>
                    <a:lstStyle/>
                    <a:p>
                      <a:pPr algn="ctr" indent="0" marL="0">
                        <a:buNone/>
                      </a:pPr>
                      <a:r>
                        <a:rPr lang="en-US" sz="1200" b="1" dirty="0">
                          <a:solidFill>
                            <a:srgbClr val="FFFFFF"/>
                          </a:solidFill>
                          <a:latin typeface="Rajdhani" pitchFamily="34" charset="0"/>
                          <a:ea typeface="Rajdhani" pitchFamily="34" charset="-122"/>
                          <a:cs typeface="Rajdhani" pitchFamily="34" charset="-120"/>
                        </a:rPr>
                        <a:t>MAX DRAWDOWN</a:t>
                      </a:r>
                      <a:endParaRPr lang="en-US" sz="12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212121"/>
                    </a:solidFill>
                  </a:tcPr>
                </a:tc>
                <a:tc>
                  <a:txBody>
                    <a:bodyPr/>
                    <a:lstStyle/>
                    <a:p>
                      <a:pPr algn="ctr" indent="0" marL="0">
                        <a:buNone/>
                      </a:pPr>
                      <a:r>
                        <a:rPr lang="en-US" sz="1200" b="1" dirty="0">
                          <a:solidFill>
                            <a:srgbClr val="FFFFFF"/>
                          </a:solidFill>
                          <a:latin typeface="Rajdhani" pitchFamily="34" charset="0"/>
                          <a:ea typeface="Rajdhani" pitchFamily="34" charset="-122"/>
                          <a:cs typeface="Rajdhani" pitchFamily="34" charset="-120"/>
                        </a:rPr>
                        <a:t>SHARPE RATIO</a:t>
                      </a:r>
                      <a:endParaRPr lang="en-US" sz="12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212121"/>
                    </a:solidFill>
                  </a:tcPr>
                </a:tc>
              </a:tr>
              <a:tr h="411480">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S&amp;P 500 Total Return</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12121"/>
                          </a:solidFill>
                          <a:latin typeface="Rajdhani" pitchFamily="34" charset="0"/>
                          <a:ea typeface="Rajdhani" pitchFamily="34" charset="-122"/>
                          <a:cs typeface="Rajdhani" pitchFamily="34" charset="-120"/>
                        </a:rPr>
                        <a:t>28.47%</a:t>
                      </a:r>
                      <a:endParaRPr lang="en-US" sz="13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12121"/>
                          </a:solidFill>
                          <a:latin typeface="Rajdhani" pitchFamily="34" charset="0"/>
                          <a:ea typeface="Rajdhani" pitchFamily="34" charset="-122"/>
                          <a:cs typeface="Rajdhani" pitchFamily="34" charset="-120"/>
                        </a:rPr>
                        <a:t>15.34%</a:t>
                      </a:r>
                      <a:endParaRPr lang="en-US" sz="13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12121"/>
                          </a:solidFill>
                          <a:latin typeface="Rajdhani" pitchFamily="34" charset="0"/>
                          <a:ea typeface="Rajdhani" pitchFamily="34" charset="-122"/>
                          <a:cs typeface="Rajdhani" pitchFamily="34" charset="-120"/>
                        </a:rPr>
                        <a:t>14.82%</a:t>
                      </a:r>
                      <a:endParaRPr lang="en-US" sz="13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12121"/>
                          </a:solidFill>
                          <a:latin typeface="Rajdhani" pitchFamily="34" charset="0"/>
                          <a:ea typeface="Rajdhani" pitchFamily="34" charset="-122"/>
                          <a:cs typeface="Rajdhani" pitchFamily="34" charset="-120"/>
                        </a:rPr>
                        <a:t>-50.95%</a:t>
                      </a:r>
                      <a:endParaRPr lang="en-US" sz="13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12121"/>
                          </a:solidFill>
                          <a:latin typeface="Rajdhani" pitchFamily="34" charset="0"/>
                          <a:ea typeface="Rajdhani" pitchFamily="34" charset="-122"/>
                          <a:cs typeface="Rajdhani" pitchFamily="34" charset="-120"/>
                        </a:rPr>
                        <a:t>0.89</a:t>
                      </a:r>
                      <a:endParaRPr lang="en-US" sz="13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r>
              <a:tr h="411480">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MSCI KLD 400 Social</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algn="ctr" indent="0" marL="0">
                        <a:buNone/>
                      </a:pPr>
                      <a:r>
                        <a:rPr lang="en-US" sz="1300" b="1" dirty="0">
                          <a:solidFill>
                            <a:srgbClr val="212121"/>
                          </a:solidFill>
                          <a:latin typeface="Rajdhani" pitchFamily="34" charset="0"/>
                          <a:ea typeface="Rajdhani" pitchFamily="34" charset="-122"/>
                          <a:cs typeface="Rajdhani" pitchFamily="34" charset="-120"/>
                        </a:rPr>
                        <a:t>24.12%</a:t>
                      </a:r>
                      <a:endParaRPr lang="en-US" sz="13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algn="ctr" indent="0" marL="0">
                        <a:buNone/>
                      </a:pPr>
                      <a:r>
                        <a:rPr lang="en-US" sz="1300" b="1" dirty="0">
                          <a:solidFill>
                            <a:srgbClr val="212121"/>
                          </a:solidFill>
                          <a:latin typeface="Rajdhani" pitchFamily="34" charset="0"/>
                          <a:ea typeface="Rajdhani" pitchFamily="34" charset="-122"/>
                          <a:cs typeface="Rajdhani" pitchFamily="34" charset="-120"/>
                        </a:rPr>
                        <a:t>12.85%</a:t>
                      </a:r>
                      <a:endParaRPr lang="en-US" sz="13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algn="ctr" indent="0" marL="0">
                        <a:buNone/>
                      </a:pPr>
                      <a:r>
                        <a:rPr lang="en-US" sz="1300" b="1" dirty="0">
                          <a:solidFill>
                            <a:srgbClr val="212121"/>
                          </a:solidFill>
                          <a:latin typeface="Rajdhani" pitchFamily="34" charset="0"/>
                          <a:ea typeface="Rajdhani" pitchFamily="34" charset="-122"/>
                          <a:cs typeface="Rajdhani" pitchFamily="34" charset="-120"/>
                        </a:rPr>
                        <a:t>13.47%</a:t>
                      </a:r>
                      <a:endParaRPr lang="en-US" sz="13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algn="ctr" indent="0" marL="0">
                        <a:buNone/>
                      </a:pPr>
                      <a:r>
                        <a:rPr lang="en-US" sz="1300" b="1" dirty="0">
                          <a:solidFill>
                            <a:srgbClr val="212121"/>
                          </a:solidFill>
                          <a:latin typeface="Rajdhani" pitchFamily="34" charset="0"/>
                          <a:ea typeface="Rajdhani" pitchFamily="34" charset="-122"/>
                          <a:cs typeface="Rajdhani" pitchFamily="34" charset="-120"/>
                        </a:rPr>
                        <a:t>-48.22%</a:t>
                      </a:r>
                      <a:endParaRPr lang="en-US" sz="13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algn="ctr" indent="0" marL="0">
                        <a:buNone/>
                      </a:pPr>
                      <a:r>
                        <a:rPr lang="en-US" sz="1300" b="1" dirty="0">
                          <a:solidFill>
                            <a:srgbClr val="212121"/>
                          </a:solidFill>
                          <a:latin typeface="Rajdhani" pitchFamily="34" charset="0"/>
                          <a:ea typeface="Rajdhani" pitchFamily="34" charset="-122"/>
                          <a:cs typeface="Rajdhani" pitchFamily="34" charset="-120"/>
                        </a:rPr>
                        <a:t>0.76</a:t>
                      </a:r>
                      <a:endParaRPr lang="en-US" sz="13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r>
              <a:tr h="411480">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Potomac ESG Tactical (Net 2.5%)</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12121"/>
                          </a:solidFill>
                          <a:latin typeface="Rajdhani" pitchFamily="34" charset="0"/>
                          <a:ea typeface="Rajdhani" pitchFamily="34" charset="-122"/>
                          <a:cs typeface="Rajdhani" pitchFamily="34" charset="-120"/>
                        </a:rPr>
                        <a:t>26.38%</a:t>
                      </a:r>
                      <a:endParaRPr lang="en-US" sz="13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12121"/>
                          </a:solidFill>
                          <a:latin typeface="Rajdhani" pitchFamily="34" charset="0"/>
                          <a:ea typeface="Rajdhani" pitchFamily="34" charset="-122"/>
                          <a:cs typeface="Rajdhani" pitchFamily="34" charset="-120"/>
                        </a:rPr>
                        <a:t>13.92%</a:t>
                      </a:r>
                      <a:endParaRPr lang="en-US" sz="13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12121"/>
                          </a:solidFill>
                          <a:latin typeface="Rajdhani" pitchFamily="34" charset="0"/>
                          <a:ea typeface="Rajdhani" pitchFamily="34" charset="-122"/>
                          <a:cs typeface="Rajdhani" pitchFamily="34" charset="-120"/>
                        </a:rPr>
                        <a:t>14.15%</a:t>
                      </a:r>
                      <a:endParaRPr lang="en-US" sz="13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12121"/>
                          </a:solidFill>
                          <a:latin typeface="Rajdhani" pitchFamily="34" charset="0"/>
                          <a:ea typeface="Rajdhani" pitchFamily="34" charset="-122"/>
                          <a:cs typeface="Rajdhani" pitchFamily="34" charset="-120"/>
                        </a:rPr>
                        <a:t>-28.45%</a:t>
                      </a:r>
                      <a:endParaRPr lang="en-US" sz="13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12121"/>
                          </a:solidFill>
                          <a:latin typeface="Rajdhani" pitchFamily="34" charset="0"/>
                          <a:ea typeface="Rajdhani" pitchFamily="34" charset="-122"/>
                          <a:cs typeface="Rajdhani" pitchFamily="34" charset="-120"/>
                        </a:rPr>
                        <a:t>0.94</a:t>
                      </a:r>
                      <a:endParaRPr lang="en-US" sz="13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r>
            </a:tbl>
          </a:graphicData>
        </a:graphic>
      </p:graphicFrame>
      <p:sp>
        <p:nvSpPr>
          <p:cNvPr id="7" name="Text 3"/>
          <p:cNvSpPr/>
          <p:nvPr/>
        </p:nvSpPr>
        <p:spPr>
          <a:xfrm>
            <a:off x="365760" y="6355080"/>
            <a:ext cx="11457432" cy="411480"/>
          </a:xfrm>
          <a:prstGeom prst="rect">
            <a:avLst/>
          </a:prstGeom>
          <a:noFill/>
          <a:ln/>
        </p:spPr>
        <p:txBody>
          <a:bodyPr wrap="square" rtlCol="0" anchor="ctr"/>
          <a:lstStyle/>
          <a:p>
            <a:pPr indent="0" marL="0">
              <a:buNone/>
            </a:pPr>
            <a:r>
              <a:rPr lang="en-US" sz="900" i="1" dirty="0">
                <a:solidFill>
                  <a:srgbClr val="737373"/>
                </a:solidFill>
                <a:latin typeface="Quicksand" pitchFamily="34" charset="0"/>
                <a:ea typeface="Quicksand" pitchFamily="34" charset="-122"/>
                <a:cs typeface="Quicksand" pitchFamily="34" charset="-120"/>
              </a:rPr>
              <a:t>For illustrative purposes only. Calculated since common inception (6/1/2010). Source: FastTrack.</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12121"/>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EC00F"/>
                </a:solidFill>
                <a:latin typeface="Rajdhani" pitchFamily="34" charset="0"/>
                <a:ea typeface="Rajdhani" pitchFamily="34" charset="-122"/>
                <a:cs typeface="Rajdhani" pitchFamily="34" charset="-120"/>
              </a:rPr>
              <a:t>ESG TACTICAL STRATEGY</a:t>
            </a:r>
            <a:endParaRPr lang="en-US" sz="1100" dirty="0"/>
          </a:p>
        </p:txBody>
      </p:sp>
      <p:pic>
        <p:nvPicPr>
          <p:cNvPr id="3" name="Image 0" descr="C:\Users\SohaibAli\Documents\PresenterByPotomac\app\skills\JSPPTXPotomac\brand-assets\logos\potomac-icon-white.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640080"/>
          </a:xfrm>
          <a:prstGeom prst="rect">
            <a:avLst/>
          </a:prstGeom>
          <a:noFill/>
          <a:ln/>
        </p:spPr>
        <p:txBody>
          <a:bodyPr wrap="square" rtlCol="0" anchor="ctr"/>
          <a:lstStyle/>
          <a:p>
            <a:pPr indent="0" marL="0">
              <a:buNone/>
            </a:pPr>
            <a:r>
              <a:rPr lang="en-US" sz="2800" b="1" dirty="0">
                <a:solidFill>
                  <a:srgbClr val="FFFFFF"/>
                </a:solidFill>
                <a:latin typeface="Rajdhani" pitchFamily="34" charset="0"/>
                <a:ea typeface="Rajdhani" pitchFamily="34" charset="-122"/>
                <a:cs typeface="Rajdhani" pitchFamily="34" charset="-120"/>
              </a:rPr>
              <a:t>HOW ARE ADVISORS USING ESG TACTICAL?</a:t>
            </a:r>
            <a:endParaRPr lang="en-US" sz="2800" dirty="0"/>
          </a:p>
        </p:txBody>
      </p:sp>
      <p:sp>
        <p:nvSpPr>
          <p:cNvPr id="5" name="Shape 2"/>
          <p:cNvSpPr/>
          <p:nvPr/>
        </p:nvSpPr>
        <p:spPr>
          <a:xfrm>
            <a:off x="365760" y="1554480"/>
            <a:ext cx="2560320" cy="2560320"/>
          </a:xfrm>
          <a:prstGeom prst="ellipse">
            <a:avLst/>
          </a:prstGeom>
          <a:solidFill>
            <a:srgbClr val="212121"/>
          </a:solidFill>
          <a:ln w="38100">
            <a:solidFill>
              <a:srgbClr val="FEC00F"/>
            </a:solidFill>
            <a:prstDash val="solid"/>
          </a:ln>
        </p:spPr>
      </p:sp>
      <p:sp>
        <p:nvSpPr>
          <p:cNvPr id="6" name="Text 3"/>
          <p:cNvSpPr/>
          <p:nvPr/>
        </p:nvSpPr>
        <p:spPr>
          <a:xfrm>
            <a:off x="457200" y="1920240"/>
            <a:ext cx="2377440" cy="502920"/>
          </a:xfrm>
          <a:prstGeom prst="rect">
            <a:avLst/>
          </a:prstGeom>
          <a:noFill/>
          <a:ln/>
        </p:spPr>
        <p:txBody>
          <a:bodyPr wrap="square" rtlCol="0" anchor="ctr"/>
          <a:lstStyle/>
          <a:p>
            <a:pPr algn="ctr" indent="0" marL="0">
              <a:buNone/>
            </a:pPr>
            <a:r>
              <a:rPr lang="en-US" sz="1300" b="1" dirty="0">
                <a:solidFill>
                  <a:srgbClr val="FEC00F"/>
                </a:solidFill>
                <a:latin typeface="Rajdhani" pitchFamily="34" charset="0"/>
                <a:ea typeface="Rajdhani" pitchFamily="34" charset="-122"/>
                <a:cs typeface="Rajdhani" pitchFamily="34" charset="-120"/>
              </a:rPr>
              <a:t>CLIENT VALUES ALIGNMENT</a:t>
            </a:r>
            <a:endParaRPr lang="en-US" sz="1300" dirty="0"/>
          </a:p>
        </p:txBody>
      </p:sp>
      <p:sp>
        <p:nvSpPr>
          <p:cNvPr id="7" name="Text 4"/>
          <p:cNvSpPr/>
          <p:nvPr/>
        </p:nvSpPr>
        <p:spPr>
          <a:xfrm>
            <a:off x="457200" y="2468880"/>
            <a:ext cx="2377440" cy="1280160"/>
          </a:xfrm>
          <a:prstGeom prst="rect">
            <a:avLst/>
          </a:prstGeom>
          <a:noFill/>
          <a:ln/>
        </p:spPr>
        <p:txBody>
          <a:bodyPr wrap="square" rtlCol="0" anchor="ctr"/>
          <a:lstStyle/>
          <a:p>
            <a:pPr algn="ctr" indent="0" marL="0">
              <a:buNone/>
            </a:pPr>
            <a:r>
              <a:rPr lang="en-US" sz="1100" dirty="0">
                <a:solidFill>
                  <a:srgbClr val="FFFFFF"/>
                </a:solidFill>
                <a:latin typeface="Quicksand" pitchFamily="34" charset="0"/>
                <a:ea typeface="Quicksand" pitchFamily="34" charset="-122"/>
                <a:cs typeface="Quicksand" pitchFamily="34" charset="-120"/>
              </a:rPr>
              <a:t>Meeting client demand for sustainable investing without sacrificing performance.</a:t>
            </a:r>
            <a:endParaRPr lang="en-US" sz="1100" dirty="0"/>
          </a:p>
        </p:txBody>
      </p:sp>
      <p:sp>
        <p:nvSpPr>
          <p:cNvPr id="8" name="Shape 5"/>
          <p:cNvSpPr/>
          <p:nvPr/>
        </p:nvSpPr>
        <p:spPr>
          <a:xfrm>
            <a:off x="3331464" y="1554480"/>
            <a:ext cx="2560320" cy="2560320"/>
          </a:xfrm>
          <a:prstGeom prst="ellipse">
            <a:avLst/>
          </a:prstGeom>
          <a:solidFill>
            <a:srgbClr val="212121"/>
          </a:solidFill>
          <a:ln w="38100">
            <a:solidFill>
              <a:srgbClr val="FEC00F"/>
            </a:solidFill>
            <a:prstDash val="solid"/>
          </a:ln>
        </p:spPr>
      </p:sp>
      <p:sp>
        <p:nvSpPr>
          <p:cNvPr id="9" name="Text 6"/>
          <p:cNvSpPr/>
          <p:nvPr/>
        </p:nvSpPr>
        <p:spPr>
          <a:xfrm>
            <a:off x="3422904" y="1920240"/>
            <a:ext cx="2377440" cy="502920"/>
          </a:xfrm>
          <a:prstGeom prst="rect">
            <a:avLst/>
          </a:prstGeom>
          <a:noFill/>
          <a:ln/>
        </p:spPr>
        <p:txBody>
          <a:bodyPr wrap="square" rtlCol="0" anchor="ctr"/>
          <a:lstStyle/>
          <a:p>
            <a:pPr algn="ctr" indent="0" marL="0">
              <a:buNone/>
            </a:pPr>
            <a:r>
              <a:rPr lang="en-US" sz="1300" b="1" dirty="0">
                <a:solidFill>
                  <a:srgbClr val="FEC00F"/>
                </a:solidFill>
                <a:latin typeface="Rajdhani" pitchFamily="34" charset="0"/>
                <a:ea typeface="Rajdhani" pitchFamily="34" charset="-122"/>
                <a:cs typeface="Rajdhani" pitchFamily="34" charset="-120"/>
              </a:rPr>
              <a:t>CORE ESG ALLOCATION</a:t>
            </a:r>
            <a:endParaRPr lang="en-US" sz="1300" dirty="0"/>
          </a:p>
        </p:txBody>
      </p:sp>
      <p:sp>
        <p:nvSpPr>
          <p:cNvPr id="10" name="Text 7"/>
          <p:cNvSpPr/>
          <p:nvPr/>
        </p:nvSpPr>
        <p:spPr>
          <a:xfrm>
            <a:off x="3422904" y="2468880"/>
            <a:ext cx="2377440" cy="1280160"/>
          </a:xfrm>
          <a:prstGeom prst="rect">
            <a:avLst/>
          </a:prstGeom>
          <a:noFill/>
          <a:ln/>
        </p:spPr>
        <p:txBody>
          <a:bodyPr wrap="square" rtlCol="0" anchor="ctr"/>
          <a:lstStyle/>
          <a:p>
            <a:pPr algn="ctr" indent="0" marL="0">
              <a:buNone/>
            </a:pPr>
            <a:r>
              <a:rPr lang="en-US" sz="1100" dirty="0">
                <a:solidFill>
                  <a:srgbClr val="FFFFFF"/>
                </a:solidFill>
                <a:latin typeface="Quicksand" pitchFamily="34" charset="0"/>
                <a:ea typeface="Quicksand" pitchFamily="34" charset="-122"/>
                <a:cs typeface="Quicksand" pitchFamily="34" charset="-120"/>
              </a:rPr>
              <a:t>Primary ESG holding with enhanced risk management for institutional portfolios.</a:t>
            </a:r>
            <a:endParaRPr lang="en-US" sz="1100" dirty="0"/>
          </a:p>
        </p:txBody>
      </p:sp>
      <p:sp>
        <p:nvSpPr>
          <p:cNvPr id="11" name="Shape 8"/>
          <p:cNvSpPr/>
          <p:nvPr/>
        </p:nvSpPr>
        <p:spPr>
          <a:xfrm>
            <a:off x="6297168" y="1554480"/>
            <a:ext cx="2560320" cy="2560320"/>
          </a:xfrm>
          <a:prstGeom prst="ellipse">
            <a:avLst/>
          </a:prstGeom>
          <a:solidFill>
            <a:srgbClr val="212121"/>
          </a:solidFill>
          <a:ln w="38100">
            <a:solidFill>
              <a:srgbClr val="FEC00F"/>
            </a:solidFill>
            <a:prstDash val="solid"/>
          </a:ln>
        </p:spPr>
      </p:sp>
      <p:sp>
        <p:nvSpPr>
          <p:cNvPr id="12" name="Text 9"/>
          <p:cNvSpPr/>
          <p:nvPr/>
        </p:nvSpPr>
        <p:spPr>
          <a:xfrm>
            <a:off x="6388608" y="1920240"/>
            <a:ext cx="2377440" cy="502920"/>
          </a:xfrm>
          <a:prstGeom prst="rect">
            <a:avLst/>
          </a:prstGeom>
          <a:noFill/>
          <a:ln/>
        </p:spPr>
        <p:txBody>
          <a:bodyPr wrap="square" rtlCol="0" anchor="ctr"/>
          <a:lstStyle/>
          <a:p>
            <a:pPr algn="ctr" indent="0" marL="0">
              <a:buNone/>
            </a:pPr>
            <a:r>
              <a:rPr lang="en-US" sz="1300" b="1" dirty="0">
                <a:solidFill>
                  <a:srgbClr val="FEC00F"/>
                </a:solidFill>
                <a:latin typeface="Rajdhani" pitchFamily="34" charset="0"/>
                <a:ea typeface="Rajdhani" pitchFamily="34" charset="-122"/>
                <a:cs typeface="Rajdhani" pitchFamily="34" charset="-120"/>
              </a:rPr>
              <a:t>NEXTGEN WEALTH TRANSFER</a:t>
            </a:r>
            <a:endParaRPr lang="en-US" sz="1300" dirty="0"/>
          </a:p>
        </p:txBody>
      </p:sp>
      <p:sp>
        <p:nvSpPr>
          <p:cNvPr id="13" name="Text 10"/>
          <p:cNvSpPr/>
          <p:nvPr/>
        </p:nvSpPr>
        <p:spPr>
          <a:xfrm>
            <a:off x="6388608" y="2468880"/>
            <a:ext cx="2377440" cy="1280160"/>
          </a:xfrm>
          <a:prstGeom prst="rect">
            <a:avLst/>
          </a:prstGeom>
          <a:noFill/>
          <a:ln/>
        </p:spPr>
        <p:txBody>
          <a:bodyPr wrap="square" rtlCol="0" anchor="ctr"/>
          <a:lstStyle/>
          <a:p>
            <a:pPr algn="ctr" indent="0" marL="0">
              <a:buNone/>
            </a:pPr>
            <a:r>
              <a:rPr lang="en-US" sz="1100" dirty="0">
                <a:solidFill>
                  <a:srgbClr val="FFFFFF"/>
                </a:solidFill>
                <a:latin typeface="Quicksand" pitchFamily="34" charset="0"/>
                <a:ea typeface="Quicksand" pitchFamily="34" charset="-122"/>
                <a:cs typeface="Quicksand" pitchFamily="34" charset="-120"/>
              </a:rPr>
              <a:t>Appealing to younger investors who prioritize environmental and social impact.</a:t>
            </a:r>
            <a:endParaRPr lang="en-US" sz="1100" dirty="0"/>
          </a:p>
        </p:txBody>
      </p:sp>
      <p:sp>
        <p:nvSpPr>
          <p:cNvPr id="14" name="Shape 11"/>
          <p:cNvSpPr/>
          <p:nvPr/>
        </p:nvSpPr>
        <p:spPr>
          <a:xfrm>
            <a:off x="9262872" y="1554480"/>
            <a:ext cx="2560320" cy="2560320"/>
          </a:xfrm>
          <a:prstGeom prst="ellipse">
            <a:avLst/>
          </a:prstGeom>
          <a:solidFill>
            <a:srgbClr val="212121"/>
          </a:solidFill>
          <a:ln w="38100">
            <a:solidFill>
              <a:srgbClr val="FEC00F"/>
            </a:solidFill>
            <a:prstDash val="solid"/>
          </a:ln>
        </p:spPr>
      </p:sp>
      <p:sp>
        <p:nvSpPr>
          <p:cNvPr id="15" name="Text 12"/>
          <p:cNvSpPr/>
          <p:nvPr/>
        </p:nvSpPr>
        <p:spPr>
          <a:xfrm>
            <a:off x="9354312" y="1920240"/>
            <a:ext cx="2377440" cy="502920"/>
          </a:xfrm>
          <a:prstGeom prst="rect">
            <a:avLst/>
          </a:prstGeom>
          <a:noFill/>
          <a:ln/>
        </p:spPr>
        <p:txBody>
          <a:bodyPr wrap="square" rtlCol="0" anchor="ctr"/>
          <a:lstStyle/>
          <a:p>
            <a:pPr algn="ctr" indent="0" marL="0">
              <a:buNone/>
            </a:pPr>
            <a:r>
              <a:rPr lang="en-US" sz="1300" b="1" dirty="0">
                <a:solidFill>
                  <a:srgbClr val="FEC00F"/>
                </a:solidFill>
                <a:latin typeface="Rajdhani" pitchFamily="34" charset="0"/>
                <a:ea typeface="Rajdhani" pitchFamily="34" charset="-122"/>
                <a:cs typeface="Rajdhani" pitchFamily="34" charset="-120"/>
              </a:rPr>
              <a:t>ESG PLUS ALPHA</a:t>
            </a:r>
            <a:endParaRPr lang="en-US" sz="1300" dirty="0"/>
          </a:p>
        </p:txBody>
      </p:sp>
      <p:sp>
        <p:nvSpPr>
          <p:cNvPr id="16" name="Text 13"/>
          <p:cNvSpPr/>
          <p:nvPr/>
        </p:nvSpPr>
        <p:spPr>
          <a:xfrm>
            <a:off x="9354312" y="2468880"/>
            <a:ext cx="2377440" cy="1280160"/>
          </a:xfrm>
          <a:prstGeom prst="rect">
            <a:avLst/>
          </a:prstGeom>
          <a:noFill/>
          <a:ln/>
        </p:spPr>
        <p:txBody>
          <a:bodyPr wrap="square" rtlCol="0" anchor="ctr"/>
          <a:lstStyle/>
          <a:p>
            <a:pPr algn="ctr" indent="0" marL="0">
              <a:buNone/>
            </a:pPr>
            <a:r>
              <a:rPr lang="en-US" sz="1100" dirty="0">
                <a:solidFill>
                  <a:srgbClr val="FFFFFF"/>
                </a:solidFill>
                <a:latin typeface="Quicksand" pitchFamily="34" charset="0"/>
                <a:ea typeface="Quicksand" pitchFamily="34" charset="-122"/>
                <a:cs typeface="Quicksand" pitchFamily="34" charset="-120"/>
              </a:rPr>
              <a:t>Replacing passive ESG funds with tactical approach for improved risk-adjusted returns.</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12121"/>
        </a:solidFill>
      </p:bgPr>
    </p:bg>
    <p:spTree>
      <p:nvGrpSpPr>
        <p:cNvPr id="1" name=""/>
        <p:cNvGrpSpPr/>
        <p:nvPr/>
      </p:nvGrpSpPr>
      <p:grpSpPr>
        <a:xfrm>
          <a:off x="0" y="0"/>
          <a:ext cx="0" cy="0"/>
          <a:chOff x="0" y="0"/>
          <a:chExt cx="0" cy="0"/>
        </a:xfrm>
      </p:grpSpPr>
      <p:pic>
        <p:nvPicPr>
          <p:cNvPr id="2" name="Image 0" descr="C:\Users\SohaibAli\Documents\PresenterByPotomac\app\skills\JSPPTXPotomac\brand-assets\logos\potomac-full-logo.png">    </p:cNvPr>
          <p:cNvPicPr>
            <a:picLocks noChangeAspect="1"/>
          </p:cNvPicPr>
          <p:nvPr/>
        </p:nvPicPr>
        <p:blipFill>
          <a:blip r:embed="rId1"/>
          <a:srcRect l="0" r="0" t="0" b="0"/>
          <a:stretch/>
        </p:blipFill>
        <p:spPr>
          <a:xfrm>
            <a:off x="365760" y="228600"/>
            <a:ext cx="1828800" cy="594360"/>
          </a:xfrm>
          <a:prstGeom prst="rect">
            <a:avLst/>
          </a:prstGeom>
        </p:spPr>
      </p:pic>
      <p:sp>
        <p:nvSpPr>
          <p:cNvPr id="3" name="Text 0"/>
          <p:cNvSpPr/>
          <p:nvPr/>
        </p:nvSpPr>
        <p:spPr>
          <a:xfrm>
            <a:off x="365760" y="2286000"/>
            <a:ext cx="11457432" cy="1371600"/>
          </a:xfrm>
          <a:prstGeom prst="rect">
            <a:avLst/>
          </a:prstGeom>
          <a:noFill/>
          <a:ln/>
        </p:spPr>
        <p:txBody>
          <a:bodyPr wrap="square" rtlCol="0" anchor="ctr"/>
          <a:lstStyle/>
          <a:p>
            <a:pPr algn="ctr" indent="0" marL="0">
              <a:buNone/>
            </a:pPr>
            <a:r>
              <a:rPr lang="en-US" sz="6000" b="1" dirty="0">
                <a:solidFill>
                  <a:srgbClr val="FFFFFF"/>
                </a:solidFill>
                <a:latin typeface="Rajdhani" pitchFamily="34" charset="0"/>
                <a:ea typeface="Rajdhani" pitchFamily="34" charset="-122"/>
                <a:cs typeface="Rajdhani" pitchFamily="34" charset="-120"/>
              </a:rPr>
              <a:t>THANK YOU!</a:t>
            </a:r>
            <a:endParaRPr lang="en-US" sz="6000" dirty="0"/>
          </a:p>
        </p:txBody>
      </p:sp>
      <p:sp>
        <p:nvSpPr>
          <p:cNvPr id="4" name="Text 1"/>
          <p:cNvSpPr/>
          <p:nvPr/>
        </p:nvSpPr>
        <p:spPr>
          <a:xfrm>
            <a:off x="365760" y="3840480"/>
            <a:ext cx="11457432" cy="548640"/>
          </a:xfrm>
          <a:prstGeom prst="rect">
            <a:avLst/>
          </a:prstGeom>
          <a:noFill/>
          <a:ln/>
        </p:spPr>
        <p:txBody>
          <a:bodyPr wrap="square" rtlCol="0" anchor="ctr"/>
          <a:lstStyle/>
          <a:p>
            <a:pPr algn="ctr" indent="0" marL="0">
              <a:buNone/>
            </a:pPr>
            <a:r>
              <a:rPr lang="en-US" sz="1600" i="1" dirty="0">
                <a:solidFill>
                  <a:srgbClr val="FEC00F"/>
                </a:solidFill>
                <a:latin typeface="Quicksand" pitchFamily="34" charset="0"/>
                <a:ea typeface="Quicksand" pitchFamily="34" charset="-122"/>
                <a:cs typeface="Quicksand" pitchFamily="34" charset="-120"/>
              </a:rPr>
              <a:t>We have a team of regional consultants ready to help.</a:t>
            </a:r>
            <a:endParaRPr lang="en-US" sz="1600" dirty="0"/>
          </a:p>
        </p:txBody>
      </p:sp>
      <p:sp>
        <p:nvSpPr>
          <p:cNvPr id="5" name="Text 2"/>
          <p:cNvSpPr/>
          <p:nvPr/>
        </p:nvSpPr>
        <p:spPr>
          <a:xfrm>
            <a:off x="365760" y="4754880"/>
            <a:ext cx="11457432" cy="365760"/>
          </a:xfrm>
          <a:prstGeom prst="rect">
            <a:avLst/>
          </a:prstGeom>
          <a:noFill/>
          <a:ln/>
        </p:spPr>
        <p:txBody>
          <a:bodyPr wrap="square" rtlCol="0" anchor="ctr"/>
          <a:lstStyle/>
          <a:p>
            <a:pPr algn="ctr" indent="0" marL="0">
              <a:buNone/>
            </a:pPr>
            <a:r>
              <a:rPr lang="en-US" sz="1400" u="sng" dirty="0">
                <a:solidFill>
                  <a:srgbClr val="FFFFFF"/>
                </a:solidFill>
                <a:latin typeface="Quicksand" pitchFamily="34" charset="0"/>
                <a:ea typeface="Quicksand" pitchFamily="34" charset="-122"/>
                <a:cs typeface="Quicksand" pitchFamily="34" charset="-120"/>
                <a:hlinkClick r:id="rId2" invalidUrl="" action="" tgtFrame="" tooltip="" history="1" highlightClick="0" endSnd="0">
                  <a:extLst>
                    <a:ext uri="{A12FA001-AC4F-418D-AE19-62706E023703}">
                      <ahyp:hlinkClr xmlns:ahyp="http://schemas.microsoft.com/office/drawing/2018/hyperlinkcolor" val="tx"/>
                    </a:ext>
                  </a:extLst>
                </a:hlinkClick>
              </a:rPr>
              <a:t>potomac.com</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212121"/>
        </a:solidFill>
      </p:bgPr>
    </p:bg>
    <p:spTree>
      <p:nvGrpSpPr>
        <p:cNvPr id="1" name=""/>
        <p:cNvGrpSpPr/>
        <p:nvPr/>
      </p:nvGrpSpPr>
      <p:grpSpPr>
        <a:xfrm>
          <a:off x="0" y="0"/>
          <a:ext cx="0" cy="0"/>
          <a:chOff x="0" y="0"/>
          <a:chExt cx="0" cy="0"/>
        </a:xfrm>
      </p:grpSpPr>
      <p:pic>
        <p:nvPicPr>
          <p:cNvPr id="2" name="Image 0" descr="C:\Users\SohaibAli\Documents\PresenterByPotomac\app\skills\JSPPTXPotomac\brand-assets\logos\potomac-icon-white.png">    </p:cNvPr>
          <p:cNvPicPr>
            <a:picLocks noChangeAspect="1"/>
          </p:cNvPicPr>
          <p:nvPr/>
        </p:nvPicPr>
        <p:blipFill>
          <a:blip r:embed="rId1"/>
          <a:srcRect l="0" r="0" t="0" b="0"/>
          <a:stretch/>
        </p:blipFill>
        <p:spPr>
          <a:xfrm>
            <a:off x="11274552" y="137160"/>
            <a:ext cx="640080" cy="640080"/>
          </a:xfrm>
          <a:prstGeom prst="rect">
            <a:avLst/>
          </a:prstGeom>
        </p:spPr>
      </p:pic>
      <p:sp>
        <p:nvSpPr>
          <p:cNvPr id="3" name="Text 0"/>
          <p:cNvSpPr/>
          <p:nvPr/>
        </p:nvSpPr>
        <p:spPr>
          <a:xfrm>
            <a:off x="365760" y="228600"/>
            <a:ext cx="10817352" cy="502920"/>
          </a:xfrm>
          <a:prstGeom prst="rect">
            <a:avLst/>
          </a:prstGeom>
          <a:noFill/>
          <a:ln/>
        </p:spPr>
        <p:txBody>
          <a:bodyPr wrap="square" rtlCol="0" anchor="ctr"/>
          <a:lstStyle/>
          <a:p>
            <a:pPr indent="0" marL="0">
              <a:buNone/>
            </a:pPr>
            <a:r>
              <a:rPr lang="en-US" sz="2200" b="1" dirty="0">
                <a:solidFill>
                  <a:srgbClr val="FEC00F"/>
                </a:solidFill>
                <a:latin typeface="Rajdhani" pitchFamily="34" charset="0"/>
                <a:ea typeface="Rajdhani" pitchFamily="34" charset="-122"/>
                <a:cs typeface="Rajdhani" pitchFamily="34" charset="-120"/>
              </a:rPr>
              <a:t>DISCLOSURES</a:t>
            </a:r>
            <a:endParaRPr lang="en-US" sz="2200" dirty="0"/>
          </a:p>
        </p:txBody>
      </p:sp>
      <p:sp>
        <p:nvSpPr>
          <p:cNvPr id="4" name="Text 1"/>
          <p:cNvSpPr/>
          <p:nvPr/>
        </p:nvSpPr>
        <p:spPr>
          <a:xfrm>
            <a:off x="365760" y="822960"/>
            <a:ext cx="11457432" cy="5852160"/>
          </a:xfrm>
          <a:prstGeom prst="rect">
            <a:avLst/>
          </a:prstGeom>
          <a:noFill/>
          <a:ln/>
        </p:spPr>
        <p:txBody>
          <a:bodyPr wrap="square" rtlCol="0" anchor="ctr"/>
          <a:lstStyle/>
          <a:p>
            <a:pPr indent="0" marL="0">
              <a:lnSpc>
                <a:spcPct val="110000"/>
              </a:lnSpc>
              <a:buNone/>
            </a:pPr>
            <a:r>
              <a:rPr lang="en-US" sz="950" dirty="0">
                <a:solidFill>
                  <a:srgbClr val="FFFFFF"/>
                </a:solidFill>
                <a:latin typeface="Quicksand" pitchFamily="34" charset="0"/>
                <a:ea typeface="Quicksand" pitchFamily="34" charset="-122"/>
                <a:cs typeface="Quicksand" pitchFamily="34" charset="-120"/>
              </a:rPr>
              <a:t>Potomac is a registered investment adviser. Registration with the SEC does not imply a certain level of skill or training. The information presented herein is for informational and educational purposes only and is not intended as investment advice. Past performance does not guarantee future results. All investing involves risk, including possible loss of principal. The strategies described may not be suitable for all investors.</a:t>
            </a:r>
            <a:endParaRPr lang="en-US" sz="950" dirty="0"/>
          </a:p>
          <a:p>
            <a:pPr indent="0" marL="0">
              <a:lnSpc>
                <a:spcPct val="110000"/>
              </a:lnSpc>
              <a:buNone/>
            </a:pPr>
            <a:endParaRPr lang="en-US" sz="950" dirty="0"/>
          </a:p>
          <a:p>
            <a:pPr indent="0" marL="0">
              <a:lnSpc>
                <a:spcPct val="110000"/>
              </a:lnSpc>
              <a:buNone/>
            </a:pPr>
            <a:r>
              <a:rPr lang="en-US" sz="950" dirty="0">
                <a:solidFill>
                  <a:srgbClr val="FFFFFF"/>
                </a:solidFill>
                <a:latin typeface="Quicksand" pitchFamily="34" charset="0"/>
                <a:ea typeface="Quicksand" pitchFamily="34" charset="-122"/>
                <a:cs typeface="Quicksand" pitchFamily="34" charset="-120"/>
              </a:rPr>
              <a:t>Indices referenced are unmanaged and cannot be invested in directly. The S&amp;P 500 Index is a market-capitalization-weighted index of 500 leading publicly traded companies in the U.S.</a:t>
            </a:r>
            <a:endParaRPr lang="en-US" sz="950" dirty="0"/>
          </a:p>
          <a:p>
            <a:pPr indent="0" marL="0">
              <a:lnSpc>
                <a:spcPct val="110000"/>
              </a:lnSpc>
              <a:buNone/>
            </a:pPr>
            <a:endParaRPr lang="en-US" sz="950" dirty="0"/>
          </a:p>
          <a:p>
            <a:pPr indent="0" marL="0">
              <a:lnSpc>
                <a:spcPct val="110000"/>
              </a:lnSpc>
              <a:buNone/>
            </a:pPr>
            <a:r>
              <a:rPr lang="en-US" sz="950" dirty="0">
                <a:solidFill>
                  <a:srgbClr val="FFFFFF"/>
                </a:solidFill>
                <a:latin typeface="Quicksand" pitchFamily="34" charset="0"/>
                <a:ea typeface="Quicksand" pitchFamily="34" charset="-122"/>
                <a:cs typeface="Quicksand" pitchFamily="34" charset="-120"/>
              </a:rPr>
              <a:t>Please refer to Potomac's Form ADV Part 2A for additional information about our services, fees, and risks. A copy is available at www.adviserinfo.sec.gov or by contacting us at info@potomac.com.</a:t>
            </a:r>
            <a:endParaRPr lang="en-US" sz="950" dirty="0"/>
          </a:p>
          <a:p>
            <a:pPr indent="0" marL="0">
              <a:lnSpc>
                <a:spcPct val="110000"/>
              </a:lnSpc>
              <a:buNone/>
            </a:pPr>
            <a:endParaRPr lang="en-US" sz="950" dirty="0"/>
          </a:p>
          <a:p>
            <a:pPr indent="0" marL="0">
              <a:lnSpc>
                <a:spcPct val="110000"/>
              </a:lnSpc>
              <a:buNone/>
            </a:pPr>
            <a:r>
              <a:rPr lang="en-US" sz="950" dirty="0">
                <a:solidFill>
                  <a:srgbClr val="FFFFFF"/>
                </a:solidFill>
                <a:latin typeface="Quicksand" pitchFamily="34" charset="0"/>
                <a:ea typeface="Quicksand" pitchFamily="34" charset="-122"/>
                <a:cs typeface="Quicksand" pitchFamily="34" charset="-120"/>
              </a:rPr>
              <a:t>PFM-508-20260221</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212121"/>
        </a:solidFill>
      </p:bgPr>
    </p:bg>
    <p:spTree>
      <p:nvGrpSpPr>
        <p:cNvPr id="1" name=""/>
        <p:cNvGrpSpPr/>
        <p:nvPr/>
      </p:nvGrpSpPr>
      <p:grpSpPr>
        <a:xfrm>
          <a:off x="0" y="0"/>
          <a:ext cx="0" cy="0"/>
          <a:chOff x="0" y="0"/>
          <a:chExt cx="0" cy="0"/>
        </a:xfrm>
      </p:grpSpPr>
      <p:pic>
        <p:nvPicPr>
          <p:cNvPr id="2" name="Image 0" descr="C:\Users\SohaibAli\Documents\PresenterByPotomac\app\skills\JSPPTXPotomac\brand-assets\logos\potomac-icon-white.png">    </p:cNvPr>
          <p:cNvPicPr>
            <a:picLocks noChangeAspect="1"/>
          </p:cNvPicPr>
          <p:nvPr/>
        </p:nvPicPr>
        <p:blipFill>
          <a:blip r:embed="rId1"/>
          <a:srcRect l="0" r="0" t="0" b="0"/>
          <a:stretch/>
        </p:blipFill>
        <p:spPr>
          <a:xfrm>
            <a:off x="11274552" y="137160"/>
            <a:ext cx="640080" cy="640080"/>
          </a:xfrm>
          <a:prstGeom prst="rect">
            <a:avLst/>
          </a:prstGeom>
        </p:spPr>
      </p:pic>
      <p:sp>
        <p:nvSpPr>
          <p:cNvPr id="3" name="Text 0"/>
          <p:cNvSpPr/>
          <p:nvPr/>
        </p:nvSpPr>
        <p:spPr>
          <a:xfrm>
            <a:off x="365760" y="228600"/>
            <a:ext cx="10817352" cy="502920"/>
          </a:xfrm>
          <a:prstGeom prst="rect">
            <a:avLst/>
          </a:prstGeom>
          <a:noFill/>
          <a:ln/>
        </p:spPr>
        <p:txBody>
          <a:bodyPr wrap="square" rtlCol="0" anchor="ctr"/>
          <a:lstStyle/>
          <a:p>
            <a:pPr indent="0" marL="0">
              <a:buNone/>
            </a:pPr>
            <a:r>
              <a:rPr lang="en-US" sz="1800" b="1" dirty="0">
                <a:solidFill>
                  <a:srgbClr val="FEC00F"/>
                </a:solidFill>
                <a:latin typeface="Rajdhani" pitchFamily="34" charset="0"/>
                <a:ea typeface="Rajdhani" pitchFamily="34" charset="-122"/>
                <a:cs typeface="Rajdhani" pitchFamily="34" charset="-120"/>
              </a:rPr>
              <a:t>IMPORTANT DEFINITIONS USED IN THIS REPORT</a:t>
            </a:r>
            <a:endParaRPr lang="en-US" sz="1800" dirty="0"/>
          </a:p>
        </p:txBody>
      </p:sp>
      <p:sp>
        <p:nvSpPr>
          <p:cNvPr id="4" name="Text 1"/>
          <p:cNvSpPr/>
          <p:nvPr/>
        </p:nvSpPr>
        <p:spPr>
          <a:xfrm>
            <a:off x="365760" y="868680"/>
            <a:ext cx="11457432" cy="5852160"/>
          </a:xfrm>
          <a:prstGeom prst="rect">
            <a:avLst/>
          </a:prstGeom>
          <a:noFill/>
          <a:ln/>
        </p:spPr>
        <p:txBody>
          <a:bodyPr wrap="square" rtlCol="0" anchor="ctr"/>
          <a:lstStyle/>
          <a:p>
            <a:pPr indent="0" marL="0">
              <a:lnSpc>
                <a:spcPct val="130000"/>
              </a:lnSpc>
              <a:buNone/>
            </a:pPr>
            <a:r>
              <a:rPr lang="en-US" sz="1100" dirty="0">
                <a:solidFill>
                  <a:srgbClr val="FFFFFF"/>
                </a:solidFill>
                <a:latin typeface="Quicksand" pitchFamily="34" charset="0"/>
                <a:ea typeface="Quicksand" pitchFamily="34" charset="-122"/>
                <a:cs typeface="Quicksand" pitchFamily="34" charset="-120"/>
              </a:rPr>
              <a:t>ESG: Environmental, Social, and Governance factors used to evaluate corporate responsibility and sustainable business practices.</a:t>
            </a:r>
            <a:endParaRPr lang="en-US" sz="1100" dirty="0"/>
          </a:p>
          <a:p>
            <a:pPr indent="0" marL="0">
              <a:lnSpc>
                <a:spcPct val="130000"/>
              </a:lnSpc>
              <a:buNone/>
            </a:pPr>
            <a:endParaRPr lang="en-US" sz="1100" dirty="0"/>
          </a:p>
          <a:p>
            <a:pPr indent="0" marL="0">
              <a:lnSpc>
                <a:spcPct val="130000"/>
              </a:lnSpc>
              <a:buNone/>
            </a:pPr>
            <a:r>
              <a:rPr lang="en-US" sz="1100" dirty="0">
                <a:solidFill>
                  <a:srgbClr val="FFFFFF"/>
                </a:solidFill>
                <a:latin typeface="Quicksand" pitchFamily="34" charset="0"/>
                <a:ea typeface="Quicksand" pitchFamily="34" charset="-122"/>
                <a:cs typeface="Quicksand" pitchFamily="34" charset="-120"/>
              </a:rPr>
              <a:t>MSCI KLD 400 Social Index: A capitalization-weighted index of 400 US securities that provides exposure to companies with outstanding ESG ratings relative to their sector peers.</a:t>
            </a:r>
            <a:endParaRPr lang="en-US" sz="1100" dirty="0"/>
          </a:p>
          <a:p>
            <a:pPr indent="0" marL="0">
              <a:lnSpc>
                <a:spcPct val="130000"/>
              </a:lnSpc>
              <a:buNone/>
            </a:pPr>
            <a:endParaRPr lang="en-US" sz="1100" dirty="0"/>
          </a:p>
          <a:p>
            <a:pPr indent="0" marL="0">
              <a:lnSpc>
                <a:spcPct val="130000"/>
              </a:lnSpc>
              <a:buNone/>
            </a:pPr>
            <a:r>
              <a:rPr lang="en-US" sz="1100" dirty="0">
                <a:solidFill>
                  <a:srgbClr val="FFFFFF"/>
                </a:solidFill>
                <a:latin typeface="Quicksand" pitchFamily="34" charset="0"/>
                <a:ea typeface="Quicksand" pitchFamily="34" charset="-122"/>
                <a:cs typeface="Quicksand" pitchFamily="34" charset="-120"/>
              </a:rPr>
              <a:t>Sharpe Ratio: A measure of risk-adjusted return calculated as the excess return per unit of deviation in an investment asset or trading strategy.</a:t>
            </a:r>
            <a:endParaRPr lang="en-US" sz="1100" dirty="0"/>
          </a:p>
          <a:p>
            <a:pPr indent="0" marL="0">
              <a:lnSpc>
                <a:spcPct val="130000"/>
              </a:lnSpc>
              <a:buNone/>
            </a:pPr>
            <a:endParaRPr lang="en-US" sz="1100" dirty="0"/>
          </a:p>
          <a:p>
            <a:pPr indent="0" marL="0">
              <a:lnSpc>
                <a:spcPct val="130000"/>
              </a:lnSpc>
              <a:buNone/>
            </a:pPr>
            <a:r>
              <a:rPr lang="en-US" sz="1100" dirty="0">
                <a:solidFill>
                  <a:srgbClr val="FFFFFF"/>
                </a:solidFill>
                <a:latin typeface="Quicksand" pitchFamily="34" charset="0"/>
                <a:ea typeface="Quicksand" pitchFamily="34" charset="-122"/>
                <a:cs typeface="Quicksand" pitchFamily="34" charset="-120"/>
              </a:rPr>
              <a:t>Maximum Drawdown: The maximum observed loss from a peak to a trough of a portfolio, before a new peak is attained.</a:t>
            </a:r>
            <a:endParaRPr lang="en-US" sz="1100" dirty="0"/>
          </a:p>
          <a:p>
            <a:pPr indent="0" marL="0">
              <a:lnSpc>
                <a:spcPct val="130000"/>
              </a:lnSpc>
              <a:buNone/>
            </a:pPr>
            <a:endParaRPr lang="en-US" sz="1100" dirty="0"/>
          </a:p>
          <a:p>
            <a:pPr indent="0" marL="0">
              <a:lnSpc>
                <a:spcPct val="130000"/>
              </a:lnSpc>
              <a:buNone/>
            </a:pPr>
            <a:r>
              <a:rPr lang="en-US" sz="1100" dirty="0">
                <a:solidFill>
                  <a:srgbClr val="FFFFFF"/>
                </a:solidFill>
                <a:latin typeface="Quicksand" pitchFamily="34" charset="0"/>
                <a:ea typeface="Quicksand" pitchFamily="34" charset="-122"/>
                <a:cs typeface="Quicksand" pitchFamily="34" charset="-120"/>
              </a:rPr>
              <a:t>Alpha: A measure of an investment's performance on a risk-adjusted basis, representing the excess return relative to a benchmark index.</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Potomac Fund Management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ESG TACTICAL STRATEGY</dc:title>
  <dc:subject>Investment Strategy Presentation</dc:subject>
  <dc:creator>Potomac Fund Management</dc:creator>
  <cp:lastModifiedBy>Potomac Fund Management</cp:lastModifiedBy>
  <cp:revision>1</cp:revision>
  <dcterms:created xsi:type="dcterms:W3CDTF">2026-02-21T15:56:02Z</dcterms:created>
  <dcterms:modified xsi:type="dcterms:W3CDTF">2026-02-21T15:56:02Z</dcterms:modified>
</cp:coreProperties>
</file>