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9d6cda3-aeff-0430-ae11-6351dc5b1e5b}">
          <p14:sldIdLst/>
        </p14:section>
        <p14:section name="Default-1" id="{b43eea95-97c7-9548-6a4f-edc1e41aff58}">
          <p14:sldIdLst>
            <p14:sldId id="256"/>
          </p14:sldIdLst>
        </p14:section>
        <p14:section name="PROCESS" id="{d37053ef-f1b3-01b1-c5ae-76fd449a1a3c}">
          <p14:sldIdLst/>
        </p14:section>
        <p14:section name="Default-2" id="{27123bfa-3ae5-0561-0fd6-b17160b38f5a}">
          <p14:sldIdLst>
            <p14:sldId id="257"/>
            <p14:sldId id="258"/>
            <p14:sldId id="259"/>
            <p14:sldId id="260"/>
            <p14:sldId id="261"/>
            <p14:sldId id="262"/>
            <p14:sldId id="263"/>
            <p14:sldId id="264"/>
            <p14:sldId id="265"/>
            <p14:sldId id="266"/>
            <p14:sldId id="267"/>
          </p14:sldIdLst>
        </p14:section>
        <p14:section name="Closing" id="{516056ac-551a-ca75-f7c3-9670f161ff24}">
          <p14:sldIdLst/>
        </p14:section>
        <p14:section name="Default-3" id="{d964f31c-5e53-0aaf-1363-4097a5ae61cc}">
          <p14:sldIdLst>
            <p14:sldId id="268"/>
          </p14:sldIdLst>
        </p14:section>
        <p14:section name="Appendix" id="{62524495-a0c0-668a-726d-d98ddef77b31}">
          <p14:sldIdLst/>
        </p14:section>
        <p14:section name="Default-4" id="{bba6d001-7a40-a936-c5fe-cf313b38bf9c}">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GUARDIAN STRATEGY</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PROPRIETARY RISK MANAGEMENT FRAMEWORK</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QUANTITATIVE MODELS ANALYZING MARKET STRUCTURE, VOLATILITY REGIMES, AND CROSS-ASSET CORRELATIONS</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VOLATILITY ANALYSIS</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(VIX levels, term structure, and implied vs realized volatility)</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MARKET STRUCTURE</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(Market breadth, sector rotation, and credit spreads)</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RISK SCORING</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(Proprietary composite score determines exposure level)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VOLATILITY ANALYSIS</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MARKET STRUCTURE</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RISK SCORING</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DYNAMIC HEDGING PROVIDES GROWTH WITH SYSTEMATIC DOWNSIDE PROTECTION</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CORE EQUITY ALLOCATION</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Strategic long positions in diversified market exposure providing growth potential.</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HEDGING LAYER</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Options-based downside protection activated during high-risk periods.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GUARDIAN COMPOSITE</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Tactical allocation between growth and protection based on risk environment.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MINIMIZING DOWNSIDE EXPOSURE THROUGH SYSTEMATIC RISK CONTROLS</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VOLATILITY</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VIX monitoring: Active protection when volatility spikes above threshold</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MARKET STRUCTURE</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Breadth analysis: Reduce exposure during market deterioration</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RISK SCORE</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Composite signal: Determines hedge activation and exposure levels</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GUARDIAN RESULT</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Tactical hedging strategy providing defined downside limits with upside participation.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TACTICAL RISK-MANAGED GROWTH STRATEGY | GUARDIAN</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GUARDIAN ALLOCATION</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CORE EQUITY 60%</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market exposure through diversified ETF positions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OPTIONS OVERLAY 25%</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Protective puts and collars activated during high-risk periods</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CASH RESERVE 15%</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Treasury and cash positions for risk-off periods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SYSTEMATIC REBALANCING</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Dynamic allocation adjustments based on risk scoring system</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GROWTH WITH PROTECTION</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Dynamic allocation between equity exposure and hedging based on risk environment.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GUARDIAN</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GUARDIAN DELIVERS EQUITY PARTICIPATION WITH DEFINED RISK</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STRATEGY</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3-YR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17.88%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12.45%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14.42%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-50.95%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Guardian Strategy (Net)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9.87%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-15.40%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Conservative Balanced</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11.30%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7.65%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8.90%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-22.15%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Performance data is for illustrative purposes only. Source: Potomac calculations.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GUARDIAN</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GUARDIAN AS A RISK-MANAGED EQUITY ALTERNATIVE</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RISK ANALYSIS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GUARDIAN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S&amp;P 500</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Maximum Drawdown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-15.40%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-50.95%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Beta to S&amp;P 500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0.68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Correlation to S&amp;P 500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0.75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Standard Deviation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11.8%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17.2%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Sharpe Ratio</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0.85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0.72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Risk statistics calculated over trailing 3-year period. Source: Potomac calculations.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GUARDIAN</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GUARDIAN?</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CONSERVATIVE GROWTH</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For advisors seeking equity upside with defined downside limits and systematic risk management.</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RETIREMENT DISTRIBUTION</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Protecting portfolios in or near distribution phase while maintaining growth potential.</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VOLATILITY-SENSITIVE CLIENTS</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For clients who panic during drawdowns and need behavioral downside protection.</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CORE ALTERNATIVE</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Replacing traditional balanced funds with dynamic risk-managed equity exposure.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VIX: The CBOE Volatility Index, often called the 'fear index,' measures market expectations of near-term volatility.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largest peak-to-trough decline in portfolio value during a specific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Beta: A measure of a security's volatility relative to the overall market (S&amp;P 500).</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A statistical measure of how two securities move in relation to each other, ranging from -1 to +1.</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Sharpe Ratio: A measure of risk-adjusted return, calculated as excess return divided by standard deviation.</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Protective Put: An options strategy involving buying put options to hedge against potential losses in a long stock position.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GUARDIAN STRATEGY</dc:title>
  <dc:subject>Investment Strategy Presentation</dc:subject>
  <dc:creator>Potomac Fund Management</dc:creator>
  <cp:lastModifiedBy>Potomac Fund Management</cp:lastModifiedBy>
  <cp:revision>1</cp:revision>
  <dcterms:created xsi:type="dcterms:W3CDTF">2026-02-21T15:21:58Z</dcterms:created>
  <dcterms:modified xsi:type="dcterms:W3CDTF">2026-02-21T15:21:58Z</dcterms:modified>
</cp:coreProperties>
</file>