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5a0dee5-ca81-a62c-77cd-63ac69835b94}">
          <p14:sldIdLst/>
        </p14:section>
        <p14:section name="Default-1" id="{e4a21d57-c8e3-fe9d-8afd-2a2744a53522}">
          <p14:sldIdLst>
            <p14:sldId id="256"/>
          </p14:sldIdLst>
        </p14:section>
        <p14:section name="METHODOLOGY" id="{bd4b4a8d-d3f4-5603-0376-4d09462d9b44}">
          <p14:sldIdLst/>
        </p14:section>
        <p14:section name="Default-2" id="{22d0e1e1-4d54-3ad1-bbfc-7aaa1868bbc7}">
          <p14:sldIdLst>
            <p14:sldId id="257"/>
            <p14:sldId id="258"/>
            <p14:sldId id="259"/>
            <p14:sldId id="260"/>
            <p14:sldId id="261"/>
            <p14:sldId id="262"/>
            <p14:sldId id="263"/>
            <p14:sldId id="264"/>
            <p14:sldId id="265"/>
            <p14:sldId id="266"/>
          </p14:sldIdLst>
        </p14:section>
        <p14:section name="Closing" id="{c6fa9045-723a-29a5-a4e4-da91c8486d37}">
          <p14:sldIdLst/>
        </p14:section>
        <p14:section name="Default-3" id="{0d7e343c-3373-cbd5-2135-169eafe5d786}">
          <p14:sldIdLst>
            <p14:sldId id="267"/>
          </p14:sldIdLst>
        </p14:section>
        <p14:section name="Appendix" id="{cf0641d3-4316-8012-efc8-011c951b9e60}">
          <p14:sldIdLst/>
        </p14:section>
        <p14:section name="Default-4" id="{8f13f1c2-5ad8-f2f6-fd19-3274e88c151e}">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20040" y="164592"/>
            <a:ext cx="1463040" cy="457200"/>
          </a:xfrm>
          <a:prstGeom prst="rect">
            <a:avLst/>
          </a:prstGeom>
        </p:spPr>
      </p:pic>
      <p:pic>
        <p:nvPicPr>
          <p:cNvPr id="3" name="Image 1" descr="C:\Users\SohaibAli\Documents\PresenterByPotomac\app\skills\JSPPTXPotomac\brand-assets\logos\potomac-icon-white.png">    </p:cNvPr>
          <p:cNvPicPr>
            <a:picLocks noChangeAspect="1"/>
          </p:cNvPicPr>
          <p:nvPr/>
        </p:nvPicPr>
        <p:blipFill>
          <a:blip r:embed="rId2"/>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www.potomac.com" TargetMode="External"/><Relationship Id="rId1"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EC00F"/>
          </a:solidFill>
          <a:ln/>
        </p:spPr>
      </p:sp>
      <p:pic>
        <p:nvPicPr>
          <p:cNvPr id="3" name="Image 0" descr="C:\Users\SohaibAli\Documents\PresenterByPotomac\app\skills\JSPPTXPotomac\brand-assets\logos\potomac-full-logo.png">    </p:cNvPr>
          <p:cNvPicPr>
            <a:picLocks noChangeAspect="1"/>
          </p:cNvPicPr>
          <p:nvPr/>
        </p:nvPicPr>
        <p:blipFill>
          <a:blip r:embed="rId1"/>
          <a:srcRect l="0" r="0" t="0" b="0"/>
          <a:stretch/>
        </p:blipFill>
        <p:spPr>
          <a:xfrm>
            <a:off x="365760" y="274320"/>
            <a:ext cx="1828800" cy="374904"/>
          </a:xfrm>
          <a:prstGeom prst="rect">
            <a:avLst/>
          </a:prstGeom>
        </p:spPr>
      </p:pic>
      <p:sp>
        <p:nvSpPr>
          <p:cNvPr id="4" name="Shape 1"/>
          <p:cNvSpPr/>
          <p:nvPr/>
        </p:nvSpPr>
        <p:spPr>
          <a:xfrm>
            <a:off x="4265676" y="2011680"/>
            <a:ext cx="3657600" cy="73152"/>
          </a:xfrm>
          <a:prstGeom prst="rect">
            <a:avLst/>
          </a:prstGeom>
          <a:solidFill>
            <a:srgbClr val="FEC00F"/>
          </a:solidFill>
          <a:ln/>
        </p:spPr>
      </p:sp>
      <p:sp>
        <p:nvSpPr>
          <p:cNvPr id="5" name="Text 2"/>
          <p:cNvSpPr/>
          <p:nvPr/>
        </p:nvSpPr>
        <p:spPr>
          <a:xfrm>
            <a:off x="914400" y="2377440"/>
            <a:ext cx="10360152" cy="2011680"/>
          </a:xfrm>
          <a:prstGeom prst="rect">
            <a:avLst/>
          </a:prstGeom>
          <a:noFill/>
          <a:ln/>
        </p:spPr>
        <p:txBody>
          <a:bodyPr wrap="square" rtlCol="0" anchor="ctr"/>
          <a:lstStyle/>
          <a:p>
            <a:pPr algn="ctr" indent="0" marL="0">
              <a:buNone/>
            </a:pPr>
            <a:r>
              <a:rPr lang="en-US" sz="4800" b="1" dirty="0">
                <a:solidFill>
                  <a:srgbClr val="FFFFFF"/>
                </a:solidFill>
                <a:latin typeface="Rajdhani" pitchFamily="34" charset="0"/>
                <a:ea typeface="Rajdhani" pitchFamily="34" charset="-122"/>
                <a:cs typeface="Rajdhani" pitchFamily="34" charset="-120"/>
              </a:rPr>
              <a:t>AVENTINO RETAIL IMPACT STUDY</a:t>
            </a:r>
            <a:endParaRPr lang="en-US" sz="4800" dirty="0"/>
          </a:p>
        </p:txBody>
      </p:sp>
      <p:sp>
        <p:nvSpPr>
          <p:cNvPr id="6" name="Text 3"/>
          <p:cNvSpPr/>
          <p:nvPr/>
        </p:nvSpPr>
        <p:spPr>
          <a:xfrm>
            <a:off x="365760" y="6172200"/>
            <a:ext cx="11457432" cy="457200"/>
          </a:xfrm>
          <a:prstGeom prst="rect">
            <a:avLst/>
          </a:prstGeom>
          <a:noFill/>
          <a:ln/>
        </p:spPr>
        <p:txBody>
          <a:bodyPr wrap="square" rtlCol="0" anchor="ctr"/>
          <a:lstStyle/>
          <a:p>
            <a:pPr algn="ctr" indent="0" marL="0">
              <a:buNone/>
            </a:pPr>
            <a:r>
              <a:rPr lang="en-US" sz="1400" i="1" dirty="0">
                <a:solidFill>
                  <a:srgbClr val="FEC00F"/>
                </a:solidFill>
                <a:latin typeface="Quicksand" pitchFamily="34" charset="0"/>
                <a:ea typeface="Quicksand" pitchFamily="34" charset="-122"/>
                <a:cs typeface="Quicksand" pitchFamily="34" charset="-120"/>
              </a:rPr>
              <a:t>Built to Conquer Risk®</a:t>
            </a:r>
            <a:endParaRPr lang="en-US" sz="1400" dirty="0"/>
          </a:p>
        </p:txBody>
      </p:sp>
      <p:sp>
        <p:nvSpPr>
          <p:cNvPr id="7" name="Shape 4"/>
          <p:cNvSpPr/>
          <p:nvPr/>
        </p:nvSpPr>
        <p:spPr>
          <a:xfrm>
            <a:off x="0" y="6784848"/>
            <a:ext cx="12188952" cy="73152"/>
          </a:xfrm>
          <a:prstGeom prst="rect">
            <a:avLst/>
          </a:prstGeom>
          <a:solidFill>
            <a:srgbClr val="FEC00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12121"/>
                </a:solidFill>
                <a:latin typeface="Rajdhani" pitchFamily="34" charset="0"/>
                <a:ea typeface="Rajdhani" pitchFamily="34" charset="-122"/>
                <a:cs typeface="Rajdhani" pitchFamily="34" charset="-120"/>
              </a:rPr>
              <a:t>METHODOLOGY</a:t>
            </a:r>
            <a:endParaRPr lang="en-US" sz="4400" dirty="0"/>
          </a:p>
        </p:txBody>
      </p:sp>
      <p:sp>
        <p:nvSpPr>
          <p:cNvPr id="4" name="Shape 1"/>
          <p:cNvSpPr/>
          <p:nvPr/>
        </p:nvSpPr>
        <p:spPr>
          <a:xfrm>
            <a:off x="4722876" y="4251960"/>
            <a:ext cx="2743200" cy="73152"/>
          </a:xfrm>
          <a:prstGeom prst="rect">
            <a:avLst/>
          </a:prstGeom>
          <a:solidFill>
            <a:srgbClr val="FEC00F"/>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METHODOLOGY</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48640"/>
            <a:ext cx="10817352" cy="914400"/>
          </a:xfrm>
          <a:prstGeom prst="rect">
            <a:avLst/>
          </a:prstGeom>
          <a:noFill/>
          <a:ln/>
        </p:spPr>
        <p:txBody>
          <a:bodyPr wrap="square" rtlCol="0" anchor="ctr"/>
          <a:lstStyle/>
          <a:p>
            <a:pPr indent="0" marL="0">
              <a:buNone/>
            </a:pPr>
            <a:r>
              <a:rPr lang="en-US" sz="3200" b="1" dirty="0">
                <a:solidFill>
                  <a:srgbClr val="FFFFFF"/>
                </a:solidFill>
                <a:latin typeface="Rajdhani" pitchFamily="34" charset="0"/>
                <a:ea typeface="Rajdhani" pitchFamily="34" charset="-122"/>
                <a:cs typeface="Rajdhani" pitchFamily="34" charset="-120"/>
              </a:rPr>
              <a:t>EBITDA IMPACT ANALYSIS: THREE CORE DRIVERS</a:t>
            </a:r>
            <a:endParaRPr lang="en-US" sz="3200" dirty="0"/>
          </a:p>
        </p:txBody>
      </p:sp>
      <p:sp>
        <p:nvSpPr>
          <p:cNvPr id="5" name="Text 2"/>
          <p:cNvSpPr/>
          <p:nvPr/>
        </p:nvSpPr>
        <p:spPr>
          <a:xfrm>
            <a:off x="365760" y="1645920"/>
            <a:ext cx="10817352" cy="457200"/>
          </a:xfrm>
          <a:prstGeom prst="rect">
            <a:avLst/>
          </a:prstGeom>
          <a:noFill/>
          <a:ln/>
        </p:spPr>
        <p:txBody>
          <a:bodyPr wrap="square" rtlCol="0" anchor="ctr"/>
          <a:lstStyle/>
          <a:p>
            <a:pPr algn="ctr" indent="0" marL="0">
              <a:buNone/>
            </a:pPr>
            <a:r>
              <a:rPr lang="en-US" sz="1600" b="1" dirty="0">
                <a:solidFill>
                  <a:srgbClr val="FEC00F"/>
                </a:solidFill>
                <a:latin typeface="Rajdhani" pitchFamily="34" charset="0"/>
                <a:ea typeface="Rajdhani" pitchFamily="34" charset="-122"/>
                <a:cs typeface="Rajdhani" pitchFamily="34" charset="-120"/>
              </a:rPr>
              <a:t>COMPREHENSIVE FRAMEWORK FOR MEASURING RETAIL DEVELOPMENT EFFECTS ON LOCAL BUSINESS PERFORMANCE</a:t>
            </a:r>
            <a:endParaRPr lang="en-US" sz="1600" dirty="0"/>
          </a:p>
        </p:txBody>
      </p:sp>
      <p:sp>
        <p:nvSpPr>
          <p:cNvPr id="6" name="Shape 3"/>
          <p:cNvSpPr/>
          <p:nvPr/>
        </p:nvSpPr>
        <p:spPr>
          <a:xfrm>
            <a:off x="1796796" y="2560320"/>
            <a:ext cx="2377440" cy="2377440"/>
          </a:xfrm>
          <a:prstGeom prst="ellipse">
            <a:avLst/>
          </a:prstGeom>
          <a:solidFill>
            <a:srgbClr val="212121"/>
          </a:solidFill>
          <a:ln w="31750">
            <a:solidFill>
              <a:srgbClr val="FEC00F"/>
            </a:solidFill>
            <a:prstDash val="solid"/>
          </a:ln>
        </p:spPr>
      </p:sp>
      <p:sp>
        <p:nvSpPr>
          <p:cNvPr id="7" name="Shape 4"/>
          <p:cNvSpPr/>
          <p:nvPr/>
        </p:nvSpPr>
        <p:spPr>
          <a:xfrm>
            <a:off x="2574036" y="2880360"/>
            <a:ext cx="822960" cy="822960"/>
          </a:xfrm>
          <a:prstGeom prst="ellipse">
            <a:avLst/>
          </a:prstGeom>
          <a:solidFill>
            <a:srgbClr val="FEC00F"/>
          </a:solidFill>
          <a:ln/>
        </p:spPr>
      </p:sp>
      <p:sp>
        <p:nvSpPr>
          <p:cNvPr id="8" name="Text 5"/>
          <p:cNvSpPr/>
          <p:nvPr/>
        </p:nvSpPr>
        <p:spPr>
          <a:xfrm>
            <a:off x="257403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1</a:t>
            </a:r>
            <a:endParaRPr lang="en-US" sz="2800" dirty="0"/>
          </a:p>
        </p:txBody>
      </p:sp>
      <p:sp>
        <p:nvSpPr>
          <p:cNvPr id="9" name="Text 6"/>
          <p:cNvSpPr/>
          <p:nvPr/>
        </p:nvSpPr>
        <p:spPr>
          <a:xfrm>
            <a:off x="188823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FOOT TRAFFIC</a:t>
            </a:r>
            <a:endParaRPr lang="en-US" sz="1400" dirty="0"/>
          </a:p>
        </p:txBody>
      </p:sp>
      <p:sp>
        <p:nvSpPr>
          <p:cNvPr id="10" name="Text 7"/>
          <p:cNvSpPr/>
          <p:nvPr/>
        </p:nvSpPr>
        <p:spPr>
          <a:xfrm>
            <a:off x="193395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(Customer Flow and Density Metrics)</a:t>
            </a:r>
            <a:endParaRPr lang="en-US" sz="1000" dirty="0"/>
          </a:p>
        </p:txBody>
      </p:sp>
      <p:sp>
        <p:nvSpPr>
          <p:cNvPr id="11" name="Text 8"/>
          <p:cNvSpPr/>
          <p:nvPr/>
        </p:nvSpPr>
        <p:spPr>
          <a:xfrm>
            <a:off x="431139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2" name="Shape 9"/>
          <p:cNvSpPr/>
          <p:nvPr/>
        </p:nvSpPr>
        <p:spPr>
          <a:xfrm>
            <a:off x="4905756" y="2560320"/>
            <a:ext cx="2377440" cy="2377440"/>
          </a:xfrm>
          <a:prstGeom prst="ellipse">
            <a:avLst/>
          </a:prstGeom>
          <a:solidFill>
            <a:srgbClr val="212121"/>
          </a:solidFill>
          <a:ln w="31750">
            <a:solidFill>
              <a:srgbClr val="FEC00F"/>
            </a:solidFill>
            <a:prstDash val="solid"/>
          </a:ln>
        </p:spPr>
      </p:sp>
      <p:sp>
        <p:nvSpPr>
          <p:cNvPr id="13" name="Shape 10"/>
          <p:cNvSpPr/>
          <p:nvPr/>
        </p:nvSpPr>
        <p:spPr>
          <a:xfrm>
            <a:off x="5682996" y="2880360"/>
            <a:ext cx="822960" cy="822960"/>
          </a:xfrm>
          <a:prstGeom prst="ellipse">
            <a:avLst/>
          </a:prstGeom>
          <a:solidFill>
            <a:srgbClr val="FEC00F"/>
          </a:solidFill>
          <a:ln/>
        </p:spPr>
      </p:sp>
      <p:sp>
        <p:nvSpPr>
          <p:cNvPr id="14" name="Text 11"/>
          <p:cNvSpPr/>
          <p:nvPr/>
        </p:nvSpPr>
        <p:spPr>
          <a:xfrm>
            <a:off x="568299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2</a:t>
            </a:r>
            <a:endParaRPr lang="en-US" sz="2800" dirty="0"/>
          </a:p>
        </p:txBody>
      </p:sp>
      <p:sp>
        <p:nvSpPr>
          <p:cNvPr id="15" name="Text 12"/>
          <p:cNvSpPr/>
          <p:nvPr/>
        </p:nvSpPr>
        <p:spPr>
          <a:xfrm>
            <a:off x="499719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COMPETITIVE DISPLACEMENT</a:t>
            </a:r>
            <a:endParaRPr lang="en-US" sz="1400" dirty="0"/>
          </a:p>
        </p:txBody>
      </p:sp>
      <p:sp>
        <p:nvSpPr>
          <p:cNvPr id="16" name="Text 13"/>
          <p:cNvSpPr/>
          <p:nvPr/>
        </p:nvSpPr>
        <p:spPr>
          <a:xfrm>
            <a:off x="504291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(Market Share Redistribution)</a:t>
            </a:r>
            <a:endParaRPr lang="en-US" sz="1000" dirty="0"/>
          </a:p>
        </p:txBody>
      </p:sp>
      <p:sp>
        <p:nvSpPr>
          <p:cNvPr id="17" name="Text 14"/>
          <p:cNvSpPr/>
          <p:nvPr/>
        </p:nvSpPr>
        <p:spPr>
          <a:xfrm>
            <a:off x="742035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8" name="Shape 15"/>
          <p:cNvSpPr/>
          <p:nvPr/>
        </p:nvSpPr>
        <p:spPr>
          <a:xfrm>
            <a:off x="8014716" y="2560320"/>
            <a:ext cx="2377440" cy="2377440"/>
          </a:xfrm>
          <a:prstGeom prst="ellipse">
            <a:avLst/>
          </a:prstGeom>
          <a:solidFill>
            <a:srgbClr val="212121"/>
          </a:solidFill>
          <a:ln w="31750">
            <a:solidFill>
              <a:srgbClr val="FEC00F"/>
            </a:solidFill>
            <a:prstDash val="solid"/>
          </a:ln>
        </p:spPr>
      </p:sp>
      <p:sp>
        <p:nvSpPr>
          <p:cNvPr id="19" name="Shape 16"/>
          <p:cNvSpPr/>
          <p:nvPr/>
        </p:nvSpPr>
        <p:spPr>
          <a:xfrm>
            <a:off x="8791956" y="2880360"/>
            <a:ext cx="822960" cy="822960"/>
          </a:xfrm>
          <a:prstGeom prst="ellipse">
            <a:avLst/>
          </a:prstGeom>
          <a:solidFill>
            <a:srgbClr val="FEC00F"/>
          </a:solidFill>
          <a:ln/>
        </p:spPr>
      </p:sp>
      <p:sp>
        <p:nvSpPr>
          <p:cNvPr id="20" name="Text 17"/>
          <p:cNvSpPr/>
          <p:nvPr/>
        </p:nvSpPr>
        <p:spPr>
          <a:xfrm>
            <a:off x="879195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3</a:t>
            </a:r>
            <a:endParaRPr lang="en-US" sz="2800" dirty="0"/>
          </a:p>
        </p:txBody>
      </p:sp>
      <p:sp>
        <p:nvSpPr>
          <p:cNvPr id="21" name="Text 18"/>
          <p:cNvSpPr/>
          <p:nvPr/>
        </p:nvSpPr>
        <p:spPr>
          <a:xfrm>
            <a:off x="810615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OPERATIONAL SYNERGIES</a:t>
            </a:r>
            <a:endParaRPr lang="en-US" sz="1400" dirty="0"/>
          </a:p>
        </p:txBody>
      </p:sp>
      <p:sp>
        <p:nvSpPr>
          <p:cNvPr id="22" name="Text 19"/>
          <p:cNvSpPr/>
          <p:nvPr/>
        </p:nvSpPr>
        <p:spPr>
          <a:xfrm>
            <a:off x="815187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(Cost Structure Optimization)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METHODOLOGY</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FOOT TRAFFIC ANALYSIS</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 Based on comparable retail developments.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METHODOLOGY</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COMPETITIVE DISPLACEMENT PATTERNS</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 Market share analysis within 2-mile radius.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METHODOLOGY</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822960"/>
          </a:xfrm>
          <a:prstGeom prst="rect">
            <a:avLst/>
          </a:prstGeom>
          <a:noFill/>
          <a:ln/>
        </p:spPr>
        <p:txBody>
          <a:bodyPr wrap="square" rtlCol="0" anchor="ctr"/>
          <a:lstStyle/>
          <a:p>
            <a:pPr indent="0" marL="0">
              <a:buNone/>
            </a:pPr>
            <a:r>
              <a:rPr lang="en-US" sz="2200" b="1" dirty="0">
                <a:solidFill>
                  <a:srgbClr val="FFFFFF"/>
                </a:solidFill>
                <a:latin typeface="Rajdhani" pitchFamily="34" charset="0"/>
                <a:ea typeface="Rajdhani" pitchFamily="34" charset="-122"/>
                <a:cs typeface="Rajdhani" pitchFamily="34" charset="-120"/>
              </a:rPr>
              <a:t>OUR ANALYSIS COMBINES DIRECT AND INDIRECT EBITDA EFFECTS TO QUANTIFY TOTAL BUSINESS IMPACT</a:t>
            </a:r>
            <a:endParaRPr lang="en-US" sz="2200" dirty="0"/>
          </a:p>
        </p:txBody>
      </p:sp>
      <p:sp>
        <p:nvSpPr>
          <p:cNvPr id="5" name="Shape 2"/>
          <p:cNvSpPr/>
          <p:nvPr/>
        </p:nvSpPr>
        <p:spPr>
          <a:xfrm>
            <a:off x="365760"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6" name="Text 3"/>
          <p:cNvSpPr/>
          <p:nvPr/>
        </p:nvSpPr>
        <p:spPr>
          <a:xfrm>
            <a:off x="3956304"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7" name="Shape 4"/>
          <p:cNvSpPr/>
          <p:nvPr/>
        </p:nvSpPr>
        <p:spPr>
          <a:xfrm>
            <a:off x="640080" y="1371600"/>
            <a:ext cx="3087624" cy="365760"/>
          </a:xfrm>
          <a:prstGeom prst="roundRect">
            <a:avLst>
              <a:gd name="adj" fmla="val 50000"/>
            </a:avLst>
          </a:prstGeom>
          <a:solidFill>
            <a:srgbClr val="444444"/>
          </a:solidFill>
          <a:ln/>
        </p:spPr>
      </p:sp>
      <p:sp>
        <p:nvSpPr>
          <p:cNvPr id="8" name="Text 5"/>
          <p:cNvSpPr/>
          <p:nvPr/>
        </p:nvSpPr>
        <p:spPr>
          <a:xfrm>
            <a:off x="640080"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DIRECT REVENUE IMPACT</a:t>
            </a:r>
            <a:endParaRPr lang="en-US" sz="1100" dirty="0"/>
          </a:p>
        </p:txBody>
      </p:sp>
      <p:sp>
        <p:nvSpPr>
          <p:cNvPr id="9" name="Text 6"/>
          <p:cNvSpPr/>
          <p:nvPr/>
        </p:nvSpPr>
        <p:spPr>
          <a:xfrm>
            <a:off x="502920"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Immediate changes in sales volume due to traffic pattern shifts and proximity effects.</a:t>
            </a:r>
            <a:endParaRPr lang="en-US" sz="1300" dirty="0"/>
          </a:p>
        </p:txBody>
      </p:sp>
      <p:sp>
        <p:nvSpPr>
          <p:cNvPr id="10" name="Shape 7"/>
          <p:cNvSpPr/>
          <p:nvPr/>
        </p:nvSpPr>
        <p:spPr>
          <a:xfrm>
            <a:off x="4093464"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1" name="Text 8"/>
          <p:cNvSpPr/>
          <p:nvPr/>
        </p:nvSpPr>
        <p:spPr>
          <a:xfrm>
            <a:off x="7684008"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12" name="Shape 9"/>
          <p:cNvSpPr/>
          <p:nvPr/>
        </p:nvSpPr>
        <p:spPr>
          <a:xfrm>
            <a:off x="4367784" y="1371600"/>
            <a:ext cx="3087624" cy="365760"/>
          </a:xfrm>
          <a:prstGeom prst="roundRect">
            <a:avLst>
              <a:gd name="adj" fmla="val 50000"/>
            </a:avLst>
          </a:prstGeom>
          <a:solidFill>
            <a:srgbClr val="444444"/>
          </a:solidFill>
          <a:ln/>
        </p:spPr>
      </p:sp>
      <p:sp>
        <p:nvSpPr>
          <p:cNvPr id="13" name="Text 10"/>
          <p:cNvSpPr/>
          <p:nvPr/>
        </p:nvSpPr>
        <p:spPr>
          <a:xfrm>
            <a:off x="4367784"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OPERATIONAL EFFICIENCY</a:t>
            </a:r>
            <a:endParaRPr lang="en-US" sz="1100" dirty="0"/>
          </a:p>
        </p:txBody>
      </p:sp>
      <p:sp>
        <p:nvSpPr>
          <p:cNvPr id="14" name="Text 11"/>
          <p:cNvSpPr/>
          <p:nvPr/>
        </p:nvSpPr>
        <p:spPr>
          <a:xfrm>
            <a:off x="4230624"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Cost structure changes from shared services, logistics optimization, and labor synergies.</a:t>
            </a:r>
            <a:endParaRPr lang="en-US" sz="1300" dirty="0"/>
          </a:p>
        </p:txBody>
      </p:sp>
      <p:sp>
        <p:nvSpPr>
          <p:cNvPr id="15" name="Shape 12"/>
          <p:cNvSpPr/>
          <p:nvPr/>
        </p:nvSpPr>
        <p:spPr>
          <a:xfrm>
            <a:off x="7821168" y="1554480"/>
            <a:ext cx="3636264" cy="4937760"/>
          </a:xfrm>
          <a:prstGeom prst="roundRect">
            <a:avLst>
              <a:gd name="adj" fmla="val 3772"/>
            </a:avLst>
          </a:prstGeom>
          <a:solidFill>
            <a:srgbClr val="FEC00F"/>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6" name="Shape 13"/>
          <p:cNvSpPr/>
          <p:nvPr/>
        </p:nvSpPr>
        <p:spPr>
          <a:xfrm>
            <a:off x="8095488" y="1371600"/>
            <a:ext cx="3087624" cy="365760"/>
          </a:xfrm>
          <a:prstGeom prst="roundRect">
            <a:avLst>
              <a:gd name="adj" fmla="val 50000"/>
            </a:avLst>
          </a:prstGeom>
          <a:solidFill>
            <a:srgbClr val="FEC00F"/>
          </a:solidFill>
          <a:ln/>
        </p:spPr>
      </p:sp>
      <p:sp>
        <p:nvSpPr>
          <p:cNvPr id="17" name="Text 14"/>
          <p:cNvSpPr/>
          <p:nvPr/>
        </p:nvSpPr>
        <p:spPr>
          <a:xfrm>
            <a:off x="8095488" y="1371600"/>
            <a:ext cx="3087624" cy="365760"/>
          </a:xfrm>
          <a:prstGeom prst="rect">
            <a:avLst/>
          </a:prstGeom>
          <a:noFill/>
          <a:ln/>
        </p:spPr>
        <p:txBody>
          <a:bodyPr wrap="square" rtlCol="0" anchor="ctr"/>
          <a:lstStyle/>
          <a:p>
            <a:pPr algn="ctr" indent="0" marL="0">
              <a:buNone/>
            </a:pPr>
            <a:r>
              <a:rPr lang="en-US" sz="1100" b="1" dirty="0">
                <a:solidFill>
                  <a:srgbClr val="212121"/>
                </a:solidFill>
                <a:latin typeface="Rajdhani" pitchFamily="34" charset="0"/>
                <a:ea typeface="Rajdhani" pitchFamily="34" charset="-122"/>
                <a:cs typeface="Rajdhani" pitchFamily="34" charset="-120"/>
              </a:rPr>
              <a:t>NET EBITDA EFFECT</a:t>
            </a:r>
            <a:endParaRPr lang="en-US" sz="1100" dirty="0"/>
          </a:p>
        </p:txBody>
      </p:sp>
      <p:sp>
        <p:nvSpPr>
          <p:cNvPr id="18" name="Text 15"/>
          <p:cNvSpPr/>
          <p:nvPr/>
        </p:nvSpPr>
        <p:spPr>
          <a:xfrm>
            <a:off x="7958328" y="1874520"/>
            <a:ext cx="3361944" cy="438912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Combined impact on earnings before interest, taxes, depreciation, and amortization.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METHODOLOGY</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59436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QUANTIFYING THE AVENTINO EFFECT</a:t>
            </a:r>
            <a:endParaRPr lang="en-US" sz="2600" dirty="0"/>
          </a:p>
        </p:txBody>
      </p:sp>
      <p:sp>
        <p:nvSpPr>
          <p:cNvPr id="5" name="Shape 2"/>
          <p:cNvSpPr/>
          <p:nvPr/>
        </p:nvSpPr>
        <p:spPr>
          <a:xfrm>
            <a:off x="365760" y="1691640"/>
            <a:ext cx="4572000" cy="1280160"/>
          </a:xfrm>
          <a:prstGeom prst="rect">
            <a:avLst/>
          </a:prstGeom>
          <a:solidFill>
            <a:srgbClr val="212121"/>
          </a:solidFill>
          <a:ln w="25400">
            <a:solidFill>
              <a:srgbClr val="FEC00F"/>
            </a:solidFill>
            <a:prstDash val="solid"/>
          </a:ln>
        </p:spPr>
      </p:sp>
      <p:sp>
        <p:nvSpPr>
          <p:cNvPr id="6" name="Text 3"/>
          <p:cNvSpPr/>
          <p:nvPr/>
        </p:nvSpPr>
        <p:spPr>
          <a:xfrm>
            <a:off x="548640" y="178308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TRAFFIC LIFT</a:t>
            </a:r>
            <a:endParaRPr lang="en-US" sz="1400" dirty="0"/>
          </a:p>
        </p:txBody>
      </p:sp>
      <p:sp>
        <p:nvSpPr>
          <p:cNvPr id="7" name="Text 4"/>
          <p:cNvSpPr/>
          <p:nvPr/>
        </p:nvSpPr>
        <p:spPr>
          <a:xfrm>
            <a:off x="548640" y="219456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Average 23% increase in foot traffic within 0.5 mile radius</a:t>
            </a:r>
            <a:endParaRPr lang="en-US" sz="1200" dirty="0"/>
          </a:p>
        </p:txBody>
      </p:sp>
      <p:sp>
        <p:nvSpPr>
          <p:cNvPr id="8" name="Shape 5"/>
          <p:cNvSpPr/>
          <p:nvPr/>
        </p:nvSpPr>
        <p:spPr>
          <a:xfrm>
            <a:off x="365760" y="3154680"/>
            <a:ext cx="4572000" cy="1280160"/>
          </a:xfrm>
          <a:prstGeom prst="rect">
            <a:avLst/>
          </a:prstGeom>
          <a:solidFill>
            <a:srgbClr val="212121"/>
          </a:solidFill>
          <a:ln w="25400">
            <a:solidFill>
              <a:srgbClr val="FEC00F"/>
            </a:solidFill>
            <a:prstDash val="solid"/>
          </a:ln>
        </p:spPr>
      </p:sp>
      <p:sp>
        <p:nvSpPr>
          <p:cNvPr id="9" name="Text 6"/>
          <p:cNvSpPr/>
          <p:nvPr/>
        </p:nvSpPr>
        <p:spPr>
          <a:xfrm>
            <a:off x="548640" y="324612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REVENUE CAPTURE</a:t>
            </a:r>
            <a:endParaRPr lang="en-US" sz="1400" dirty="0"/>
          </a:p>
        </p:txBody>
      </p:sp>
      <p:sp>
        <p:nvSpPr>
          <p:cNvPr id="10" name="Text 7"/>
          <p:cNvSpPr/>
          <p:nvPr/>
        </p:nvSpPr>
        <p:spPr>
          <a:xfrm>
            <a:off x="548640" y="365760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12% improvement in conversion rates from enhanced visibility</a:t>
            </a:r>
            <a:endParaRPr lang="en-US" sz="1200" dirty="0"/>
          </a:p>
        </p:txBody>
      </p:sp>
      <p:sp>
        <p:nvSpPr>
          <p:cNvPr id="11" name="Shape 8"/>
          <p:cNvSpPr/>
          <p:nvPr/>
        </p:nvSpPr>
        <p:spPr>
          <a:xfrm>
            <a:off x="365760" y="4617720"/>
            <a:ext cx="4572000" cy="1280160"/>
          </a:xfrm>
          <a:prstGeom prst="rect">
            <a:avLst/>
          </a:prstGeom>
          <a:solidFill>
            <a:srgbClr val="212121"/>
          </a:solidFill>
          <a:ln w="25400">
            <a:solidFill>
              <a:srgbClr val="FEC00F"/>
            </a:solidFill>
            <a:prstDash val="solid"/>
          </a:ln>
        </p:spPr>
      </p:sp>
      <p:sp>
        <p:nvSpPr>
          <p:cNvPr id="12" name="Text 9"/>
          <p:cNvSpPr/>
          <p:nvPr/>
        </p:nvSpPr>
        <p:spPr>
          <a:xfrm>
            <a:off x="548640" y="470916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COST SYNERGIES</a:t>
            </a:r>
            <a:endParaRPr lang="en-US" sz="1400" dirty="0"/>
          </a:p>
        </p:txBody>
      </p:sp>
      <p:sp>
        <p:nvSpPr>
          <p:cNvPr id="13" name="Text 10"/>
          <p:cNvSpPr/>
          <p:nvPr/>
        </p:nvSpPr>
        <p:spPr>
          <a:xfrm>
            <a:off x="548640" y="512064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8% reduction in operational costs through shared infrastructure</a:t>
            </a:r>
            <a:endParaRPr lang="en-US" sz="1200" dirty="0"/>
          </a:p>
        </p:txBody>
      </p:sp>
      <p:sp>
        <p:nvSpPr>
          <p:cNvPr id="14" name="Text 11"/>
          <p:cNvSpPr/>
          <p:nvPr/>
        </p:nvSpPr>
        <p:spPr>
          <a:xfrm>
            <a:off x="4937760" y="3520440"/>
            <a:ext cx="731520" cy="731520"/>
          </a:xfrm>
          <a:prstGeom prst="rect">
            <a:avLst/>
          </a:prstGeom>
          <a:noFill/>
          <a:ln/>
        </p:spPr>
        <p:txBody>
          <a:bodyPr wrap="square" rtlCol="0" anchor="ctr"/>
          <a:lstStyle/>
          <a:p>
            <a:pPr algn="ctr" indent="0" marL="0">
              <a:buNone/>
            </a:pPr>
            <a:r>
              <a:rPr lang="en-US" sz="3600" dirty="0">
                <a:solidFill>
                  <a:srgbClr val="FEC00F"/>
                </a:solidFill>
                <a:latin typeface="Rajdhani" pitchFamily="34" charset="0"/>
                <a:ea typeface="Rajdhani" pitchFamily="34" charset="-122"/>
                <a:cs typeface="Rajdhani" pitchFamily="34" charset="-120"/>
              </a:rPr>
              <a:t>→</a:t>
            </a:r>
            <a:endParaRPr lang="en-US" sz="3600" dirty="0"/>
          </a:p>
        </p:txBody>
      </p:sp>
      <p:sp>
        <p:nvSpPr>
          <p:cNvPr id="15" name="Shape 12"/>
          <p:cNvSpPr/>
          <p:nvPr/>
        </p:nvSpPr>
        <p:spPr>
          <a:xfrm>
            <a:off x="5852160" y="1691640"/>
            <a:ext cx="5971032" cy="4206240"/>
          </a:xfrm>
          <a:prstGeom prst="rect">
            <a:avLst/>
          </a:prstGeom>
          <a:solidFill>
            <a:srgbClr val="FEC00F"/>
          </a:solidFill>
          <a:ln/>
        </p:spPr>
      </p:sp>
      <p:sp>
        <p:nvSpPr>
          <p:cNvPr id="16" name="Text 13"/>
          <p:cNvSpPr/>
          <p:nvPr/>
        </p:nvSpPr>
        <p:spPr>
          <a:xfrm>
            <a:off x="6035040" y="1874520"/>
            <a:ext cx="5605272" cy="502920"/>
          </a:xfrm>
          <a:prstGeom prst="rect">
            <a:avLst/>
          </a:prstGeom>
          <a:noFill/>
          <a:ln/>
        </p:spPr>
        <p:txBody>
          <a:bodyPr wrap="square" rtlCol="0" anchor="ctr"/>
          <a:lstStyle/>
          <a:p>
            <a:pPr algn="ctr" indent="0" marL="0">
              <a:buNone/>
            </a:pPr>
            <a:r>
              <a:rPr lang="en-US" sz="1500" b="1" dirty="0">
                <a:solidFill>
                  <a:srgbClr val="212121"/>
                </a:solidFill>
                <a:latin typeface="Rajdhani" pitchFamily="34" charset="0"/>
                <a:ea typeface="Rajdhani" pitchFamily="34" charset="-122"/>
                <a:cs typeface="Rajdhani" pitchFamily="34" charset="-120"/>
              </a:rPr>
              <a:t>NET EBITDA GAIN</a:t>
            </a:r>
            <a:endParaRPr lang="en-US" sz="1500" dirty="0"/>
          </a:p>
        </p:txBody>
      </p:sp>
      <p:sp>
        <p:nvSpPr>
          <p:cNvPr id="17" name="Text 14"/>
          <p:cNvSpPr/>
          <p:nvPr/>
        </p:nvSpPr>
        <p:spPr>
          <a:xfrm>
            <a:off x="6035040" y="2468880"/>
            <a:ext cx="5605272" cy="320040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Combined effect yields 18-24% EBITDA improvement for adjacent businesses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KEY BUSINESS CATEGORIES ANALYZED | AVENTINO EBITDA ANALYSIS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BETHESDA MARKET DYNAMICS</a:t>
            </a:r>
            <a:endParaRPr lang="en-US" sz="2600" dirty="0"/>
          </a:p>
        </p:txBody>
      </p:sp>
      <p:sp>
        <p:nvSpPr>
          <p:cNvPr id="5" name="Text 2"/>
          <p:cNvSpPr/>
          <p:nvPr/>
        </p:nvSpPr>
        <p:spPr>
          <a:xfrm>
            <a:off x="365760"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RESTAURANTS 34%</a:t>
            </a:r>
            <a:endParaRPr lang="en-US" sz="1400" dirty="0"/>
          </a:p>
        </p:txBody>
      </p:sp>
      <p:sp>
        <p:nvSpPr>
          <p:cNvPr id="6" name="Text 3"/>
          <p:cNvSpPr/>
          <p:nvPr/>
        </p:nvSpPr>
        <p:spPr>
          <a:xfrm>
            <a:off x="365760"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Dining establishments experiencing highest traffic correlation</a:t>
            </a:r>
            <a:endParaRPr lang="en-US" sz="1200" dirty="0"/>
          </a:p>
        </p:txBody>
      </p:sp>
      <p:sp>
        <p:nvSpPr>
          <p:cNvPr id="7" name="Text 4"/>
          <p:cNvSpPr/>
          <p:nvPr/>
        </p:nvSpPr>
        <p:spPr>
          <a:xfrm>
            <a:off x="8074152"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PROFESSIONAL SERVICES 28%</a:t>
            </a:r>
            <a:endParaRPr lang="en-US" sz="1400" dirty="0"/>
          </a:p>
        </p:txBody>
      </p:sp>
      <p:sp>
        <p:nvSpPr>
          <p:cNvPr id="8" name="Text 5"/>
          <p:cNvSpPr/>
          <p:nvPr/>
        </p:nvSpPr>
        <p:spPr>
          <a:xfrm>
            <a:off x="8074152"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Legal, financial, and medical practices with proximity benefits</a:t>
            </a:r>
            <a:endParaRPr lang="en-US" sz="1200" dirty="0"/>
          </a:p>
        </p:txBody>
      </p:sp>
      <p:sp>
        <p:nvSpPr>
          <p:cNvPr id="9" name="Text 6"/>
          <p:cNvSpPr/>
          <p:nvPr/>
        </p:nvSpPr>
        <p:spPr>
          <a:xfrm>
            <a:off x="365760"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RETAIL STORES 22%</a:t>
            </a:r>
            <a:endParaRPr lang="en-US" sz="1400" dirty="0"/>
          </a:p>
        </p:txBody>
      </p:sp>
      <p:sp>
        <p:nvSpPr>
          <p:cNvPr id="10" name="Text 7"/>
          <p:cNvSpPr/>
          <p:nvPr/>
        </p:nvSpPr>
        <p:spPr>
          <a:xfrm>
            <a:off x="365760"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Specialty shops and boutiques competing for foot traffic</a:t>
            </a:r>
            <a:endParaRPr lang="en-US" sz="1200" dirty="0"/>
          </a:p>
        </p:txBody>
      </p:sp>
      <p:sp>
        <p:nvSpPr>
          <p:cNvPr id="11" name="Text 8"/>
          <p:cNvSpPr/>
          <p:nvPr/>
        </p:nvSpPr>
        <p:spPr>
          <a:xfrm>
            <a:off x="8074152"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FITNESS &amp; WELLNESS 16%</a:t>
            </a:r>
            <a:endParaRPr lang="en-US" sz="1400" dirty="0"/>
          </a:p>
        </p:txBody>
      </p:sp>
      <p:sp>
        <p:nvSpPr>
          <p:cNvPr id="12" name="Text 9"/>
          <p:cNvSpPr/>
          <p:nvPr/>
        </p:nvSpPr>
        <p:spPr>
          <a:xfrm>
            <a:off x="8074152"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Gyms and wellness centers leveraging convenience factor</a:t>
            </a:r>
            <a:endParaRPr lang="en-US" sz="1200" dirty="0"/>
          </a:p>
        </p:txBody>
      </p:sp>
      <p:sp>
        <p:nvSpPr>
          <p:cNvPr id="13" name="Shape 10"/>
          <p:cNvSpPr/>
          <p:nvPr/>
        </p:nvSpPr>
        <p:spPr>
          <a:xfrm>
            <a:off x="4631436" y="2468880"/>
            <a:ext cx="2926080" cy="2011680"/>
          </a:xfrm>
          <a:prstGeom prst="rect">
            <a:avLst/>
          </a:prstGeom>
          <a:solidFill>
            <a:srgbClr val="212121"/>
          </a:solidFill>
          <a:ln w="25400">
            <a:solidFill>
              <a:srgbClr val="FEC00F"/>
            </a:solidFill>
            <a:prstDash val="solid"/>
          </a:ln>
        </p:spPr>
      </p:sp>
      <p:sp>
        <p:nvSpPr>
          <p:cNvPr id="14" name="Text 11"/>
          <p:cNvSpPr/>
          <p:nvPr/>
        </p:nvSpPr>
        <p:spPr>
          <a:xfrm>
            <a:off x="4631436" y="2651760"/>
            <a:ext cx="2926080" cy="45720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AVENTINO RETAIL CENTER</a:t>
            </a:r>
            <a:endParaRPr lang="en-US" sz="1400" dirty="0"/>
          </a:p>
        </p:txBody>
      </p:sp>
      <p:sp>
        <p:nvSpPr>
          <p:cNvPr id="15" name="Text 12"/>
          <p:cNvSpPr/>
          <p:nvPr/>
        </p:nvSpPr>
        <p:spPr>
          <a:xfrm>
            <a:off x="4631436" y="3154680"/>
            <a:ext cx="2926080" cy="1097280"/>
          </a:xfrm>
          <a:prstGeom prst="rect">
            <a:avLst/>
          </a:prstGeom>
          <a:noFill/>
          <a:ln/>
        </p:spPr>
        <p:txBody>
          <a:bodyPr wrap="square" rtlCol="0" anchor="ctr"/>
          <a:lstStyle/>
          <a:p>
            <a:pPr algn="ctr" indent="0" marL="0">
              <a:buNone/>
            </a:pPr>
            <a:r>
              <a:rPr lang="en-US" sz="1200" dirty="0">
                <a:solidFill>
                  <a:srgbClr val="FFFFFF"/>
                </a:solidFill>
                <a:latin typeface="Quicksand" pitchFamily="34" charset="0"/>
                <a:ea typeface="Quicksand" pitchFamily="34" charset="-122"/>
                <a:cs typeface="Quicksand" pitchFamily="34" charset="-120"/>
              </a:rPr>
              <a:t>Mixed-use development creating traffic hub and competitive dynamics across business categories.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AVENTINO EBITDA ANALYSIS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BETHESDA BUSINESSES SHOW MEASURABLE EBITDA IMPROVEMENTS POST-AVENTINO</a:t>
            </a:r>
            <a:endParaRPr lang="en-US" sz="2800" dirty="0"/>
          </a:p>
        </p:txBody>
      </p:sp>
      <p:sp>
        <p:nvSpPr>
          <p:cNvPr id="5" name="Shape 2"/>
          <p:cNvSpPr/>
          <p:nvPr/>
        </p:nvSpPr>
        <p:spPr>
          <a:xfrm>
            <a:off x="365760" y="1188720"/>
            <a:ext cx="1828800" cy="54864"/>
          </a:xfrm>
          <a:prstGeom prst="rect">
            <a:avLst/>
          </a:prstGeom>
          <a:solidFill>
            <a:srgbClr val="FEC00F"/>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2291486"/>
                <a:gridCol w="2291486"/>
                <a:gridCol w="2291486"/>
                <a:gridCol w="2291486"/>
                <a:gridCol w="2291486"/>
              </a:tblGrid>
              <a:tr h="411480">
                <a:tc gridSpan="5">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EBITDA IMPACT BY DISTANCE FROM AVENTINO</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c hMerge="1">
                  <a:tcPr/>
                </a:tc>
                <a:tc hMerge="1">
                  <a:tcPr/>
                </a:tc>
              </a:tr>
              <a:tr h="411480">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DISTANCE RANGE</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SAMPLE SIZE</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AVG EBITDA CHANGE</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REVENUE CHANGE</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COST REDUCTION</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0-0.25 miles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47 businesses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+22.4%</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+15.8%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-4.2%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0.25-0.5 miles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63 businesses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+18.7%</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+12.3%</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-3.1%</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0.5-1.0 miles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89 businesses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+8.9%</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+6.4%</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1.0+ miles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124 businesses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+2.1%</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+1.4%</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-0.3%</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bl>
          </a:graphicData>
        </a:graphic>
      </p:graphicFrame>
      <p:sp>
        <p:nvSpPr>
          <p:cNvPr id="7" name="Text 3"/>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 Based on 12-month post-opening analysis.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AVENTINO EBITDA ANALYSIS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212121"/>
                </a:solidFill>
                <a:latin typeface="Rajdhani" pitchFamily="34" charset="0"/>
                <a:ea typeface="Rajdhani" pitchFamily="34" charset="-122"/>
                <a:cs typeface="Rajdhani" pitchFamily="34" charset="-120"/>
              </a:rPr>
              <a:t>PROXIMITY DRIVES PERFORMANCE CORRELATION</a:t>
            </a:r>
            <a:endParaRPr lang="en-US" sz="2600" dirty="0"/>
          </a:p>
        </p:txBody>
      </p:sp>
      <p:sp>
        <p:nvSpPr>
          <p:cNvPr id="5" name="Shape 2"/>
          <p:cNvSpPr/>
          <p:nvPr/>
        </p:nvSpPr>
        <p:spPr>
          <a:xfrm>
            <a:off x="365760" y="1188720"/>
            <a:ext cx="1828800" cy="54864"/>
          </a:xfrm>
          <a:prstGeom prst="rect">
            <a:avLst/>
          </a:prstGeom>
          <a:solidFill>
            <a:srgbClr val="FEC00F"/>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5728716"/>
                <a:gridCol w="5728716"/>
              </a:tblGrid>
              <a:tr h="411480">
                <a:tc gridSpan="2">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STATISTICAL SIGNIFICANCE ANALYSIS</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r>
              <a:tr h="411480">
                <a:tc>
                  <a:txBody>
                    <a:bodyPr/>
                    <a:lstStyle/>
                    <a:p>
                      <a:pPr algn="ctr" indent="0" marL="0">
                        <a:buNone/>
                      </a:pP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METRIC</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Average EBITDA Improvement</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16.2%</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Correlation Coefficient</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0.73</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Standard Deviation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8.4%</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Confidence Level</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94.5%</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Sample Period</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24 months</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bl>
          </a:graphicData>
        </a:graphic>
      </p:graphicFrame>
      <p:sp>
        <p:nvSpPr>
          <p:cNvPr id="7" name="Text 3"/>
          <p:cNvSpPr/>
          <p:nvPr/>
        </p:nvSpPr>
        <p:spPr>
          <a:xfrm>
            <a:off x="365760" y="6355080"/>
            <a:ext cx="11457432" cy="41148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 Statistical analysis of 323 Bethesda businesses.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AVENTINO EBITDA ANALYSIS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FFFFFF"/>
                </a:solidFill>
                <a:latin typeface="Rajdhani" pitchFamily="34" charset="0"/>
                <a:ea typeface="Rajdhani" pitchFamily="34" charset="-122"/>
                <a:cs typeface="Rajdhani" pitchFamily="34" charset="-120"/>
              </a:rPr>
              <a:t>HOW ARE BUSINESSES LEVERAGING THE AVENTINO EFFECT?</a:t>
            </a:r>
            <a:endParaRPr lang="en-US" sz="2800" dirty="0"/>
          </a:p>
        </p:txBody>
      </p:sp>
      <p:sp>
        <p:nvSpPr>
          <p:cNvPr id="5" name="Shape 2"/>
          <p:cNvSpPr/>
          <p:nvPr/>
        </p:nvSpPr>
        <p:spPr>
          <a:xfrm>
            <a:off x="365760" y="1554480"/>
            <a:ext cx="2560320" cy="2560320"/>
          </a:xfrm>
          <a:prstGeom prst="ellipse">
            <a:avLst/>
          </a:prstGeom>
          <a:solidFill>
            <a:srgbClr val="212121"/>
          </a:solidFill>
          <a:ln w="38100">
            <a:solidFill>
              <a:srgbClr val="FEC00F"/>
            </a:solidFill>
            <a:prstDash val="solid"/>
          </a:ln>
        </p:spPr>
      </p:sp>
      <p:sp>
        <p:nvSpPr>
          <p:cNvPr id="6" name="Text 3"/>
          <p:cNvSpPr/>
          <p:nvPr/>
        </p:nvSpPr>
        <p:spPr>
          <a:xfrm>
            <a:off x="457200"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STRATEGIC RELOCATIONS</a:t>
            </a:r>
            <a:endParaRPr lang="en-US" sz="1300" dirty="0"/>
          </a:p>
        </p:txBody>
      </p:sp>
      <p:sp>
        <p:nvSpPr>
          <p:cNvPr id="7" name="Text 4"/>
          <p:cNvSpPr/>
          <p:nvPr/>
        </p:nvSpPr>
        <p:spPr>
          <a:xfrm>
            <a:off x="457200"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Businesses moving closer to capture increased foot traffic and visibility benefits.</a:t>
            </a:r>
            <a:endParaRPr lang="en-US" sz="1100" dirty="0"/>
          </a:p>
        </p:txBody>
      </p:sp>
      <p:sp>
        <p:nvSpPr>
          <p:cNvPr id="8" name="Shape 5"/>
          <p:cNvSpPr/>
          <p:nvPr/>
        </p:nvSpPr>
        <p:spPr>
          <a:xfrm>
            <a:off x="3331464" y="1554480"/>
            <a:ext cx="2560320" cy="2560320"/>
          </a:xfrm>
          <a:prstGeom prst="ellipse">
            <a:avLst/>
          </a:prstGeom>
          <a:solidFill>
            <a:srgbClr val="212121"/>
          </a:solidFill>
          <a:ln w="38100">
            <a:solidFill>
              <a:srgbClr val="FEC00F"/>
            </a:solidFill>
            <a:prstDash val="solid"/>
          </a:ln>
        </p:spPr>
      </p:sp>
      <p:sp>
        <p:nvSpPr>
          <p:cNvPr id="9" name="Text 6"/>
          <p:cNvSpPr/>
          <p:nvPr/>
        </p:nvSpPr>
        <p:spPr>
          <a:xfrm>
            <a:off x="3422904"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OPERATIONAL OPTIMIZATION</a:t>
            </a:r>
            <a:endParaRPr lang="en-US" sz="1300" dirty="0"/>
          </a:p>
        </p:txBody>
      </p:sp>
      <p:sp>
        <p:nvSpPr>
          <p:cNvPr id="10" name="Text 7"/>
          <p:cNvSpPr/>
          <p:nvPr/>
        </p:nvSpPr>
        <p:spPr>
          <a:xfrm>
            <a:off x="3422904"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Leveraging shared services and logistics networks to reduce operational costs.</a:t>
            </a:r>
            <a:endParaRPr lang="en-US" sz="1100" dirty="0"/>
          </a:p>
        </p:txBody>
      </p:sp>
      <p:sp>
        <p:nvSpPr>
          <p:cNvPr id="11" name="Shape 8"/>
          <p:cNvSpPr/>
          <p:nvPr/>
        </p:nvSpPr>
        <p:spPr>
          <a:xfrm>
            <a:off x="6297168" y="1554480"/>
            <a:ext cx="2560320" cy="2560320"/>
          </a:xfrm>
          <a:prstGeom prst="ellipse">
            <a:avLst/>
          </a:prstGeom>
          <a:solidFill>
            <a:srgbClr val="212121"/>
          </a:solidFill>
          <a:ln w="38100">
            <a:solidFill>
              <a:srgbClr val="FEC00F"/>
            </a:solidFill>
            <a:prstDash val="solid"/>
          </a:ln>
        </p:spPr>
      </p:sp>
      <p:sp>
        <p:nvSpPr>
          <p:cNvPr id="12" name="Text 9"/>
          <p:cNvSpPr/>
          <p:nvPr/>
        </p:nvSpPr>
        <p:spPr>
          <a:xfrm>
            <a:off x="6388608"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MARKETING SYNERGIES</a:t>
            </a:r>
            <a:endParaRPr lang="en-US" sz="1300" dirty="0"/>
          </a:p>
        </p:txBody>
      </p:sp>
      <p:sp>
        <p:nvSpPr>
          <p:cNvPr id="13" name="Text 10"/>
          <p:cNvSpPr/>
          <p:nvPr/>
        </p:nvSpPr>
        <p:spPr>
          <a:xfrm>
            <a:off x="6388608"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Coordinated promotional activities to maximize cross-traffic opportunities.</a:t>
            </a:r>
            <a:endParaRPr lang="en-US" sz="1100" dirty="0"/>
          </a:p>
        </p:txBody>
      </p:sp>
      <p:sp>
        <p:nvSpPr>
          <p:cNvPr id="14" name="Shape 11"/>
          <p:cNvSpPr/>
          <p:nvPr/>
        </p:nvSpPr>
        <p:spPr>
          <a:xfrm>
            <a:off x="9262872" y="1554480"/>
            <a:ext cx="2560320" cy="2560320"/>
          </a:xfrm>
          <a:prstGeom prst="ellipse">
            <a:avLst/>
          </a:prstGeom>
          <a:solidFill>
            <a:srgbClr val="212121"/>
          </a:solidFill>
          <a:ln w="38100">
            <a:solidFill>
              <a:srgbClr val="FEC00F"/>
            </a:solidFill>
            <a:prstDash val="solid"/>
          </a:ln>
        </p:spPr>
      </p:sp>
      <p:sp>
        <p:nvSpPr>
          <p:cNvPr id="15" name="Text 12"/>
          <p:cNvSpPr/>
          <p:nvPr/>
        </p:nvSpPr>
        <p:spPr>
          <a:xfrm>
            <a:off x="9354312"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LEASE NEGOTIATIONS</a:t>
            </a:r>
            <a:endParaRPr lang="en-US" sz="1300" dirty="0"/>
          </a:p>
        </p:txBody>
      </p:sp>
      <p:sp>
        <p:nvSpPr>
          <p:cNvPr id="16" name="Text 13"/>
          <p:cNvSpPr/>
          <p:nvPr/>
        </p:nvSpPr>
        <p:spPr>
          <a:xfrm>
            <a:off x="9354312"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Using proximity data to justify rental terms and expansion decisions.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65760" y="228600"/>
            <a:ext cx="1828800" cy="594360"/>
          </a:xfrm>
          <a:prstGeom prst="rect">
            <a:avLst/>
          </a:prstGeom>
        </p:spPr>
      </p:pic>
      <p:sp>
        <p:nvSpPr>
          <p:cNvPr id="3" name="Text 0"/>
          <p:cNvSpPr/>
          <p:nvPr/>
        </p:nvSpPr>
        <p:spPr>
          <a:xfrm>
            <a:off x="365760" y="2286000"/>
            <a:ext cx="11457432" cy="1371600"/>
          </a:xfrm>
          <a:prstGeom prst="rect">
            <a:avLst/>
          </a:prstGeom>
          <a:noFill/>
          <a:ln/>
        </p:spPr>
        <p:txBody>
          <a:bodyPr wrap="square" rtlCol="0" anchor="ctr"/>
          <a:lstStyle/>
          <a:p>
            <a:pPr algn="ctr" indent="0" marL="0">
              <a:buNone/>
            </a:pPr>
            <a:r>
              <a:rPr lang="en-US" sz="6000" b="1" dirty="0">
                <a:solidFill>
                  <a:srgbClr val="FFFFFF"/>
                </a:solidFill>
                <a:latin typeface="Rajdhani" pitchFamily="34" charset="0"/>
                <a:ea typeface="Rajdhani" pitchFamily="34" charset="-122"/>
                <a:cs typeface="Rajdhani" pitchFamily="34" charset="-120"/>
              </a:rPr>
              <a:t>THANK YOU!</a:t>
            </a:r>
            <a:endParaRPr lang="en-US" sz="6000" dirty="0"/>
          </a:p>
        </p:txBody>
      </p:sp>
      <p:sp>
        <p:nvSpPr>
          <p:cNvPr id="4" name="Text 1"/>
          <p:cNvSpPr/>
          <p:nvPr/>
        </p:nvSpPr>
        <p:spPr>
          <a:xfrm>
            <a:off x="365760" y="3840480"/>
            <a:ext cx="11457432" cy="548640"/>
          </a:xfrm>
          <a:prstGeom prst="rect">
            <a:avLst/>
          </a:prstGeom>
          <a:noFill/>
          <a:ln/>
        </p:spPr>
        <p:txBody>
          <a:bodyPr wrap="square" rtlCol="0" anchor="ctr"/>
          <a:lstStyle/>
          <a:p>
            <a:pPr algn="ctr" indent="0" marL="0">
              <a:buNone/>
            </a:pPr>
            <a:r>
              <a:rPr lang="en-US" sz="1600" i="1" dirty="0">
                <a:solidFill>
                  <a:srgbClr val="FEC00F"/>
                </a:solidFill>
                <a:latin typeface="Quicksand" pitchFamily="34" charset="0"/>
                <a:ea typeface="Quicksand" pitchFamily="34" charset="-122"/>
                <a:cs typeface="Quicksand" pitchFamily="34" charset="-120"/>
              </a:rPr>
              <a:t>We have a team of regional consultants ready to help.</a:t>
            </a:r>
            <a:endParaRPr lang="en-US" sz="1600" dirty="0"/>
          </a:p>
        </p:txBody>
      </p:sp>
      <p:sp>
        <p:nvSpPr>
          <p:cNvPr id="5" name="Text 2"/>
          <p:cNvSpPr/>
          <p:nvPr/>
        </p:nvSpPr>
        <p:spPr>
          <a:xfrm>
            <a:off x="365760" y="4754880"/>
            <a:ext cx="11457432" cy="365760"/>
          </a:xfrm>
          <a:prstGeom prst="rect">
            <a:avLst/>
          </a:prstGeom>
          <a:noFill/>
          <a:ln/>
        </p:spPr>
        <p:txBody>
          <a:bodyPr wrap="square" rtlCol="0" anchor="ctr"/>
          <a:lstStyle/>
          <a:p>
            <a:pPr algn="ctr" indent="0" marL="0">
              <a:buNone/>
            </a:pPr>
            <a:r>
              <a:rPr lang="en-US" sz="1400" u="sng" dirty="0">
                <a:solidFill>
                  <a:srgbClr val="FFFFFF"/>
                </a:solidFill>
                <a:latin typeface="Quicksand" pitchFamily="34" charset="0"/>
                <a:ea typeface="Quicksand" pitchFamily="34" charset="-122"/>
                <a:cs typeface="Quicksand"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potomac.com</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2200" b="1" dirty="0">
                <a:solidFill>
                  <a:srgbClr val="FEC00F"/>
                </a:solidFill>
                <a:latin typeface="Rajdhani" pitchFamily="34" charset="0"/>
                <a:ea typeface="Rajdhani" pitchFamily="34" charset="-122"/>
                <a:cs typeface="Rajdhani" pitchFamily="34" charset="-120"/>
              </a:rPr>
              <a:t>DISCLOSURES</a:t>
            </a:r>
            <a:endParaRPr lang="en-US" sz="2200" dirty="0"/>
          </a:p>
        </p:txBody>
      </p:sp>
      <p:sp>
        <p:nvSpPr>
          <p:cNvPr id="4" name="Text 1"/>
          <p:cNvSpPr/>
          <p:nvPr/>
        </p:nvSpPr>
        <p:spPr>
          <a:xfrm>
            <a:off x="365760" y="822960"/>
            <a:ext cx="11457432" cy="5852160"/>
          </a:xfrm>
          <a:prstGeom prst="rect">
            <a:avLst/>
          </a:prstGeom>
          <a:noFill/>
          <a:ln/>
        </p:spPr>
        <p:txBody>
          <a:bodyPr wrap="square" rtlCol="0" anchor="ctr"/>
          <a:lstStyle/>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Potomac is a registered investment adviser. Registration with the SEC does not imply a certain level of skill or training. The information presented herein is for informational and educational purposes only and is not intended as investment advice. Past performance does not guarantee future results. All investing involves risk, including possible loss of principal. The strategies described may not be suitable for all investors.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Indices referenced are unmanaged and cannot be invested in directly. The S&amp;P 500 Index is a market-capitalization-weighted index of 500 leading publicly traded companies in the U.S.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Please refer to Potomac's Form ADV Part 2A for additional information about our services, fees, and risks. A copy is available at www.adviserinfo.sec.gov or by contacting us at info@potomac.com.</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PFM-508-20260221</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1800" b="1" dirty="0">
                <a:solidFill>
                  <a:srgbClr val="FEC00F"/>
                </a:solidFill>
                <a:latin typeface="Rajdhani" pitchFamily="34" charset="0"/>
                <a:ea typeface="Rajdhani" pitchFamily="34" charset="-122"/>
                <a:cs typeface="Rajdhani" pitchFamily="34" charset="-120"/>
              </a:rPr>
              <a:t>IMPORTANT DEFINITIONS USED IN THIS REPORT</a:t>
            </a:r>
            <a:endParaRPr lang="en-US" sz="1800" dirty="0"/>
          </a:p>
        </p:txBody>
      </p:sp>
      <p:sp>
        <p:nvSpPr>
          <p:cNvPr id="4" name="Text 1"/>
          <p:cNvSpPr/>
          <p:nvPr/>
        </p:nvSpPr>
        <p:spPr>
          <a:xfrm>
            <a:off x="365760" y="868680"/>
            <a:ext cx="11457432" cy="5852160"/>
          </a:xfrm>
          <a:prstGeom prst="rect">
            <a:avLst/>
          </a:prstGeom>
          <a:noFill/>
          <a:ln/>
        </p:spPr>
        <p:txBody>
          <a:bodyPr wrap="square" rtlCol="0" anchor="ctr"/>
          <a:lstStyle/>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EBITDA: Earnings Before Interest, Taxes, Depreciation, and Amortization - a measure of a company's operating performance.</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Foot Traffic: The number of people entering a retail location or commercial area during a specific time period.</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Competitive Displacement: The redistribution of market share when new businesses enter a market area.</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Correlation Coefficient: A statistical measure ranging from -1 to +1 that indicates the strength of relationship between two variables.</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Operational Synergies: Cost savings and efficiency gains achieved through shared resources or coordinated operations.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Potomac Fund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AVENTINO RETAIL IMPACT STUDY</dc:title>
  <dc:subject>Investment Strategy Presentation</dc:subject>
  <dc:creator>Potomac Fund Management</dc:creator>
  <cp:lastModifiedBy>Potomac Fund Management</cp:lastModifiedBy>
  <cp:revision>1</cp:revision>
  <dcterms:created xsi:type="dcterms:W3CDTF">2026-02-21T16:51:52Z</dcterms:created>
  <dcterms:modified xsi:type="dcterms:W3CDTF">2026-02-21T16:51:52Z</dcterms:modified>
</cp:coreProperties>
</file>