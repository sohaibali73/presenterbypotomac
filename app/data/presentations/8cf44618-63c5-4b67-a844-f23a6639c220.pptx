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49a14e4-eafd-de6e-b9b3-3717f45f0c34}">
          <p14:sldIdLst/>
        </p14:section>
        <p14:section name="Default-1" id="{52151bc7-661f-8115-be52-99717476722b}">
          <p14:sldIdLst>
            <p14:sldId id="256"/>
          </p14:sldIdLst>
        </p14:section>
        <p14:section name="PROCESS" id="{aaa54d0b-a76f-72bf-8692-fbd90dd9a34b}">
          <p14:sldIdLst/>
        </p14:section>
        <p14:section name="Default-2" id="{a9708c63-96ba-e839-8903-945c7d9672be}">
          <p14:sldIdLst>
            <p14:sldId id="257"/>
            <p14:sldId id="258"/>
            <p14:sldId id="259"/>
            <p14:sldId id="260"/>
            <p14:sldId id="261"/>
            <p14:sldId id="262"/>
            <p14:sldId id="263"/>
            <p14:sldId id="264"/>
            <p14:sldId id="265"/>
            <p14:sldId id="266"/>
            <p14:sldId id="267"/>
          </p14:sldIdLst>
        </p14:section>
        <p14:section name="Closing" id="{be727924-0a92-e551-50f1-2594a158c799}">
          <p14:sldIdLst/>
        </p14:section>
        <p14:section name="Default-3" id="{dd83f210-fa6f-d299-8ccc-2b88be42e57f}">
          <p14:sldIdLst>
            <p14:sldId id="268"/>
          </p14:sldIdLst>
        </p14:section>
        <p14:section name="Appendix" id="{814072a2-58dc-f1f0-619e-e8786808d0cf}">
          <p14:sldIdLst/>
        </p14:section>
        <p14:section name="Default-4" id="{15181c33-a9f8-c968-555d-3febd662869f}">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MASTER">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full-logo.png">    </p:cNvPr>
          <p:cNvPicPr>
            <a:picLocks noChangeAspect="1"/>
          </p:cNvPicPr>
          <p:nvPr/>
        </p:nvPicPr>
        <p:blipFill>
          <a:blip r:embed="rId1"/>
          <a:srcRect l="0" r="0" t="0" b="0"/>
          <a:stretch/>
        </p:blipFill>
        <p:spPr>
          <a:xfrm>
            <a:off x="320040" y="164592"/>
            <a:ext cx="1463040" cy="457200"/>
          </a:xfrm>
          <a:prstGeom prst="rect">
            <a:avLst/>
          </a:prstGeom>
        </p:spPr>
      </p:pic>
      <p:pic>
        <p:nvPicPr>
          <p:cNvPr id="3" name="Image 1" descr="C:\Users\SohaibAli\Documents\PresenterByPotomac\app\skills\JSPPTXPotomac\brand-assets\logos\potomac-icon-white.png">    </p:cNvPr>
          <p:cNvPicPr>
            <a:picLocks noChangeAspect="1"/>
          </p:cNvPicPr>
          <p:nvPr/>
        </p:nvPicPr>
        <p:blipFill>
          <a:blip r:embed="rId2"/>
          <a:srcRect l="0" r="0" t="0" b="0"/>
          <a:stretch/>
        </p:blipFill>
        <p:spPr>
          <a:xfrm>
            <a:off x="11274552" y="137160"/>
            <a:ext cx="640080" cy="640080"/>
          </a:xfrm>
          <a:prstGeom prst="rect">
            <a:avLst/>
          </a:prstGeom>
        </p:spPr>
      </p:pic>
      <p:sp>
        <p:nvSpPr>
          <p:cNvPr id="25" name="Slide Number Placeholder 0"/>
          <p:cNvSpPr>
            <a:spLocks noGrp="1"/>
          </p:cNvSpPr>
          <p:nvPr>
            <p:ph type="sldNum" sz="quarter" idx="4294967295"/>
          </p:nvPr>
        </p:nvSpPr>
        <p:spPr>
          <a:xfrm>
            <a:off x="365760" y="658368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37373"/>
                </a:solidFill>
                <a:latin typeface="Quicksand"/>
                <a:ea typeface="Quicksand"/>
                <a:cs typeface="Quicksand"/>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MASTER">
    <p:bg>
      <p:bgPr>
        <a:solidFill>
          <a:srgbClr val="FFFFFF"/>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25" name="Slide Number Placeholder 0"/>
          <p:cNvSpPr>
            <a:spLocks noGrp="1"/>
          </p:cNvSpPr>
          <p:nvPr>
            <p:ph type="sldNum" sz="quarter" idx="4294967295"/>
          </p:nvPr>
        </p:nvSpPr>
        <p:spPr>
          <a:xfrm>
            <a:off x="365760" y="658368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37373"/>
                </a:solidFill>
                <a:latin typeface="Quicksand"/>
                <a:ea typeface="Quicksand"/>
                <a:cs typeface="Quicksand"/>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65760" y="658368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37373"/>
                </a:solidFill>
                <a:latin typeface="Quicksand"/>
                <a:ea typeface="Quicksand"/>
                <a:cs typeface="Quicksand"/>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www.potomac.com" TargetMode="External"/><Relationship Id="rId1" Type="http://schemas.openxmlformats.org/officeDocument/2006/relationships/image" Target="../media/image-13-1.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121"/>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EC00F"/>
          </a:solidFill>
          <a:ln/>
        </p:spPr>
      </p:sp>
      <p:pic>
        <p:nvPicPr>
          <p:cNvPr id="3" name="Image 0" descr="C:\Users\SohaibAli\Documents\PresenterByPotomac\app\skills\JSPPTXPotomac\brand-assets\logos\potomac-full-logo.png">    </p:cNvPr>
          <p:cNvPicPr>
            <a:picLocks noChangeAspect="1"/>
          </p:cNvPicPr>
          <p:nvPr/>
        </p:nvPicPr>
        <p:blipFill>
          <a:blip r:embed="rId1"/>
          <a:srcRect l="0" r="0" t="0" b="0"/>
          <a:stretch/>
        </p:blipFill>
        <p:spPr>
          <a:xfrm>
            <a:off x="365760" y="274320"/>
            <a:ext cx="1828800" cy="374904"/>
          </a:xfrm>
          <a:prstGeom prst="rect">
            <a:avLst/>
          </a:prstGeom>
        </p:spPr>
      </p:pic>
      <p:sp>
        <p:nvSpPr>
          <p:cNvPr id="4" name="Shape 1"/>
          <p:cNvSpPr/>
          <p:nvPr/>
        </p:nvSpPr>
        <p:spPr>
          <a:xfrm>
            <a:off x="4265676" y="2011680"/>
            <a:ext cx="3657600" cy="73152"/>
          </a:xfrm>
          <a:prstGeom prst="rect">
            <a:avLst/>
          </a:prstGeom>
          <a:solidFill>
            <a:srgbClr val="FEC00F"/>
          </a:solidFill>
          <a:ln/>
        </p:spPr>
      </p:sp>
      <p:sp>
        <p:nvSpPr>
          <p:cNvPr id="5" name="Text 2"/>
          <p:cNvSpPr/>
          <p:nvPr/>
        </p:nvSpPr>
        <p:spPr>
          <a:xfrm>
            <a:off x="914400" y="2377440"/>
            <a:ext cx="10360152" cy="2011680"/>
          </a:xfrm>
          <a:prstGeom prst="rect">
            <a:avLst/>
          </a:prstGeom>
          <a:noFill/>
          <a:ln/>
        </p:spPr>
        <p:txBody>
          <a:bodyPr wrap="square" rtlCol="0" anchor="ctr"/>
          <a:lstStyle/>
          <a:p>
            <a:pPr algn="ctr" indent="0" marL="0">
              <a:buNone/>
            </a:pPr>
            <a:r>
              <a:rPr lang="en-US" sz="4800" b="1" dirty="0">
                <a:solidFill>
                  <a:srgbClr val="FFFFFF"/>
                </a:solidFill>
                <a:latin typeface="Rajdhani" pitchFamily="34" charset="0"/>
                <a:ea typeface="Rajdhani" pitchFamily="34" charset="-122"/>
                <a:cs typeface="Rajdhani" pitchFamily="34" charset="-120"/>
              </a:rPr>
              <a:t>BULL BEAR STRATEGY</a:t>
            </a:r>
            <a:endParaRPr lang="en-US" sz="4800" dirty="0"/>
          </a:p>
        </p:txBody>
      </p:sp>
      <p:sp>
        <p:nvSpPr>
          <p:cNvPr id="6" name="Text 3"/>
          <p:cNvSpPr/>
          <p:nvPr/>
        </p:nvSpPr>
        <p:spPr>
          <a:xfrm>
            <a:off x="365760" y="6172200"/>
            <a:ext cx="11457432" cy="457200"/>
          </a:xfrm>
          <a:prstGeom prst="rect">
            <a:avLst/>
          </a:prstGeom>
          <a:noFill/>
          <a:ln/>
        </p:spPr>
        <p:txBody>
          <a:bodyPr wrap="square" rtlCol="0" anchor="ctr"/>
          <a:lstStyle/>
          <a:p>
            <a:pPr algn="ctr" indent="0" marL="0">
              <a:buNone/>
            </a:pPr>
            <a:r>
              <a:rPr lang="en-US" sz="1400" i="1" dirty="0">
                <a:solidFill>
                  <a:srgbClr val="FEC00F"/>
                </a:solidFill>
                <a:latin typeface="Quicksand" pitchFamily="34" charset="0"/>
                <a:ea typeface="Quicksand" pitchFamily="34" charset="-122"/>
                <a:cs typeface="Quicksand" pitchFamily="34" charset="-120"/>
              </a:rPr>
              <a:t>Built to Conquer Risk®</a:t>
            </a:r>
            <a:endParaRPr lang="en-US" sz="1400" dirty="0"/>
          </a:p>
        </p:txBody>
      </p:sp>
      <p:sp>
        <p:nvSpPr>
          <p:cNvPr id="7" name="Shape 4"/>
          <p:cNvSpPr/>
          <p:nvPr/>
        </p:nvSpPr>
        <p:spPr>
          <a:xfrm>
            <a:off x="0" y="6784848"/>
            <a:ext cx="12188952" cy="73152"/>
          </a:xfrm>
          <a:prstGeom prst="rect">
            <a:avLst/>
          </a:prstGeom>
          <a:solidFill>
            <a:srgbClr val="FEC00F"/>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731520" y="2286000"/>
            <a:ext cx="10725912" cy="1828800"/>
          </a:xfrm>
          <a:prstGeom prst="rect">
            <a:avLst/>
          </a:prstGeom>
          <a:noFill/>
          <a:ln/>
        </p:spPr>
        <p:txBody>
          <a:bodyPr wrap="square" rtlCol="0" anchor="ctr"/>
          <a:lstStyle/>
          <a:p>
            <a:pPr algn="ctr" indent="0" marL="0">
              <a:buNone/>
            </a:pPr>
            <a:r>
              <a:rPr lang="en-US" sz="4400" b="1" dirty="0">
                <a:solidFill>
                  <a:srgbClr val="212121"/>
                </a:solidFill>
                <a:latin typeface="Rajdhani" pitchFamily="34" charset="0"/>
                <a:ea typeface="Rajdhani" pitchFamily="34" charset="-122"/>
                <a:cs typeface="Rajdhani" pitchFamily="34" charset="-120"/>
              </a:rPr>
              <a:t>PROCESS</a:t>
            </a:r>
            <a:endParaRPr lang="en-US" sz="4400" dirty="0"/>
          </a:p>
        </p:txBody>
      </p:sp>
      <p:sp>
        <p:nvSpPr>
          <p:cNvPr id="4" name="Shape 1"/>
          <p:cNvSpPr/>
          <p:nvPr/>
        </p:nvSpPr>
        <p:spPr>
          <a:xfrm>
            <a:off x="4722876" y="4251960"/>
            <a:ext cx="2743200" cy="73152"/>
          </a:xfrm>
          <a:prstGeom prst="rect">
            <a:avLst/>
          </a:prstGeom>
          <a:solidFill>
            <a:srgbClr val="FEC00F"/>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48640"/>
            <a:ext cx="10817352" cy="914400"/>
          </a:xfrm>
          <a:prstGeom prst="rect">
            <a:avLst/>
          </a:prstGeom>
          <a:noFill/>
          <a:ln/>
        </p:spPr>
        <p:txBody>
          <a:bodyPr wrap="square" rtlCol="0" anchor="ctr"/>
          <a:lstStyle/>
          <a:p>
            <a:pPr indent="0" marL="0">
              <a:buNone/>
            </a:pPr>
            <a:r>
              <a:rPr lang="en-US" sz="3200" b="1" dirty="0">
                <a:solidFill>
                  <a:srgbClr val="FFFFFF"/>
                </a:solidFill>
                <a:latin typeface="Rajdhani" pitchFamily="34" charset="0"/>
                <a:ea typeface="Rajdhani" pitchFamily="34" charset="-122"/>
                <a:cs typeface="Rajdhani" pitchFamily="34" charset="-120"/>
              </a:rPr>
              <a:t>MARKET ANALYSIS: THREE LEGS TO THE STOOL</a:t>
            </a:r>
            <a:endParaRPr lang="en-US" sz="3200" dirty="0"/>
          </a:p>
        </p:txBody>
      </p:sp>
      <p:sp>
        <p:nvSpPr>
          <p:cNvPr id="5" name="Text 2"/>
          <p:cNvSpPr/>
          <p:nvPr/>
        </p:nvSpPr>
        <p:spPr>
          <a:xfrm>
            <a:off x="365760" y="1645920"/>
            <a:ext cx="10817352" cy="457200"/>
          </a:xfrm>
          <a:prstGeom prst="rect">
            <a:avLst/>
          </a:prstGeom>
          <a:noFill/>
          <a:ln/>
        </p:spPr>
        <p:txBody>
          <a:bodyPr wrap="square" rtlCol="0" anchor="ctr"/>
          <a:lstStyle/>
          <a:p>
            <a:pPr algn="ctr" indent="0" marL="0">
              <a:buNone/>
            </a:pPr>
            <a:r>
              <a:rPr lang="en-US" sz="1600" b="1" dirty="0">
                <a:solidFill>
                  <a:srgbClr val="FEC00F"/>
                </a:solidFill>
                <a:latin typeface="Rajdhani" pitchFamily="34" charset="0"/>
                <a:ea typeface="Rajdhani" pitchFamily="34" charset="-122"/>
                <a:cs typeface="Rajdhani" pitchFamily="34" charset="-120"/>
              </a:rPr>
              <a:t>INDICATORS THAT USE MARKET DATA TO ASSESS THE ODDS OF A +/- PRICE TREND</a:t>
            </a:r>
            <a:endParaRPr lang="en-US" sz="1600" dirty="0"/>
          </a:p>
        </p:txBody>
      </p:sp>
      <p:sp>
        <p:nvSpPr>
          <p:cNvPr id="6" name="Shape 3"/>
          <p:cNvSpPr/>
          <p:nvPr/>
        </p:nvSpPr>
        <p:spPr>
          <a:xfrm>
            <a:off x="1796796" y="2560320"/>
            <a:ext cx="2377440" cy="2377440"/>
          </a:xfrm>
          <a:prstGeom prst="ellipse">
            <a:avLst/>
          </a:prstGeom>
          <a:solidFill>
            <a:srgbClr val="212121"/>
          </a:solidFill>
          <a:ln w="12700">
            <a:solidFill>
              <a:srgbClr val="FEC00F"/>
            </a:solidFill>
            <a:prstDash val="solid"/>
          </a:ln>
        </p:spPr>
      </p:sp>
      <p:sp>
        <p:nvSpPr>
          <p:cNvPr id="7" name="Shape 4"/>
          <p:cNvSpPr/>
          <p:nvPr/>
        </p:nvSpPr>
        <p:spPr>
          <a:xfrm>
            <a:off x="2574036" y="2880360"/>
            <a:ext cx="822960" cy="822960"/>
          </a:xfrm>
          <a:prstGeom prst="ellipse">
            <a:avLst/>
          </a:prstGeom>
          <a:solidFill>
            <a:srgbClr val="FEC00F"/>
          </a:solidFill>
          <a:ln/>
        </p:spPr>
      </p:sp>
      <p:sp>
        <p:nvSpPr>
          <p:cNvPr id="8" name="Text 5"/>
          <p:cNvSpPr/>
          <p:nvPr/>
        </p:nvSpPr>
        <p:spPr>
          <a:xfrm>
            <a:off x="2574036" y="2880360"/>
            <a:ext cx="822960" cy="822960"/>
          </a:xfrm>
          <a:prstGeom prst="rect">
            <a:avLst/>
          </a:prstGeom>
          <a:noFill/>
          <a:ln/>
        </p:spPr>
        <p:txBody>
          <a:bodyPr wrap="square" rtlCol="0" anchor="ctr"/>
          <a:lstStyle/>
          <a:p>
            <a:pPr algn="ctr" indent="0" marL="0">
              <a:buNone/>
            </a:pPr>
            <a:r>
              <a:rPr lang="en-US" sz="2800" b="1" dirty="0">
                <a:solidFill>
                  <a:srgbClr val="212121"/>
                </a:solidFill>
                <a:latin typeface="Rajdhani" pitchFamily="34" charset="0"/>
                <a:ea typeface="Rajdhani" pitchFamily="34" charset="-122"/>
                <a:cs typeface="Rajdhani" pitchFamily="34" charset="-120"/>
              </a:rPr>
              <a:t>1</a:t>
            </a:r>
            <a:endParaRPr lang="en-US" sz="2800" dirty="0"/>
          </a:p>
        </p:txBody>
      </p:sp>
      <p:sp>
        <p:nvSpPr>
          <p:cNvPr id="9" name="Text 6"/>
          <p:cNvSpPr/>
          <p:nvPr/>
        </p:nvSpPr>
        <p:spPr>
          <a:xfrm>
            <a:off x="1888236" y="3886200"/>
            <a:ext cx="2194560" cy="41148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TREND DIRECTION</a:t>
            </a:r>
            <a:endParaRPr lang="en-US" sz="1400" dirty="0"/>
          </a:p>
        </p:txBody>
      </p:sp>
      <p:sp>
        <p:nvSpPr>
          <p:cNvPr id="10" name="Text 7"/>
          <p:cNvSpPr/>
          <p:nvPr/>
        </p:nvSpPr>
        <p:spPr>
          <a:xfrm>
            <a:off x="1933956" y="4297680"/>
            <a:ext cx="2103120" cy="502920"/>
          </a:xfrm>
          <a:prstGeom prst="rect">
            <a:avLst/>
          </a:prstGeom>
          <a:noFill/>
          <a:ln/>
        </p:spPr>
        <p:txBody>
          <a:bodyPr wrap="square" rtlCol="0" anchor="ctr"/>
          <a:lstStyle/>
          <a:p>
            <a:pPr algn="ctr" indent="0" marL="0">
              <a:buNone/>
            </a:pPr>
            <a:r>
              <a:rPr lang="en-US" sz="1000" dirty="0">
                <a:solidFill>
                  <a:srgbClr val="FFFFFF"/>
                </a:solidFill>
                <a:latin typeface="Quicksand" pitchFamily="34" charset="0"/>
                <a:ea typeface="Quicksand" pitchFamily="34" charset="-122"/>
                <a:cs typeface="Quicksand" pitchFamily="34" charset="-120"/>
              </a:rPr>
              <a:t>(Up, Down or Sideways)</a:t>
            </a:r>
            <a:endParaRPr lang="en-US" sz="1000" dirty="0"/>
          </a:p>
        </p:txBody>
      </p:sp>
      <p:sp>
        <p:nvSpPr>
          <p:cNvPr id="11" name="Text 8"/>
          <p:cNvSpPr/>
          <p:nvPr/>
        </p:nvSpPr>
        <p:spPr>
          <a:xfrm>
            <a:off x="4311396" y="3611880"/>
            <a:ext cx="457200" cy="274320"/>
          </a:xfrm>
          <a:prstGeom prst="rect">
            <a:avLst/>
          </a:prstGeom>
          <a:noFill/>
          <a:ln/>
        </p:spPr>
        <p:txBody>
          <a:bodyPr wrap="square" rtlCol="0" anchor="ctr"/>
          <a:lstStyle/>
          <a:p>
            <a:pPr algn="ctr" indent="0" marL="0">
              <a:buNone/>
            </a:pPr>
            <a:r>
              <a:rPr lang="en-US" sz="1400" dirty="0">
                <a:solidFill>
                  <a:srgbClr val="737373"/>
                </a:solidFill>
                <a:latin typeface="Rajdhani" pitchFamily="34" charset="0"/>
                <a:ea typeface="Rajdhani" pitchFamily="34" charset="-122"/>
                <a:cs typeface="Rajdhani" pitchFamily="34" charset="-120"/>
              </a:rPr>
              <a:t>▶</a:t>
            </a:r>
            <a:endParaRPr lang="en-US" sz="1400" dirty="0"/>
          </a:p>
        </p:txBody>
      </p:sp>
      <p:sp>
        <p:nvSpPr>
          <p:cNvPr id="12" name="Shape 9"/>
          <p:cNvSpPr/>
          <p:nvPr/>
        </p:nvSpPr>
        <p:spPr>
          <a:xfrm>
            <a:off x="4905756" y="2560320"/>
            <a:ext cx="2377440" cy="2377440"/>
          </a:xfrm>
          <a:prstGeom prst="ellipse">
            <a:avLst/>
          </a:prstGeom>
          <a:solidFill>
            <a:srgbClr val="212121"/>
          </a:solidFill>
          <a:ln w="12700">
            <a:solidFill>
              <a:srgbClr val="FEC00F"/>
            </a:solidFill>
            <a:prstDash val="solid"/>
          </a:ln>
        </p:spPr>
      </p:sp>
      <p:sp>
        <p:nvSpPr>
          <p:cNvPr id="13" name="Shape 10"/>
          <p:cNvSpPr/>
          <p:nvPr/>
        </p:nvSpPr>
        <p:spPr>
          <a:xfrm>
            <a:off x="5682996" y="2880360"/>
            <a:ext cx="822960" cy="822960"/>
          </a:xfrm>
          <a:prstGeom prst="ellipse">
            <a:avLst/>
          </a:prstGeom>
          <a:solidFill>
            <a:srgbClr val="FEC00F"/>
          </a:solidFill>
          <a:ln/>
        </p:spPr>
      </p:sp>
      <p:sp>
        <p:nvSpPr>
          <p:cNvPr id="14" name="Text 11"/>
          <p:cNvSpPr/>
          <p:nvPr/>
        </p:nvSpPr>
        <p:spPr>
          <a:xfrm>
            <a:off x="5682996" y="2880360"/>
            <a:ext cx="822960" cy="822960"/>
          </a:xfrm>
          <a:prstGeom prst="rect">
            <a:avLst/>
          </a:prstGeom>
          <a:noFill/>
          <a:ln/>
        </p:spPr>
        <p:txBody>
          <a:bodyPr wrap="square" rtlCol="0" anchor="ctr"/>
          <a:lstStyle/>
          <a:p>
            <a:pPr algn="ctr" indent="0" marL="0">
              <a:buNone/>
            </a:pPr>
            <a:r>
              <a:rPr lang="en-US" sz="2800" b="1" dirty="0">
                <a:solidFill>
                  <a:srgbClr val="212121"/>
                </a:solidFill>
                <a:latin typeface="Rajdhani" pitchFamily="34" charset="0"/>
                <a:ea typeface="Rajdhani" pitchFamily="34" charset="-122"/>
                <a:cs typeface="Rajdhani" pitchFamily="34" charset="-120"/>
              </a:rPr>
              <a:t>2</a:t>
            </a:r>
            <a:endParaRPr lang="en-US" sz="2800" dirty="0"/>
          </a:p>
        </p:txBody>
      </p:sp>
      <p:sp>
        <p:nvSpPr>
          <p:cNvPr id="15" name="Text 12"/>
          <p:cNvSpPr/>
          <p:nvPr/>
        </p:nvSpPr>
        <p:spPr>
          <a:xfrm>
            <a:off x="4997196" y="3886200"/>
            <a:ext cx="2194560" cy="41148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TREND HEALTH</a:t>
            </a:r>
            <a:endParaRPr lang="en-US" sz="1400" dirty="0"/>
          </a:p>
        </p:txBody>
      </p:sp>
      <p:sp>
        <p:nvSpPr>
          <p:cNvPr id="16" name="Text 13"/>
          <p:cNvSpPr/>
          <p:nvPr/>
        </p:nvSpPr>
        <p:spPr>
          <a:xfrm>
            <a:off x="5042916" y="4297680"/>
            <a:ext cx="2103120" cy="502920"/>
          </a:xfrm>
          <a:prstGeom prst="rect">
            <a:avLst/>
          </a:prstGeom>
          <a:noFill/>
          <a:ln/>
        </p:spPr>
        <p:txBody>
          <a:bodyPr wrap="square" rtlCol="0" anchor="ctr"/>
          <a:lstStyle/>
          <a:p>
            <a:pPr algn="ctr" indent="0" marL="0">
              <a:buNone/>
            </a:pPr>
            <a:r>
              <a:rPr lang="en-US" sz="1000" dirty="0">
                <a:solidFill>
                  <a:srgbClr val="FFFFFF"/>
                </a:solidFill>
                <a:latin typeface="Quicksand" pitchFamily="34" charset="0"/>
                <a:ea typeface="Quicksand" pitchFamily="34" charset="-122"/>
                <a:cs typeface="Quicksand" pitchFamily="34" charset="-120"/>
              </a:rPr>
              <a:t>(Breadth and Volume)</a:t>
            </a:r>
            <a:endParaRPr lang="en-US" sz="1000" dirty="0"/>
          </a:p>
        </p:txBody>
      </p:sp>
      <p:sp>
        <p:nvSpPr>
          <p:cNvPr id="17" name="Text 14"/>
          <p:cNvSpPr/>
          <p:nvPr/>
        </p:nvSpPr>
        <p:spPr>
          <a:xfrm>
            <a:off x="7420356" y="3611880"/>
            <a:ext cx="457200" cy="274320"/>
          </a:xfrm>
          <a:prstGeom prst="rect">
            <a:avLst/>
          </a:prstGeom>
          <a:noFill/>
          <a:ln/>
        </p:spPr>
        <p:txBody>
          <a:bodyPr wrap="square" rtlCol="0" anchor="ctr"/>
          <a:lstStyle/>
          <a:p>
            <a:pPr algn="ctr" indent="0" marL="0">
              <a:buNone/>
            </a:pPr>
            <a:r>
              <a:rPr lang="en-US" sz="1400" dirty="0">
                <a:solidFill>
                  <a:srgbClr val="737373"/>
                </a:solidFill>
                <a:latin typeface="Rajdhani" pitchFamily="34" charset="0"/>
                <a:ea typeface="Rajdhani" pitchFamily="34" charset="-122"/>
                <a:cs typeface="Rajdhani" pitchFamily="34" charset="-120"/>
              </a:rPr>
              <a:t>▶</a:t>
            </a:r>
            <a:endParaRPr lang="en-US" sz="1400" dirty="0"/>
          </a:p>
        </p:txBody>
      </p:sp>
      <p:sp>
        <p:nvSpPr>
          <p:cNvPr id="18" name="Shape 15"/>
          <p:cNvSpPr/>
          <p:nvPr/>
        </p:nvSpPr>
        <p:spPr>
          <a:xfrm>
            <a:off x="8014716" y="2560320"/>
            <a:ext cx="2377440" cy="2377440"/>
          </a:xfrm>
          <a:prstGeom prst="ellipse">
            <a:avLst/>
          </a:prstGeom>
          <a:solidFill>
            <a:srgbClr val="212121"/>
          </a:solidFill>
          <a:ln w="12700">
            <a:solidFill>
              <a:srgbClr val="FEC00F"/>
            </a:solidFill>
            <a:prstDash val="solid"/>
          </a:ln>
        </p:spPr>
      </p:sp>
      <p:sp>
        <p:nvSpPr>
          <p:cNvPr id="19" name="Shape 16"/>
          <p:cNvSpPr/>
          <p:nvPr/>
        </p:nvSpPr>
        <p:spPr>
          <a:xfrm>
            <a:off x="8791956" y="2880360"/>
            <a:ext cx="822960" cy="822960"/>
          </a:xfrm>
          <a:prstGeom prst="ellipse">
            <a:avLst/>
          </a:prstGeom>
          <a:solidFill>
            <a:srgbClr val="FEC00F"/>
          </a:solidFill>
          <a:ln/>
        </p:spPr>
      </p:sp>
      <p:sp>
        <p:nvSpPr>
          <p:cNvPr id="20" name="Text 17"/>
          <p:cNvSpPr/>
          <p:nvPr/>
        </p:nvSpPr>
        <p:spPr>
          <a:xfrm>
            <a:off x="8791956" y="2880360"/>
            <a:ext cx="822960" cy="822960"/>
          </a:xfrm>
          <a:prstGeom prst="rect">
            <a:avLst/>
          </a:prstGeom>
          <a:noFill/>
          <a:ln/>
        </p:spPr>
        <p:txBody>
          <a:bodyPr wrap="square" rtlCol="0" anchor="ctr"/>
          <a:lstStyle/>
          <a:p>
            <a:pPr algn="ctr" indent="0" marL="0">
              <a:buNone/>
            </a:pPr>
            <a:r>
              <a:rPr lang="en-US" sz="2800" b="1" dirty="0">
                <a:solidFill>
                  <a:srgbClr val="212121"/>
                </a:solidFill>
                <a:latin typeface="Rajdhani" pitchFamily="34" charset="0"/>
                <a:ea typeface="Rajdhani" pitchFamily="34" charset="-122"/>
                <a:cs typeface="Rajdhani" pitchFamily="34" charset="-120"/>
              </a:rPr>
              <a:t>3</a:t>
            </a:r>
            <a:endParaRPr lang="en-US" sz="2800" dirty="0"/>
          </a:p>
        </p:txBody>
      </p:sp>
      <p:sp>
        <p:nvSpPr>
          <p:cNvPr id="21" name="Text 18"/>
          <p:cNvSpPr/>
          <p:nvPr/>
        </p:nvSpPr>
        <p:spPr>
          <a:xfrm>
            <a:off x="8106156" y="3886200"/>
            <a:ext cx="2194560" cy="41148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INTERMARKET CONFIRMATION</a:t>
            </a:r>
            <a:endParaRPr lang="en-US" sz="1400" dirty="0"/>
          </a:p>
        </p:txBody>
      </p:sp>
      <p:sp>
        <p:nvSpPr>
          <p:cNvPr id="22" name="Text 19"/>
          <p:cNvSpPr/>
          <p:nvPr/>
        </p:nvSpPr>
        <p:spPr>
          <a:xfrm>
            <a:off x="8151876" y="4297680"/>
            <a:ext cx="2103120" cy="502920"/>
          </a:xfrm>
          <a:prstGeom prst="rect">
            <a:avLst/>
          </a:prstGeom>
          <a:noFill/>
          <a:ln/>
        </p:spPr>
        <p:txBody>
          <a:bodyPr wrap="square" rtlCol="0" anchor="ctr"/>
          <a:lstStyle/>
          <a:p>
            <a:pPr algn="ctr" indent="0" marL="0">
              <a:buNone/>
            </a:pPr>
            <a:r>
              <a:rPr lang="en-US" sz="1000" dirty="0">
                <a:solidFill>
                  <a:srgbClr val="FFFFFF"/>
                </a:solidFill>
                <a:latin typeface="Quicksand" pitchFamily="34" charset="0"/>
                <a:ea typeface="Quicksand" pitchFamily="34" charset="-122"/>
                <a:cs typeface="Quicksand" pitchFamily="34" charset="-120"/>
              </a:rPr>
              <a:t>(Intermarket Relationships)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12121"/>
                </a:solidFill>
                <a:latin typeface="Rajdhani" pitchFamily="34" charset="0"/>
                <a:ea typeface="Rajdhani" pitchFamily="34" charset="-122"/>
                <a:cs typeface="Rajdhani" pitchFamily="34" charset="-120"/>
              </a:rPr>
              <a:t>TREND DIRECTION</a:t>
            </a:r>
            <a:endParaRPr lang="en-US" sz="2800" dirty="0"/>
          </a:p>
        </p:txBody>
      </p:sp>
      <p:sp>
        <p:nvSpPr>
          <p:cNvPr id="5" name="Shape 2"/>
          <p:cNvSpPr/>
          <p:nvPr/>
        </p:nvSpPr>
        <p:spPr>
          <a:xfrm>
            <a:off x="365760" y="1188720"/>
            <a:ext cx="1828800" cy="54864"/>
          </a:xfrm>
          <a:prstGeom prst="rect">
            <a:avLst/>
          </a:prstGeom>
          <a:solidFill>
            <a:srgbClr val="FEC00F"/>
          </a:solidFill>
          <a:ln/>
        </p:spPr>
      </p:sp>
      <p:sp>
        <p:nvSpPr>
          <p:cNvPr id="6" name="Shape 3"/>
          <p:cNvSpPr/>
          <p:nvPr/>
        </p:nvSpPr>
        <p:spPr>
          <a:xfrm>
            <a:off x="365760" y="1371600"/>
            <a:ext cx="11457432" cy="4754880"/>
          </a:xfrm>
          <a:prstGeom prst="rect">
            <a:avLst/>
          </a:prstGeom>
          <a:solidFill>
            <a:srgbClr val="C6C6C6"/>
          </a:solidFill>
          <a:ln w="12700">
            <a:solidFill>
              <a:srgbClr val="737373"/>
            </a:solidFill>
            <a:prstDash val="solid"/>
          </a:ln>
        </p:spPr>
      </p:sp>
      <p:sp>
        <p:nvSpPr>
          <p:cNvPr id="7" name="Text 4"/>
          <p:cNvSpPr/>
          <p:nvPr/>
        </p:nvSpPr>
        <p:spPr>
          <a:xfrm>
            <a:off x="365760" y="1371600"/>
            <a:ext cx="11457432" cy="4754880"/>
          </a:xfrm>
          <a:prstGeom prst="rect">
            <a:avLst/>
          </a:prstGeom>
          <a:noFill/>
          <a:ln/>
        </p:spPr>
        <p:txBody>
          <a:bodyPr wrap="square" rtlCol="0" anchor="ctr"/>
          <a:lstStyle/>
          <a:p>
            <a:pPr algn="ctr" indent="0" marL="0">
              <a:buNone/>
            </a:pPr>
            <a:r>
              <a:rPr lang="en-US" sz="2400" dirty="0">
                <a:solidFill>
                  <a:srgbClr val="737373"/>
                </a:solidFill>
                <a:latin typeface="Rajdhani" pitchFamily="34" charset="0"/>
                <a:ea typeface="Rajdhani" pitchFamily="34" charset="-122"/>
                <a:cs typeface="Rajdhani" pitchFamily="34" charset="-120"/>
              </a:rPr>
              <a:t>[ CHART ]</a:t>
            </a:r>
            <a:endParaRPr lang="en-US" sz="2400" dirty="0"/>
          </a:p>
        </p:txBody>
      </p:sp>
      <p:sp>
        <p:nvSpPr>
          <p:cNvPr id="8" name="Text 5"/>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For illustrative purposes only.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12121"/>
                </a:solidFill>
                <a:latin typeface="Rajdhani" pitchFamily="34" charset="0"/>
                <a:ea typeface="Rajdhani" pitchFamily="34" charset="-122"/>
                <a:cs typeface="Rajdhani" pitchFamily="34" charset="-120"/>
              </a:rPr>
              <a:t>TREND HEALTH</a:t>
            </a:r>
            <a:endParaRPr lang="en-US" sz="2800" dirty="0"/>
          </a:p>
        </p:txBody>
      </p:sp>
      <p:sp>
        <p:nvSpPr>
          <p:cNvPr id="5" name="Shape 2"/>
          <p:cNvSpPr/>
          <p:nvPr/>
        </p:nvSpPr>
        <p:spPr>
          <a:xfrm>
            <a:off x="365760" y="1188720"/>
            <a:ext cx="1828800" cy="54864"/>
          </a:xfrm>
          <a:prstGeom prst="rect">
            <a:avLst/>
          </a:prstGeom>
          <a:solidFill>
            <a:srgbClr val="FEC00F"/>
          </a:solidFill>
          <a:ln/>
        </p:spPr>
      </p:sp>
      <p:sp>
        <p:nvSpPr>
          <p:cNvPr id="6" name="Shape 3"/>
          <p:cNvSpPr/>
          <p:nvPr/>
        </p:nvSpPr>
        <p:spPr>
          <a:xfrm>
            <a:off x="365760" y="1371600"/>
            <a:ext cx="11457432" cy="4754880"/>
          </a:xfrm>
          <a:prstGeom prst="rect">
            <a:avLst/>
          </a:prstGeom>
          <a:solidFill>
            <a:srgbClr val="C6C6C6"/>
          </a:solidFill>
          <a:ln w="12700">
            <a:solidFill>
              <a:srgbClr val="737373"/>
            </a:solidFill>
            <a:prstDash val="solid"/>
          </a:ln>
        </p:spPr>
      </p:sp>
      <p:sp>
        <p:nvSpPr>
          <p:cNvPr id="7" name="Text 4"/>
          <p:cNvSpPr/>
          <p:nvPr/>
        </p:nvSpPr>
        <p:spPr>
          <a:xfrm>
            <a:off x="365760" y="1371600"/>
            <a:ext cx="11457432" cy="4754880"/>
          </a:xfrm>
          <a:prstGeom prst="rect">
            <a:avLst/>
          </a:prstGeom>
          <a:noFill/>
          <a:ln/>
        </p:spPr>
        <p:txBody>
          <a:bodyPr wrap="square" rtlCol="0" anchor="ctr"/>
          <a:lstStyle/>
          <a:p>
            <a:pPr algn="ctr" indent="0" marL="0">
              <a:buNone/>
            </a:pPr>
            <a:r>
              <a:rPr lang="en-US" sz="2400" dirty="0">
                <a:solidFill>
                  <a:srgbClr val="737373"/>
                </a:solidFill>
                <a:latin typeface="Rajdhani" pitchFamily="34" charset="0"/>
                <a:ea typeface="Rajdhani" pitchFamily="34" charset="-122"/>
                <a:cs typeface="Rajdhani" pitchFamily="34" charset="-120"/>
              </a:rPr>
              <a:t>[ CHART ]</a:t>
            </a:r>
            <a:endParaRPr lang="en-US" sz="2400" dirty="0"/>
          </a:p>
        </p:txBody>
      </p:sp>
      <p:sp>
        <p:nvSpPr>
          <p:cNvPr id="8" name="Text 5"/>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For illustrative purposes only.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12121"/>
                </a:solidFill>
                <a:latin typeface="Rajdhani" pitchFamily="34" charset="0"/>
                <a:ea typeface="Rajdhani" pitchFamily="34" charset="-122"/>
                <a:cs typeface="Rajdhani" pitchFamily="34" charset="-120"/>
              </a:rPr>
              <a:t>INTERMARKET CONFIRMATION</a:t>
            </a:r>
            <a:endParaRPr lang="en-US" sz="2800" dirty="0"/>
          </a:p>
        </p:txBody>
      </p:sp>
      <p:sp>
        <p:nvSpPr>
          <p:cNvPr id="5" name="Shape 2"/>
          <p:cNvSpPr/>
          <p:nvPr/>
        </p:nvSpPr>
        <p:spPr>
          <a:xfrm>
            <a:off x="365760" y="1188720"/>
            <a:ext cx="1828800" cy="54864"/>
          </a:xfrm>
          <a:prstGeom prst="rect">
            <a:avLst/>
          </a:prstGeom>
          <a:solidFill>
            <a:srgbClr val="FEC00F"/>
          </a:solidFill>
          <a:ln/>
        </p:spPr>
      </p:sp>
      <p:sp>
        <p:nvSpPr>
          <p:cNvPr id="6" name="Shape 3"/>
          <p:cNvSpPr/>
          <p:nvPr/>
        </p:nvSpPr>
        <p:spPr>
          <a:xfrm>
            <a:off x="365760" y="1371600"/>
            <a:ext cx="11457432" cy="4754880"/>
          </a:xfrm>
          <a:prstGeom prst="rect">
            <a:avLst/>
          </a:prstGeom>
          <a:solidFill>
            <a:srgbClr val="C6C6C6"/>
          </a:solidFill>
          <a:ln w="12700">
            <a:solidFill>
              <a:srgbClr val="737373"/>
            </a:solidFill>
            <a:prstDash val="solid"/>
          </a:ln>
        </p:spPr>
      </p:sp>
      <p:sp>
        <p:nvSpPr>
          <p:cNvPr id="7" name="Text 4"/>
          <p:cNvSpPr/>
          <p:nvPr/>
        </p:nvSpPr>
        <p:spPr>
          <a:xfrm>
            <a:off x="365760" y="1371600"/>
            <a:ext cx="11457432" cy="4754880"/>
          </a:xfrm>
          <a:prstGeom prst="rect">
            <a:avLst/>
          </a:prstGeom>
          <a:noFill/>
          <a:ln/>
        </p:spPr>
        <p:txBody>
          <a:bodyPr wrap="square" rtlCol="0" anchor="ctr"/>
          <a:lstStyle/>
          <a:p>
            <a:pPr algn="ctr" indent="0" marL="0">
              <a:buNone/>
            </a:pPr>
            <a:r>
              <a:rPr lang="en-US" sz="2400" dirty="0">
                <a:solidFill>
                  <a:srgbClr val="737373"/>
                </a:solidFill>
                <a:latin typeface="Rajdhani" pitchFamily="34" charset="0"/>
                <a:ea typeface="Rajdhani" pitchFamily="34" charset="-122"/>
                <a:cs typeface="Rajdhani" pitchFamily="34" charset="-120"/>
              </a:rPr>
              <a:t>[ CHART ]</a:t>
            </a:r>
            <a:endParaRPr lang="en-US" sz="2400" dirty="0"/>
          </a:p>
        </p:txBody>
      </p:sp>
      <p:sp>
        <p:nvSpPr>
          <p:cNvPr id="8" name="Text 5"/>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For illustrative purposes only.</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822960"/>
          </a:xfrm>
          <a:prstGeom prst="rect">
            <a:avLst/>
          </a:prstGeom>
          <a:noFill/>
          <a:ln/>
        </p:spPr>
        <p:txBody>
          <a:bodyPr wrap="square" rtlCol="0" anchor="ctr"/>
          <a:lstStyle/>
          <a:p>
            <a:pPr indent="0" marL="0">
              <a:buNone/>
            </a:pPr>
            <a:r>
              <a:rPr lang="en-US" sz="2200" b="1" dirty="0">
                <a:solidFill>
                  <a:srgbClr val="FFFFFF"/>
                </a:solidFill>
                <a:latin typeface="Rajdhani" pitchFamily="34" charset="0"/>
                <a:ea typeface="Rajdhani" pitchFamily="34" charset="-122"/>
                <a:cs typeface="Rajdhani" pitchFamily="34" charset="-120"/>
              </a:rPr>
              <a:t>OUR COMPOSITES ARE DESIGNED TO HIGHLIGHT TIMES OF RISK-ON AND RISK-OFF BEHAVIOR</a:t>
            </a:r>
            <a:endParaRPr lang="en-US" sz="2200" dirty="0"/>
          </a:p>
        </p:txBody>
      </p:sp>
      <p:sp>
        <p:nvSpPr>
          <p:cNvPr id="5" name="Shape 2"/>
          <p:cNvSpPr/>
          <p:nvPr/>
        </p:nvSpPr>
        <p:spPr>
          <a:xfrm>
            <a:off x="365760" y="1554480"/>
            <a:ext cx="3636264" cy="4937760"/>
          </a:xfrm>
          <a:prstGeom prst="roundRect">
            <a:avLst>
              <a:gd name="adj" fmla="val 3772"/>
            </a:avLst>
          </a:prstGeom>
          <a:solidFill>
            <a:srgbClr val="212121"/>
          </a:solidFill>
          <a:ln w="12700">
            <a:solidFill>
              <a:srgbClr val="FEC00F"/>
            </a:solidFill>
            <a:prstDash val="solid"/>
          </a:ln>
          <a:effectLst>
            <a:outerShdw sx="100000" sy="100000" kx="0" ky="0" algn="bl" rotWithShape="0" blurRad="76200" dist="25400" dir="16200000">
              <a:srgbClr val="000000">
                <a:alpha val="20000"/>
              </a:srgbClr>
            </a:outerShdw>
          </a:effectLst>
        </p:spPr>
      </p:sp>
      <p:sp>
        <p:nvSpPr>
          <p:cNvPr id="6" name="Text 3"/>
          <p:cNvSpPr/>
          <p:nvPr/>
        </p:nvSpPr>
        <p:spPr>
          <a:xfrm>
            <a:off x="3956304" y="3749040"/>
            <a:ext cx="274320" cy="548640"/>
          </a:xfrm>
          <a:prstGeom prst="rect">
            <a:avLst/>
          </a:prstGeom>
          <a:noFill/>
          <a:ln/>
        </p:spPr>
        <p:txBody>
          <a:bodyPr wrap="square" rtlCol="0" anchor="ctr"/>
          <a:lstStyle/>
          <a:p>
            <a:pPr algn="ctr" indent="0" marL="0">
              <a:buNone/>
            </a:pPr>
            <a:r>
              <a:rPr lang="en-US" sz="2400" b="1" dirty="0">
                <a:solidFill>
                  <a:srgbClr val="FEC00F"/>
                </a:solidFill>
                <a:latin typeface="Rajdhani" pitchFamily="34" charset="0"/>
                <a:ea typeface="Rajdhani" pitchFamily="34" charset="-122"/>
                <a:cs typeface="Rajdhani" pitchFamily="34" charset="-120"/>
              </a:rPr>
              <a:t>+</a:t>
            </a:r>
            <a:endParaRPr lang="en-US" sz="2400" dirty="0"/>
          </a:p>
        </p:txBody>
      </p:sp>
      <p:sp>
        <p:nvSpPr>
          <p:cNvPr id="7" name="Shape 4"/>
          <p:cNvSpPr/>
          <p:nvPr/>
        </p:nvSpPr>
        <p:spPr>
          <a:xfrm>
            <a:off x="640080" y="1371600"/>
            <a:ext cx="3087624" cy="365760"/>
          </a:xfrm>
          <a:prstGeom prst="roundRect">
            <a:avLst>
              <a:gd name="adj" fmla="val 50000"/>
            </a:avLst>
          </a:prstGeom>
          <a:solidFill>
            <a:srgbClr val="444444"/>
          </a:solidFill>
          <a:ln/>
        </p:spPr>
      </p:sp>
      <p:sp>
        <p:nvSpPr>
          <p:cNvPr id="8" name="Text 5"/>
          <p:cNvSpPr/>
          <p:nvPr/>
        </p:nvSpPr>
        <p:spPr>
          <a:xfrm>
            <a:off x="640080" y="1371600"/>
            <a:ext cx="3087624" cy="365760"/>
          </a:xfrm>
          <a:prstGeom prst="rect">
            <a:avLst/>
          </a:prstGeom>
          <a:noFill/>
          <a:ln/>
        </p:spPr>
        <p:txBody>
          <a:bodyPr wrap="square" rtlCol="0" anchor="ctr"/>
          <a:lstStyle/>
          <a:p>
            <a:pPr algn="ctr" indent="0" marL="0">
              <a:buNone/>
            </a:pPr>
            <a:r>
              <a:rPr lang="en-US" sz="1100" b="1" dirty="0">
                <a:solidFill>
                  <a:srgbClr val="FEC00F"/>
                </a:solidFill>
                <a:latin typeface="Rajdhani" pitchFamily="34" charset="0"/>
                <a:ea typeface="Rajdhani" pitchFamily="34" charset="-122"/>
                <a:cs typeface="Rajdhani" pitchFamily="34" charset="-120"/>
              </a:rPr>
              <a:t>BASE SYSTEMS</a:t>
            </a:r>
            <a:endParaRPr lang="en-US" sz="1100" dirty="0"/>
          </a:p>
        </p:txBody>
      </p:sp>
      <p:sp>
        <p:nvSpPr>
          <p:cNvPr id="9" name="Text 6"/>
          <p:cNvSpPr/>
          <p:nvPr/>
        </p:nvSpPr>
        <p:spPr>
          <a:xfrm>
            <a:off x="502920" y="1874520"/>
            <a:ext cx="3361944" cy="4389120"/>
          </a:xfrm>
          <a:prstGeom prst="rect">
            <a:avLst/>
          </a:prstGeom>
          <a:noFill/>
          <a:ln/>
        </p:spPr>
        <p:txBody>
          <a:bodyPr wrap="square" rtlCol="0" anchor="ctr"/>
          <a:lstStyle/>
          <a:p>
            <a:pPr algn="ctr" indent="0" marL="0">
              <a:buNone/>
            </a:pPr>
            <a:r>
              <a:rPr lang="en-US" sz="1300" dirty="0">
                <a:solidFill>
                  <a:srgbClr val="FFFFFF"/>
                </a:solidFill>
                <a:latin typeface="Quicksand" pitchFamily="34" charset="0"/>
                <a:ea typeface="Quicksand" pitchFamily="34" charset="-122"/>
                <a:cs typeface="Quicksand" pitchFamily="34" charset="-120"/>
              </a:rPr>
              <a:t>Total market systems that trade infrequently to capture long term trend changes.</a:t>
            </a:r>
            <a:endParaRPr lang="en-US" sz="1300" dirty="0"/>
          </a:p>
        </p:txBody>
      </p:sp>
      <p:sp>
        <p:nvSpPr>
          <p:cNvPr id="10" name="Shape 7"/>
          <p:cNvSpPr/>
          <p:nvPr/>
        </p:nvSpPr>
        <p:spPr>
          <a:xfrm>
            <a:off x="4093464" y="1554480"/>
            <a:ext cx="3636264" cy="4937760"/>
          </a:xfrm>
          <a:prstGeom prst="roundRect">
            <a:avLst>
              <a:gd name="adj" fmla="val 3772"/>
            </a:avLst>
          </a:prstGeom>
          <a:solidFill>
            <a:srgbClr val="212121"/>
          </a:solidFill>
          <a:ln w="12700">
            <a:solidFill>
              <a:srgbClr val="FEC00F"/>
            </a:solidFill>
            <a:prstDash val="solid"/>
          </a:ln>
          <a:effectLst>
            <a:outerShdw sx="100000" sy="100000" kx="0" ky="0" algn="bl" rotWithShape="0" blurRad="76200" dist="25400" dir="16200000">
              <a:srgbClr val="000000">
                <a:alpha val="20000"/>
              </a:srgbClr>
            </a:outerShdw>
          </a:effectLst>
        </p:spPr>
      </p:sp>
      <p:sp>
        <p:nvSpPr>
          <p:cNvPr id="11" name="Text 8"/>
          <p:cNvSpPr/>
          <p:nvPr/>
        </p:nvSpPr>
        <p:spPr>
          <a:xfrm>
            <a:off x="7684008" y="3749040"/>
            <a:ext cx="274320" cy="548640"/>
          </a:xfrm>
          <a:prstGeom prst="rect">
            <a:avLst/>
          </a:prstGeom>
          <a:noFill/>
          <a:ln/>
        </p:spPr>
        <p:txBody>
          <a:bodyPr wrap="square" rtlCol="0" anchor="ctr"/>
          <a:lstStyle/>
          <a:p>
            <a:pPr algn="ctr" indent="0" marL="0">
              <a:buNone/>
            </a:pPr>
            <a:r>
              <a:rPr lang="en-US" sz="2400" b="1" dirty="0">
                <a:solidFill>
                  <a:srgbClr val="FEC00F"/>
                </a:solidFill>
                <a:latin typeface="Rajdhani" pitchFamily="34" charset="0"/>
                <a:ea typeface="Rajdhani" pitchFamily="34" charset="-122"/>
                <a:cs typeface="Rajdhani" pitchFamily="34" charset="-120"/>
              </a:rPr>
              <a:t>=</a:t>
            </a:r>
            <a:endParaRPr lang="en-US" sz="2400" dirty="0"/>
          </a:p>
        </p:txBody>
      </p:sp>
      <p:sp>
        <p:nvSpPr>
          <p:cNvPr id="12" name="Shape 9"/>
          <p:cNvSpPr/>
          <p:nvPr/>
        </p:nvSpPr>
        <p:spPr>
          <a:xfrm>
            <a:off x="4367784" y="1371600"/>
            <a:ext cx="3087624" cy="365760"/>
          </a:xfrm>
          <a:prstGeom prst="roundRect">
            <a:avLst>
              <a:gd name="adj" fmla="val 50000"/>
            </a:avLst>
          </a:prstGeom>
          <a:solidFill>
            <a:srgbClr val="444444"/>
          </a:solidFill>
          <a:ln/>
        </p:spPr>
      </p:sp>
      <p:sp>
        <p:nvSpPr>
          <p:cNvPr id="13" name="Text 10"/>
          <p:cNvSpPr/>
          <p:nvPr/>
        </p:nvSpPr>
        <p:spPr>
          <a:xfrm>
            <a:off x="4367784" y="1371600"/>
            <a:ext cx="3087624" cy="365760"/>
          </a:xfrm>
          <a:prstGeom prst="rect">
            <a:avLst/>
          </a:prstGeom>
          <a:noFill/>
          <a:ln/>
        </p:spPr>
        <p:txBody>
          <a:bodyPr wrap="square" rtlCol="0" anchor="ctr"/>
          <a:lstStyle/>
          <a:p>
            <a:pPr algn="ctr" indent="0" marL="0">
              <a:buNone/>
            </a:pPr>
            <a:r>
              <a:rPr lang="en-US" sz="1100" b="1" dirty="0">
                <a:solidFill>
                  <a:srgbClr val="FEC00F"/>
                </a:solidFill>
                <a:latin typeface="Rajdhani" pitchFamily="34" charset="0"/>
                <a:ea typeface="Rajdhani" pitchFamily="34" charset="-122"/>
                <a:cs typeface="Rajdhani" pitchFamily="34" charset="-120"/>
              </a:rPr>
              <a:t>TRIGGER SYSTEMS</a:t>
            </a:r>
            <a:endParaRPr lang="en-US" sz="1100" dirty="0"/>
          </a:p>
        </p:txBody>
      </p:sp>
      <p:sp>
        <p:nvSpPr>
          <p:cNvPr id="14" name="Text 11"/>
          <p:cNvSpPr/>
          <p:nvPr/>
        </p:nvSpPr>
        <p:spPr>
          <a:xfrm>
            <a:off x="4230624" y="1874520"/>
            <a:ext cx="3361944" cy="4389120"/>
          </a:xfrm>
          <a:prstGeom prst="rect">
            <a:avLst/>
          </a:prstGeom>
          <a:noFill/>
          <a:ln/>
        </p:spPr>
        <p:txBody>
          <a:bodyPr wrap="square" rtlCol="0" anchor="ctr"/>
          <a:lstStyle/>
          <a:p>
            <a:pPr algn="ctr" indent="0" marL="0">
              <a:buNone/>
            </a:pPr>
            <a:r>
              <a:rPr lang="en-US" sz="1300" dirty="0">
                <a:solidFill>
                  <a:srgbClr val="FFFFFF"/>
                </a:solidFill>
                <a:latin typeface="Quicksand" pitchFamily="34" charset="0"/>
                <a:ea typeface="Quicksand" pitchFamily="34" charset="-122"/>
                <a:cs typeface="Quicksand" pitchFamily="34" charset="-120"/>
              </a:rPr>
              <a:t>Capture short-term market inefficiencies that generate high returns while invested.</a:t>
            </a:r>
            <a:endParaRPr lang="en-US" sz="1300" dirty="0"/>
          </a:p>
        </p:txBody>
      </p:sp>
      <p:sp>
        <p:nvSpPr>
          <p:cNvPr id="15" name="Shape 12"/>
          <p:cNvSpPr/>
          <p:nvPr/>
        </p:nvSpPr>
        <p:spPr>
          <a:xfrm>
            <a:off x="7821168" y="1554480"/>
            <a:ext cx="3636264" cy="4937760"/>
          </a:xfrm>
          <a:prstGeom prst="roundRect">
            <a:avLst>
              <a:gd name="adj" fmla="val 3772"/>
            </a:avLst>
          </a:prstGeom>
          <a:solidFill>
            <a:srgbClr val="FEC00F"/>
          </a:solidFill>
          <a:ln w="12700">
            <a:solidFill>
              <a:srgbClr val="FEC00F"/>
            </a:solidFill>
            <a:prstDash val="solid"/>
          </a:ln>
          <a:effectLst>
            <a:outerShdw sx="100000" sy="100000" kx="0" ky="0" algn="bl" rotWithShape="0" blurRad="76200" dist="25400" dir="16200000">
              <a:srgbClr val="000000">
                <a:alpha val="20000"/>
              </a:srgbClr>
            </a:outerShdw>
          </a:effectLst>
        </p:spPr>
      </p:sp>
      <p:sp>
        <p:nvSpPr>
          <p:cNvPr id="16" name="Shape 13"/>
          <p:cNvSpPr/>
          <p:nvPr/>
        </p:nvSpPr>
        <p:spPr>
          <a:xfrm>
            <a:off x="8095488" y="1371600"/>
            <a:ext cx="3087624" cy="365760"/>
          </a:xfrm>
          <a:prstGeom prst="roundRect">
            <a:avLst>
              <a:gd name="adj" fmla="val 50000"/>
            </a:avLst>
          </a:prstGeom>
          <a:solidFill>
            <a:srgbClr val="FEC00F"/>
          </a:solidFill>
          <a:ln/>
        </p:spPr>
      </p:sp>
      <p:sp>
        <p:nvSpPr>
          <p:cNvPr id="17" name="Text 14"/>
          <p:cNvSpPr/>
          <p:nvPr/>
        </p:nvSpPr>
        <p:spPr>
          <a:xfrm>
            <a:off x="8095488" y="1371600"/>
            <a:ext cx="3087624" cy="365760"/>
          </a:xfrm>
          <a:prstGeom prst="rect">
            <a:avLst/>
          </a:prstGeom>
          <a:noFill/>
          <a:ln/>
        </p:spPr>
        <p:txBody>
          <a:bodyPr wrap="square" rtlCol="0" anchor="ctr"/>
          <a:lstStyle/>
          <a:p>
            <a:pPr algn="ctr" indent="0" marL="0">
              <a:buNone/>
            </a:pPr>
            <a:r>
              <a:rPr lang="en-US" sz="1100" b="1" dirty="0">
                <a:solidFill>
                  <a:srgbClr val="212121"/>
                </a:solidFill>
                <a:latin typeface="Rajdhani" pitchFamily="34" charset="0"/>
                <a:ea typeface="Rajdhani" pitchFamily="34" charset="-122"/>
                <a:cs typeface="Rajdhani" pitchFamily="34" charset="-120"/>
              </a:rPr>
              <a:t>COMPOSITES</a:t>
            </a:r>
            <a:endParaRPr lang="en-US" sz="1100" dirty="0"/>
          </a:p>
        </p:txBody>
      </p:sp>
      <p:sp>
        <p:nvSpPr>
          <p:cNvPr id="18" name="Text 15"/>
          <p:cNvSpPr/>
          <p:nvPr/>
        </p:nvSpPr>
        <p:spPr>
          <a:xfrm>
            <a:off x="7958328" y="1874520"/>
            <a:ext cx="3361944" cy="4389120"/>
          </a:xfrm>
          <a:prstGeom prst="rect">
            <a:avLst/>
          </a:prstGeom>
          <a:noFill/>
          <a:ln/>
        </p:spPr>
        <p:txBody>
          <a:bodyPr wrap="square" rtlCol="0" anchor="ctr"/>
          <a:lstStyle/>
          <a:p>
            <a:pPr algn="ctr" indent="0" marL="0">
              <a:buNone/>
            </a:pPr>
            <a:r>
              <a:rPr lang="en-US" sz="1300" dirty="0">
                <a:solidFill>
                  <a:srgbClr val="212121"/>
                </a:solidFill>
                <a:latin typeface="Quicksand" pitchFamily="34" charset="0"/>
                <a:ea typeface="Quicksand" pitchFamily="34" charset="-122"/>
                <a:cs typeface="Quicksand" pitchFamily="34" charset="-120"/>
              </a:rPr>
              <a:t>Composite trading result. Should we be invested?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594360"/>
          </a:xfrm>
          <a:prstGeom prst="rect">
            <a:avLst/>
          </a:prstGeom>
          <a:noFill/>
          <a:ln/>
        </p:spPr>
        <p:txBody>
          <a:bodyPr wrap="square" rtlCol="0" anchor="ctr"/>
          <a:lstStyle/>
          <a:p>
            <a:pPr indent="0" marL="0">
              <a:buNone/>
            </a:pPr>
            <a:r>
              <a:rPr lang="en-US" sz="2600" b="1" dirty="0">
                <a:solidFill>
                  <a:srgbClr val="FFFFFF"/>
                </a:solidFill>
                <a:latin typeface="Rajdhani" pitchFamily="34" charset="0"/>
                <a:ea typeface="Rajdhani" pitchFamily="34" charset="-122"/>
                <a:cs typeface="Rajdhani" pitchFamily="34" charset="-120"/>
              </a:rPr>
              <a:t>REDUCING RISK BY REDUCING EXPOSURE</a:t>
            </a:r>
            <a:endParaRPr lang="en-US" sz="2600" dirty="0"/>
          </a:p>
        </p:txBody>
      </p:sp>
      <p:sp>
        <p:nvSpPr>
          <p:cNvPr id="5" name="Shape 2"/>
          <p:cNvSpPr/>
          <p:nvPr/>
        </p:nvSpPr>
        <p:spPr>
          <a:xfrm>
            <a:off x="365760" y="1691640"/>
            <a:ext cx="4572000" cy="1280160"/>
          </a:xfrm>
          <a:prstGeom prst="rect">
            <a:avLst/>
          </a:prstGeom>
          <a:solidFill>
            <a:srgbClr val="212121"/>
          </a:solidFill>
          <a:ln w="12700">
            <a:solidFill>
              <a:srgbClr val="FEC00F"/>
            </a:solidFill>
            <a:prstDash val="solid"/>
          </a:ln>
        </p:spPr>
      </p:sp>
      <p:sp>
        <p:nvSpPr>
          <p:cNvPr id="6" name="Text 3"/>
          <p:cNvSpPr/>
          <p:nvPr/>
        </p:nvSpPr>
        <p:spPr>
          <a:xfrm>
            <a:off x="548640" y="1783080"/>
            <a:ext cx="420624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BASE</a:t>
            </a:r>
            <a:endParaRPr lang="en-US" sz="1400" dirty="0"/>
          </a:p>
        </p:txBody>
      </p:sp>
      <p:sp>
        <p:nvSpPr>
          <p:cNvPr id="7" name="Text 4"/>
          <p:cNvSpPr/>
          <p:nvPr/>
        </p:nvSpPr>
        <p:spPr>
          <a:xfrm>
            <a:off x="548640" y="219456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Long-term trend exposure: Invested 71% of the time</a:t>
            </a:r>
            <a:endParaRPr lang="en-US" sz="1200" dirty="0"/>
          </a:p>
        </p:txBody>
      </p:sp>
      <p:sp>
        <p:nvSpPr>
          <p:cNvPr id="8" name="Shape 5"/>
          <p:cNvSpPr/>
          <p:nvPr/>
        </p:nvSpPr>
        <p:spPr>
          <a:xfrm>
            <a:off x="365760" y="3154680"/>
            <a:ext cx="4572000" cy="1280160"/>
          </a:xfrm>
          <a:prstGeom prst="rect">
            <a:avLst/>
          </a:prstGeom>
          <a:solidFill>
            <a:srgbClr val="212121"/>
          </a:solidFill>
          <a:ln w="12700">
            <a:solidFill>
              <a:srgbClr val="FEC00F"/>
            </a:solidFill>
            <a:prstDash val="solid"/>
          </a:ln>
        </p:spPr>
      </p:sp>
      <p:sp>
        <p:nvSpPr>
          <p:cNvPr id="9" name="Text 6"/>
          <p:cNvSpPr/>
          <p:nvPr/>
        </p:nvSpPr>
        <p:spPr>
          <a:xfrm>
            <a:off x="548640" y="3246120"/>
            <a:ext cx="420624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TRIGGER</a:t>
            </a:r>
            <a:endParaRPr lang="en-US" sz="1400" dirty="0"/>
          </a:p>
        </p:txBody>
      </p:sp>
      <p:sp>
        <p:nvSpPr>
          <p:cNvPr id="10" name="Text 7"/>
          <p:cNvSpPr/>
          <p:nvPr/>
        </p:nvSpPr>
        <p:spPr>
          <a:xfrm>
            <a:off x="548640" y="365760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Volume thrust exposure: Invested 43% of the time</a:t>
            </a:r>
            <a:endParaRPr lang="en-US" sz="1200" dirty="0"/>
          </a:p>
        </p:txBody>
      </p:sp>
      <p:sp>
        <p:nvSpPr>
          <p:cNvPr id="11" name="Shape 8"/>
          <p:cNvSpPr/>
          <p:nvPr/>
        </p:nvSpPr>
        <p:spPr>
          <a:xfrm>
            <a:off x="365760" y="4617720"/>
            <a:ext cx="4572000" cy="1280160"/>
          </a:xfrm>
          <a:prstGeom prst="rect">
            <a:avLst/>
          </a:prstGeom>
          <a:solidFill>
            <a:srgbClr val="212121"/>
          </a:solidFill>
          <a:ln w="12700">
            <a:solidFill>
              <a:srgbClr val="FEC00F"/>
            </a:solidFill>
            <a:prstDash val="solid"/>
          </a:ln>
        </p:spPr>
      </p:sp>
      <p:sp>
        <p:nvSpPr>
          <p:cNvPr id="12" name="Text 9"/>
          <p:cNvSpPr/>
          <p:nvPr/>
        </p:nvSpPr>
        <p:spPr>
          <a:xfrm>
            <a:off x="548640" y="4709160"/>
            <a:ext cx="420624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TRIGGER</a:t>
            </a:r>
            <a:endParaRPr lang="en-US" sz="1400" dirty="0"/>
          </a:p>
        </p:txBody>
      </p:sp>
      <p:sp>
        <p:nvSpPr>
          <p:cNvPr id="13" name="Text 10"/>
          <p:cNvSpPr/>
          <p:nvPr/>
        </p:nvSpPr>
        <p:spPr>
          <a:xfrm>
            <a:off x="548640" y="512064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VIX oversold exposure: Invested 4% of the time</a:t>
            </a:r>
            <a:endParaRPr lang="en-US" sz="1200" dirty="0"/>
          </a:p>
        </p:txBody>
      </p:sp>
      <p:sp>
        <p:nvSpPr>
          <p:cNvPr id="14" name="Text 11"/>
          <p:cNvSpPr/>
          <p:nvPr/>
        </p:nvSpPr>
        <p:spPr>
          <a:xfrm>
            <a:off x="4937760" y="3520440"/>
            <a:ext cx="731520" cy="731520"/>
          </a:xfrm>
          <a:prstGeom prst="rect">
            <a:avLst/>
          </a:prstGeom>
          <a:noFill/>
          <a:ln/>
        </p:spPr>
        <p:txBody>
          <a:bodyPr wrap="square" rtlCol="0" anchor="ctr"/>
          <a:lstStyle/>
          <a:p>
            <a:pPr algn="ctr" indent="0" marL="0">
              <a:buNone/>
            </a:pPr>
            <a:r>
              <a:rPr lang="en-US" sz="3600" dirty="0">
                <a:solidFill>
                  <a:srgbClr val="FEC00F"/>
                </a:solidFill>
                <a:latin typeface="Rajdhani" pitchFamily="34" charset="0"/>
                <a:ea typeface="Rajdhani" pitchFamily="34" charset="-122"/>
                <a:cs typeface="Rajdhani" pitchFamily="34" charset="-120"/>
              </a:rPr>
              <a:t>→</a:t>
            </a:r>
            <a:endParaRPr lang="en-US" sz="3600" dirty="0"/>
          </a:p>
        </p:txBody>
      </p:sp>
      <p:sp>
        <p:nvSpPr>
          <p:cNvPr id="15" name="Shape 12"/>
          <p:cNvSpPr/>
          <p:nvPr/>
        </p:nvSpPr>
        <p:spPr>
          <a:xfrm>
            <a:off x="5852160" y="1691640"/>
            <a:ext cx="5971032" cy="4206240"/>
          </a:xfrm>
          <a:prstGeom prst="rect">
            <a:avLst/>
          </a:prstGeom>
          <a:solidFill>
            <a:srgbClr val="FEC00F"/>
          </a:solidFill>
          <a:ln/>
        </p:spPr>
      </p:sp>
      <p:sp>
        <p:nvSpPr>
          <p:cNvPr id="16" name="Text 13"/>
          <p:cNvSpPr/>
          <p:nvPr/>
        </p:nvSpPr>
        <p:spPr>
          <a:xfrm>
            <a:off x="6035040" y="1874520"/>
            <a:ext cx="5605272" cy="502920"/>
          </a:xfrm>
          <a:prstGeom prst="rect">
            <a:avLst/>
          </a:prstGeom>
          <a:noFill/>
          <a:ln/>
        </p:spPr>
        <p:txBody>
          <a:bodyPr wrap="square" rtlCol="0" anchor="ctr"/>
          <a:lstStyle/>
          <a:p>
            <a:pPr algn="ctr" indent="0" marL="0">
              <a:buNone/>
            </a:pPr>
            <a:r>
              <a:rPr lang="en-US" sz="1500" b="1" dirty="0">
                <a:solidFill>
                  <a:srgbClr val="212121"/>
                </a:solidFill>
                <a:latin typeface="Rajdhani" pitchFamily="34" charset="0"/>
                <a:ea typeface="Rajdhani" pitchFamily="34" charset="-122"/>
                <a:cs typeface="Rajdhani" pitchFamily="34" charset="-120"/>
              </a:rPr>
              <a:t>COMPOSITE</a:t>
            </a:r>
            <a:endParaRPr lang="en-US" sz="1500" dirty="0"/>
          </a:p>
        </p:txBody>
      </p:sp>
      <p:sp>
        <p:nvSpPr>
          <p:cNvPr id="17" name="Text 14"/>
          <p:cNvSpPr/>
          <p:nvPr/>
        </p:nvSpPr>
        <p:spPr>
          <a:xfrm>
            <a:off x="6035040" y="2468880"/>
            <a:ext cx="5605272" cy="3200400"/>
          </a:xfrm>
          <a:prstGeom prst="rect">
            <a:avLst/>
          </a:prstGeom>
          <a:noFill/>
          <a:ln/>
        </p:spPr>
        <p:txBody>
          <a:bodyPr wrap="square" rtlCol="0" anchor="ctr"/>
          <a:lstStyle/>
          <a:p>
            <a:pPr algn="ctr" indent="0" marL="0">
              <a:buNone/>
            </a:pPr>
            <a:r>
              <a:rPr lang="en-US" sz="1300" dirty="0">
                <a:solidFill>
                  <a:srgbClr val="212121"/>
                </a:solidFill>
                <a:latin typeface="Quicksand" pitchFamily="34" charset="0"/>
                <a:ea typeface="Quicksand" pitchFamily="34" charset="-122"/>
                <a:cs typeface="Quicksand" pitchFamily="34" charset="-120"/>
              </a:rPr>
              <a:t>Keeping combined system exposure to 62% can help reduce risk.</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BULL BEAR STRATEGY</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600" b="1" dirty="0">
                <a:solidFill>
                  <a:srgbClr val="FFFFFF"/>
                </a:solidFill>
                <a:latin typeface="Rajdhani" pitchFamily="34" charset="0"/>
                <a:ea typeface="Rajdhani" pitchFamily="34" charset="-122"/>
                <a:cs typeface="Rajdhani" pitchFamily="34" charset="-120"/>
              </a:rPr>
              <a:t>BULL BEAR</a:t>
            </a:r>
            <a:endParaRPr lang="en-US" sz="2600" dirty="0"/>
          </a:p>
        </p:txBody>
      </p:sp>
      <p:sp>
        <p:nvSpPr>
          <p:cNvPr id="5" name="Text 2"/>
          <p:cNvSpPr/>
          <p:nvPr/>
        </p:nvSpPr>
        <p:spPr>
          <a:xfrm>
            <a:off x="365760" y="13716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CRDBX 80%</a:t>
            </a:r>
            <a:endParaRPr lang="en-US" sz="1400" dirty="0"/>
          </a:p>
        </p:txBody>
      </p:sp>
      <p:sp>
        <p:nvSpPr>
          <p:cNvPr id="6" name="Text 3"/>
          <p:cNvSpPr/>
          <p:nvPr/>
        </p:nvSpPr>
        <p:spPr>
          <a:xfrm>
            <a:off x="365760" y="17373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Core position providing tactical concentrated exposure to a major market index</a:t>
            </a:r>
            <a:endParaRPr lang="en-US" sz="1200" dirty="0"/>
          </a:p>
        </p:txBody>
      </p:sp>
      <p:sp>
        <p:nvSpPr>
          <p:cNvPr id="7" name="Text 4"/>
          <p:cNvSpPr/>
          <p:nvPr/>
        </p:nvSpPr>
        <p:spPr>
          <a:xfrm>
            <a:off x="8074152" y="13716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CRTOX 6.67%</a:t>
            </a:r>
            <a:endParaRPr lang="en-US" sz="1400" dirty="0"/>
          </a:p>
        </p:txBody>
      </p:sp>
      <p:sp>
        <p:nvSpPr>
          <p:cNvPr id="8" name="Text 5"/>
          <p:cNvSpPr/>
          <p:nvPr/>
        </p:nvSpPr>
        <p:spPr>
          <a:xfrm>
            <a:off x="8074152" y="17373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Tactical fund with dynamic asset allocation</a:t>
            </a:r>
            <a:endParaRPr lang="en-US" sz="1200" dirty="0"/>
          </a:p>
        </p:txBody>
      </p:sp>
      <p:sp>
        <p:nvSpPr>
          <p:cNvPr id="9" name="Text 6"/>
          <p:cNvSpPr/>
          <p:nvPr/>
        </p:nvSpPr>
        <p:spPr>
          <a:xfrm>
            <a:off x="365760" y="41148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CRMVX 6.66%</a:t>
            </a:r>
            <a:endParaRPr lang="en-US" sz="1400" dirty="0"/>
          </a:p>
        </p:txBody>
      </p:sp>
      <p:sp>
        <p:nvSpPr>
          <p:cNvPr id="10" name="Text 7"/>
          <p:cNvSpPr/>
          <p:nvPr/>
        </p:nvSpPr>
        <p:spPr>
          <a:xfrm>
            <a:off x="365760" y="44805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Tactical fund employing risk management techniques</a:t>
            </a:r>
            <a:endParaRPr lang="en-US" sz="1200" dirty="0"/>
          </a:p>
        </p:txBody>
      </p:sp>
      <p:sp>
        <p:nvSpPr>
          <p:cNvPr id="11" name="Text 8"/>
          <p:cNvSpPr/>
          <p:nvPr/>
        </p:nvSpPr>
        <p:spPr>
          <a:xfrm>
            <a:off x="8074152" y="41148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CRTBX 6.67%</a:t>
            </a:r>
            <a:endParaRPr lang="en-US" sz="1400" dirty="0"/>
          </a:p>
        </p:txBody>
      </p:sp>
      <p:sp>
        <p:nvSpPr>
          <p:cNvPr id="12" name="Text 9"/>
          <p:cNvSpPr/>
          <p:nvPr/>
        </p:nvSpPr>
        <p:spPr>
          <a:xfrm>
            <a:off x="8074152" y="44805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Tactical fund using hedging and cash positions</a:t>
            </a:r>
            <a:endParaRPr lang="en-US" sz="1200" dirty="0"/>
          </a:p>
        </p:txBody>
      </p:sp>
      <p:sp>
        <p:nvSpPr>
          <p:cNvPr id="13" name="Shape 10"/>
          <p:cNvSpPr/>
          <p:nvPr/>
        </p:nvSpPr>
        <p:spPr>
          <a:xfrm>
            <a:off x="4631436" y="2468880"/>
            <a:ext cx="2926080" cy="2011680"/>
          </a:xfrm>
          <a:prstGeom prst="rect">
            <a:avLst/>
          </a:prstGeom>
          <a:solidFill>
            <a:srgbClr val="212121"/>
          </a:solidFill>
          <a:ln w="12700">
            <a:solidFill>
              <a:srgbClr val="FEC00F"/>
            </a:solidFill>
            <a:prstDash val="solid"/>
          </a:ln>
        </p:spPr>
      </p:sp>
      <p:sp>
        <p:nvSpPr>
          <p:cNvPr id="14" name="Text 11"/>
          <p:cNvSpPr/>
          <p:nvPr/>
        </p:nvSpPr>
        <p:spPr>
          <a:xfrm>
            <a:off x="4631436" y="2651760"/>
            <a:ext cx="2926080" cy="45720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ALTERNATE BETWEEN RISK-ON AND RISK-OFF</a:t>
            </a:r>
            <a:endParaRPr lang="en-US" sz="1400" dirty="0"/>
          </a:p>
        </p:txBody>
      </p:sp>
      <p:sp>
        <p:nvSpPr>
          <p:cNvPr id="15" name="Text 12"/>
          <p:cNvSpPr/>
          <p:nvPr/>
        </p:nvSpPr>
        <p:spPr>
          <a:xfrm>
            <a:off x="4631436" y="3154680"/>
            <a:ext cx="2926080" cy="1097280"/>
          </a:xfrm>
          <a:prstGeom prst="rect">
            <a:avLst/>
          </a:prstGeom>
          <a:noFill/>
          <a:ln/>
        </p:spPr>
        <p:txBody>
          <a:bodyPr wrap="square" rtlCol="0" anchor="ctr"/>
          <a:lstStyle/>
          <a:p>
            <a:pPr algn="ctr" indent="0" marL="0">
              <a:buNone/>
            </a:pPr>
            <a:r>
              <a:rPr lang="en-US" sz="1200" dirty="0">
                <a:solidFill>
                  <a:srgbClr val="FFFFFF"/>
                </a:solidFill>
                <a:latin typeface="Quicksand" pitchFamily="34" charset="0"/>
                <a:ea typeface="Quicksand" pitchFamily="34" charset="-122"/>
                <a:cs typeface="Quicksand" pitchFamily="34" charset="-120"/>
              </a:rPr>
              <a:t>Risk-on: Leveraged index exposure. Risk-off: Cash, inverse, treasuries.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BULL BEAR STRATEGY</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12121"/>
                </a:solidFill>
                <a:latin typeface="Rajdhani" pitchFamily="34" charset="0"/>
                <a:ea typeface="Rajdhani" pitchFamily="34" charset="-122"/>
                <a:cs typeface="Rajdhani" pitchFamily="34" charset="-120"/>
              </a:rPr>
              <a:t>IF YOU WANT THE S&amp;P 500, JUST BUY THE S&amp;P 500!</a:t>
            </a:r>
            <a:endParaRPr lang="en-US" sz="2800" dirty="0"/>
          </a:p>
        </p:txBody>
      </p:sp>
      <p:sp>
        <p:nvSpPr>
          <p:cNvPr id="5" name="Shape 2"/>
          <p:cNvSpPr/>
          <p:nvPr/>
        </p:nvSpPr>
        <p:spPr>
          <a:xfrm>
            <a:off x="365760" y="1188720"/>
            <a:ext cx="1828800" cy="54864"/>
          </a:xfrm>
          <a:prstGeom prst="rect">
            <a:avLst/>
          </a:prstGeom>
          <a:solidFill>
            <a:srgbClr val="FEC00F"/>
          </a:solidFill>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11457432" cy="914400"/>
        </p:xfrm>
        <a:graphic>
          <a:graphicData uri="http://schemas.openxmlformats.org/drawingml/2006/table">
            <a:tbl>
              <a:tblPr/>
              <a:tblGrid>
                <a:gridCol w="2291486"/>
                <a:gridCol w="2291486"/>
                <a:gridCol w="2291486"/>
                <a:gridCol w="2291486"/>
                <a:gridCol w="2291486"/>
              </a:tblGrid>
              <a:tr h="411480">
                <a:tc gridSpan="5">
                  <a:txBody>
                    <a:bodyPr/>
                    <a:lstStyle/>
                    <a:p>
                      <a:pPr algn="ctr" indent="0" marL="0">
                        <a:buNone/>
                      </a:pPr>
                      <a:r>
                        <a:rPr lang="en-US" sz="1400" b="1" dirty="0">
                          <a:solidFill>
                            <a:srgbClr val="212121"/>
                          </a:solidFill>
                          <a:latin typeface="Rajdhani" pitchFamily="34" charset="0"/>
                          <a:ea typeface="Rajdhani" pitchFamily="34" charset="-122"/>
                          <a:cs typeface="Rajdhani" pitchFamily="34" charset="-120"/>
                        </a:rPr>
                        <a:t>PERFORMANCE COMPARISON</a:t>
                      </a:r>
                      <a:endParaRPr lang="en-US" sz="14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EC00F"/>
                    </a:solidFill>
                  </a:tcPr>
                </a:tc>
                <a:tc hMerge="1">
                  <a:tcPr/>
                </a:tc>
                <a:tc hMerge="1">
                  <a:tcPr/>
                </a:tc>
                <a:tc hMerge="1">
                  <a:tcPr/>
                </a:tc>
                <a:tc hMerge="1">
                  <a:tcPr/>
                </a:tc>
              </a:tr>
              <a:tr h="411480">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FUND NAME</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TICKER</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1-YR</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5-YR</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10-YR</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SPDR S&amp;P 500 ETF Trust</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SPY</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17.72%</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14.34%</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14.72%</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Potomac Bull Bear (Net 2.5%)</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BULL BEAR</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19.13%</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11.08%</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11.97%</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r>
            </a:tbl>
          </a:graphicData>
        </a:graphic>
      </p:graphicFrame>
      <p:sp>
        <p:nvSpPr>
          <p:cNvPr id="7" name="Text 3"/>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Source: FastTrack as of 12/31/2025.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BULL BEAR STRATEGY</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600" b="1" dirty="0">
                <a:solidFill>
                  <a:srgbClr val="212121"/>
                </a:solidFill>
                <a:latin typeface="Rajdhani" pitchFamily="34" charset="0"/>
                <a:ea typeface="Rajdhani" pitchFamily="34" charset="-122"/>
                <a:cs typeface="Rajdhani" pitchFamily="34" charset="-120"/>
              </a:rPr>
              <a:t>TACTICAL AS A DIVERSIFIER</a:t>
            </a:r>
            <a:endParaRPr lang="en-US" sz="2600" dirty="0"/>
          </a:p>
        </p:txBody>
      </p:sp>
      <p:sp>
        <p:nvSpPr>
          <p:cNvPr id="5" name="Shape 2"/>
          <p:cNvSpPr/>
          <p:nvPr/>
        </p:nvSpPr>
        <p:spPr>
          <a:xfrm>
            <a:off x="365760" y="1188720"/>
            <a:ext cx="1828800" cy="54864"/>
          </a:xfrm>
          <a:prstGeom prst="rect">
            <a:avLst/>
          </a:prstGeom>
          <a:solidFill>
            <a:srgbClr val="FEC00F"/>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11457432" cy="914400"/>
        </p:xfrm>
        <a:graphic>
          <a:graphicData uri="http://schemas.openxmlformats.org/drawingml/2006/table">
            <a:tbl>
              <a:tblPr/>
              <a:tblGrid>
                <a:gridCol w="1909572"/>
                <a:gridCol w="1909572"/>
                <a:gridCol w="1909572"/>
                <a:gridCol w="1909572"/>
                <a:gridCol w="1909572"/>
                <a:gridCol w="1909572"/>
              </a:tblGrid>
              <a:tr h="411480">
                <a:tc gridSpan="6">
                  <a:txBody>
                    <a:bodyPr/>
                    <a:lstStyle/>
                    <a:p>
                      <a:pPr algn="ctr" indent="0" marL="0">
                        <a:buNone/>
                      </a:pPr>
                      <a:r>
                        <a:rPr lang="en-US" sz="1400" b="1" dirty="0">
                          <a:solidFill>
                            <a:srgbClr val="212121"/>
                          </a:solidFill>
                          <a:latin typeface="Rajdhani" pitchFamily="34" charset="0"/>
                          <a:ea typeface="Rajdhani" pitchFamily="34" charset="-122"/>
                          <a:cs typeface="Rajdhani" pitchFamily="34" charset="-120"/>
                        </a:rPr>
                        <a:t>RISK COMPARISON</a:t>
                      </a:r>
                      <a:endParaRPr lang="en-US" sz="14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EC00F"/>
                    </a:solidFill>
                  </a:tcPr>
                </a:tc>
                <a:tc hMerge="1">
                  <a:tcPr/>
                </a:tc>
                <a:tc hMerge="1">
                  <a:tcPr/>
                </a:tc>
                <a:tc hMerge="1">
                  <a:tcPr/>
                </a:tc>
                <a:tc hMerge="1">
                  <a:tcPr/>
                </a:tc>
                <a:tc hMerge="1">
                  <a:tcPr/>
                </a:tc>
              </a:tr>
              <a:tr h="411480">
                <a:tc>
                  <a:txBody>
                    <a:bodyPr/>
                    <a:lstStyle/>
                    <a:p>
                      <a:pPr algn="ctr" indent="0" marL="0">
                        <a:buNone/>
                      </a:pP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1-YR</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5-YR</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10-YR</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MAX DRAWDOWN</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CORRELATION</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SPY</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17.72%</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14.34%</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14.72%</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-50.80%</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1.00</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Potomac Bull Bear (Net 2.5%)</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19.13%</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11.08%</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11.97%</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-24.65%</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0.51</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r>
            </a:tbl>
          </a:graphicData>
        </a:graphic>
      </p:graphicFrame>
      <p:sp>
        <p:nvSpPr>
          <p:cNvPr id="7" name="Text 3"/>
          <p:cNvSpPr/>
          <p:nvPr/>
        </p:nvSpPr>
        <p:spPr>
          <a:xfrm>
            <a:off x="365760" y="6355080"/>
            <a:ext cx="11457432" cy="41148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Source: FastTrack as of 12/31/2025.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BULL BEAR STRATEGY</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FFFFFF"/>
                </a:solidFill>
                <a:latin typeface="Rajdhani" pitchFamily="34" charset="0"/>
                <a:ea typeface="Rajdhani" pitchFamily="34" charset="-122"/>
                <a:cs typeface="Rajdhani" pitchFamily="34" charset="-120"/>
              </a:rPr>
              <a:t>HOW ARE ADVISORS USING BULL BEAR?</a:t>
            </a:r>
            <a:endParaRPr lang="en-US" sz="2800" dirty="0"/>
          </a:p>
        </p:txBody>
      </p:sp>
      <p:sp>
        <p:nvSpPr>
          <p:cNvPr id="5" name="Shape 2"/>
          <p:cNvSpPr/>
          <p:nvPr/>
        </p:nvSpPr>
        <p:spPr>
          <a:xfrm>
            <a:off x="365760" y="1554480"/>
            <a:ext cx="2560320" cy="2560320"/>
          </a:xfrm>
          <a:prstGeom prst="ellipse">
            <a:avLst/>
          </a:prstGeom>
          <a:solidFill>
            <a:srgbClr val="212121"/>
          </a:solidFill>
          <a:ln w="12700">
            <a:solidFill>
              <a:srgbClr val="FEC00F"/>
            </a:solidFill>
            <a:prstDash val="solid"/>
          </a:ln>
        </p:spPr>
      </p:sp>
      <p:sp>
        <p:nvSpPr>
          <p:cNvPr id="6" name="Text 3"/>
          <p:cNvSpPr/>
          <p:nvPr/>
        </p:nvSpPr>
        <p:spPr>
          <a:xfrm>
            <a:off x="457200" y="1920240"/>
            <a:ext cx="2377440" cy="502920"/>
          </a:xfrm>
          <a:prstGeom prst="rect">
            <a:avLst/>
          </a:prstGeom>
          <a:noFill/>
          <a:ln/>
        </p:spPr>
        <p:txBody>
          <a:bodyPr wrap="square" rtlCol="0" anchor="ctr"/>
          <a:lstStyle/>
          <a:p>
            <a:pPr algn="ctr" indent="0" marL="0">
              <a:buNone/>
            </a:pPr>
            <a:r>
              <a:rPr lang="en-US" sz="1300" b="1" dirty="0">
                <a:solidFill>
                  <a:srgbClr val="FEC00F"/>
                </a:solidFill>
                <a:latin typeface="Rajdhani" pitchFamily="34" charset="0"/>
                <a:ea typeface="Rajdhani" pitchFamily="34" charset="-122"/>
                <a:cs typeface="Rajdhani" pitchFamily="34" charset="-120"/>
              </a:rPr>
              <a:t>CORE HOLDING</a:t>
            </a:r>
            <a:endParaRPr lang="en-US" sz="1300" dirty="0"/>
          </a:p>
        </p:txBody>
      </p:sp>
      <p:sp>
        <p:nvSpPr>
          <p:cNvPr id="7" name="Text 4"/>
          <p:cNvSpPr/>
          <p:nvPr/>
        </p:nvSpPr>
        <p:spPr>
          <a:xfrm>
            <a:off x="457200"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Complement to traditional buy and hold portfolios.</a:t>
            </a:r>
            <a:endParaRPr lang="en-US" sz="1100" dirty="0"/>
          </a:p>
        </p:txBody>
      </p:sp>
      <p:sp>
        <p:nvSpPr>
          <p:cNvPr id="8" name="Shape 5"/>
          <p:cNvSpPr/>
          <p:nvPr/>
        </p:nvSpPr>
        <p:spPr>
          <a:xfrm>
            <a:off x="9262872" y="1554480"/>
            <a:ext cx="2560320" cy="2560320"/>
          </a:xfrm>
          <a:prstGeom prst="ellipse">
            <a:avLst/>
          </a:prstGeom>
          <a:solidFill>
            <a:srgbClr val="212121"/>
          </a:solidFill>
          <a:ln w="12700">
            <a:solidFill>
              <a:srgbClr val="FEC00F"/>
            </a:solidFill>
            <a:prstDash val="solid"/>
          </a:ln>
        </p:spPr>
      </p:sp>
      <p:sp>
        <p:nvSpPr>
          <p:cNvPr id="9" name="Text 6"/>
          <p:cNvSpPr/>
          <p:nvPr/>
        </p:nvSpPr>
        <p:spPr>
          <a:xfrm>
            <a:off x="9354312" y="1920240"/>
            <a:ext cx="2377440" cy="502920"/>
          </a:xfrm>
          <a:prstGeom prst="rect">
            <a:avLst/>
          </a:prstGeom>
          <a:noFill/>
          <a:ln/>
        </p:spPr>
        <p:txBody>
          <a:bodyPr wrap="square" rtlCol="0" anchor="ctr"/>
          <a:lstStyle/>
          <a:p>
            <a:pPr algn="ctr" indent="0" marL="0">
              <a:buNone/>
            </a:pPr>
            <a:r>
              <a:rPr lang="en-US" sz="1300" b="1" dirty="0">
                <a:solidFill>
                  <a:srgbClr val="FEC00F"/>
                </a:solidFill>
                <a:latin typeface="Rajdhani" pitchFamily="34" charset="0"/>
                <a:ea typeface="Rajdhani" pitchFamily="34" charset="-122"/>
                <a:cs typeface="Rajdhani" pitchFamily="34" charset="-120"/>
              </a:rPr>
              <a:t>REPLACING FAKE TACTICAL</a:t>
            </a:r>
            <a:endParaRPr lang="en-US" sz="1300" dirty="0"/>
          </a:p>
        </p:txBody>
      </p:sp>
      <p:sp>
        <p:nvSpPr>
          <p:cNvPr id="10" name="Text 7"/>
          <p:cNvSpPr/>
          <p:nvPr/>
        </p:nvSpPr>
        <p:spPr>
          <a:xfrm>
            <a:off x="9354312"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Replacing tactical managers with high market correlations.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full-logo.png">    </p:cNvPr>
          <p:cNvPicPr>
            <a:picLocks noChangeAspect="1"/>
          </p:cNvPicPr>
          <p:nvPr/>
        </p:nvPicPr>
        <p:blipFill>
          <a:blip r:embed="rId1"/>
          <a:srcRect l="0" r="0" t="0" b="0"/>
          <a:stretch/>
        </p:blipFill>
        <p:spPr>
          <a:xfrm>
            <a:off x="365760" y="228600"/>
            <a:ext cx="1828800" cy="594360"/>
          </a:xfrm>
          <a:prstGeom prst="rect">
            <a:avLst/>
          </a:prstGeom>
        </p:spPr>
      </p:pic>
      <p:sp>
        <p:nvSpPr>
          <p:cNvPr id="3" name="Text 0"/>
          <p:cNvSpPr/>
          <p:nvPr/>
        </p:nvSpPr>
        <p:spPr>
          <a:xfrm>
            <a:off x="365760" y="2286000"/>
            <a:ext cx="11457432" cy="1371600"/>
          </a:xfrm>
          <a:prstGeom prst="rect">
            <a:avLst/>
          </a:prstGeom>
          <a:noFill/>
          <a:ln/>
        </p:spPr>
        <p:txBody>
          <a:bodyPr wrap="square" rtlCol="0" anchor="ctr"/>
          <a:lstStyle/>
          <a:p>
            <a:pPr algn="ctr" indent="0" marL="0">
              <a:buNone/>
            </a:pPr>
            <a:r>
              <a:rPr lang="en-US" sz="6000" b="1" dirty="0">
                <a:solidFill>
                  <a:srgbClr val="FFFFFF"/>
                </a:solidFill>
                <a:latin typeface="Rajdhani" pitchFamily="34" charset="0"/>
                <a:ea typeface="Rajdhani" pitchFamily="34" charset="-122"/>
                <a:cs typeface="Rajdhani" pitchFamily="34" charset="-120"/>
              </a:rPr>
              <a:t>THANK YOU!</a:t>
            </a:r>
            <a:endParaRPr lang="en-US" sz="6000" dirty="0"/>
          </a:p>
        </p:txBody>
      </p:sp>
      <p:sp>
        <p:nvSpPr>
          <p:cNvPr id="4" name="Text 1"/>
          <p:cNvSpPr/>
          <p:nvPr/>
        </p:nvSpPr>
        <p:spPr>
          <a:xfrm>
            <a:off x="365760" y="3840480"/>
            <a:ext cx="11457432" cy="548640"/>
          </a:xfrm>
          <a:prstGeom prst="rect">
            <a:avLst/>
          </a:prstGeom>
          <a:noFill/>
          <a:ln/>
        </p:spPr>
        <p:txBody>
          <a:bodyPr wrap="square" rtlCol="0" anchor="ctr"/>
          <a:lstStyle/>
          <a:p>
            <a:pPr algn="ctr" indent="0" marL="0">
              <a:buNone/>
            </a:pPr>
            <a:r>
              <a:rPr lang="en-US" sz="1600" i="1" dirty="0">
                <a:solidFill>
                  <a:srgbClr val="FEC00F"/>
                </a:solidFill>
                <a:latin typeface="Quicksand" pitchFamily="34" charset="0"/>
                <a:ea typeface="Quicksand" pitchFamily="34" charset="-122"/>
                <a:cs typeface="Quicksand" pitchFamily="34" charset="-120"/>
              </a:rPr>
              <a:t>We have a team of regional consultants ready to help.</a:t>
            </a:r>
            <a:endParaRPr lang="en-US" sz="1600" dirty="0"/>
          </a:p>
        </p:txBody>
      </p:sp>
      <p:sp>
        <p:nvSpPr>
          <p:cNvPr id="5" name="Text 2"/>
          <p:cNvSpPr/>
          <p:nvPr/>
        </p:nvSpPr>
        <p:spPr>
          <a:xfrm>
            <a:off x="365760" y="4754880"/>
            <a:ext cx="11457432" cy="365760"/>
          </a:xfrm>
          <a:prstGeom prst="rect">
            <a:avLst/>
          </a:prstGeom>
          <a:noFill/>
          <a:ln/>
        </p:spPr>
        <p:txBody>
          <a:bodyPr wrap="square" rtlCol="0" anchor="ctr"/>
          <a:lstStyle/>
          <a:p>
            <a:pPr algn="ctr" indent="0" marL="0">
              <a:buNone/>
            </a:pPr>
            <a:r>
              <a:rPr lang="en-US" sz="1400" u="sng" dirty="0">
                <a:solidFill>
                  <a:srgbClr val="FFFFFF"/>
                </a:solidFill>
                <a:latin typeface="Quicksand" pitchFamily="34" charset="0"/>
                <a:ea typeface="Quicksand" pitchFamily="34" charset="-122"/>
                <a:cs typeface="Quicksand" pitchFamily="34" charset="-120"/>
                <a:hlinkClick r:id="rId2" invalidUrl="" action="" tgtFrame="" tooltip="" history="1" highlightClick="0" endSnd="0">
                  <a:extLst>
                    <a:ext uri="{A12FA001-AC4F-418D-AE19-62706E023703}">
                      <ahyp:hlinkClr xmlns:ahyp="http://schemas.microsoft.com/office/drawing/2018/hyperlinkcolor" val="tx"/>
                    </a:ext>
                  </a:extLst>
                </a:hlinkClick>
              </a:rPr>
              <a:t>potomac.com</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365760" y="228600"/>
            <a:ext cx="10817352" cy="502920"/>
          </a:xfrm>
          <a:prstGeom prst="rect">
            <a:avLst/>
          </a:prstGeom>
          <a:noFill/>
          <a:ln/>
        </p:spPr>
        <p:txBody>
          <a:bodyPr wrap="square" rtlCol="0" anchor="ctr"/>
          <a:lstStyle/>
          <a:p>
            <a:pPr indent="0" marL="0">
              <a:buNone/>
            </a:pPr>
            <a:r>
              <a:rPr lang="en-US" sz="2200" b="1" dirty="0">
                <a:solidFill>
                  <a:srgbClr val="FEC00F"/>
                </a:solidFill>
                <a:latin typeface="Rajdhani" pitchFamily="34" charset="0"/>
                <a:ea typeface="Rajdhani" pitchFamily="34" charset="-122"/>
                <a:cs typeface="Rajdhani" pitchFamily="34" charset="-120"/>
              </a:rPr>
              <a:t>DISCLOSURES</a:t>
            </a:r>
            <a:endParaRPr lang="en-US" sz="2200" dirty="0"/>
          </a:p>
        </p:txBody>
      </p:sp>
      <p:sp>
        <p:nvSpPr>
          <p:cNvPr id="4" name="Text 1"/>
          <p:cNvSpPr/>
          <p:nvPr/>
        </p:nvSpPr>
        <p:spPr>
          <a:xfrm>
            <a:off x="365760" y="822960"/>
            <a:ext cx="11457432" cy="5852160"/>
          </a:xfrm>
          <a:prstGeom prst="rect">
            <a:avLst/>
          </a:prstGeom>
          <a:noFill/>
          <a:ln/>
        </p:spPr>
        <p:txBody>
          <a:bodyPr wrap="square" rtlCol="0" anchor="ctr"/>
          <a:lstStyle/>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Potomac is a registered investment adviser. Registration with the SEC does not imply a certain level of skill or training. The information presented herein is for informational and educational purposes only and is not intended as investment advice. Past performance does not guarantee future results. All investing involves risk, including possible loss of principal. The strategies described may not be suitable for all investors.</a:t>
            </a:r>
            <a:endParaRPr lang="en-US" sz="950" dirty="0"/>
          </a:p>
          <a:p>
            <a:pPr indent="0" marL="0">
              <a:lnSpc>
                <a:spcPct val="110000"/>
              </a:lnSpc>
              <a:buNone/>
            </a:pPr>
            <a:endParaRPr lang="en-US" sz="950" dirty="0"/>
          </a:p>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Indices referenced are unmanaged and cannot be invested in directly. The S&amp;P 500 Index is a market-capitalization-weighted index of 500 leading publicly traded companies in the U.S.</a:t>
            </a:r>
            <a:endParaRPr lang="en-US" sz="950" dirty="0"/>
          </a:p>
          <a:p>
            <a:pPr indent="0" marL="0">
              <a:lnSpc>
                <a:spcPct val="110000"/>
              </a:lnSpc>
              <a:buNone/>
            </a:pPr>
            <a:endParaRPr lang="en-US" sz="950" dirty="0"/>
          </a:p>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Please refer to Potomac's Form ADV Part 2A for additional information about our services, fees, and risks. A copy is available at www.adviserinfo.sec.gov or by contacting us at info@potomac.com.</a:t>
            </a:r>
            <a:endParaRPr lang="en-US" sz="950" dirty="0"/>
          </a:p>
          <a:p>
            <a:pPr indent="0" marL="0">
              <a:lnSpc>
                <a:spcPct val="110000"/>
              </a:lnSpc>
              <a:buNone/>
            </a:pPr>
            <a:endParaRPr lang="en-US" sz="950" dirty="0"/>
          </a:p>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PFM-508-20260221</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365760" y="228600"/>
            <a:ext cx="10817352" cy="502920"/>
          </a:xfrm>
          <a:prstGeom prst="rect">
            <a:avLst/>
          </a:prstGeom>
          <a:noFill/>
          <a:ln/>
        </p:spPr>
        <p:txBody>
          <a:bodyPr wrap="square" rtlCol="0" anchor="ctr"/>
          <a:lstStyle/>
          <a:p>
            <a:pPr indent="0" marL="0">
              <a:buNone/>
            </a:pPr>
            <a:r>
              <a:rPr lang="en-US" sz="1800" b="1" dirty="0">
                <a:solidFill>
                  <a:srgbClr val="FEC00F"/>
                </a:solidFill>
                <a:latin typeface="Rajdhani" pitchFamily="34" charset="0"/>
                <a:ea typeface="Rajdhani" pitchFamily="34" charset="-122"/>
                <a:cs typeface="Rajdhani" pitchFamily="34" charset="-120"/>
              </a:rPr>
              <a:t>IMPORTANT DEFINITIONS USED IN THIS REPORT</a:t>
            </a:r>
            <a:endParaRPr lang="en-US" sz="1800" dirty="0"/>
          </a:p>
        </p:txBody>
      </p:sp>
      <p:sp>
        <p:nvSpPr>
          <p:cNvPr id="4" name="Text 1"/>
          <p:cNvSpPr/>
          <p:nvPr/>
        </p:nvSpPr>
        <p:spPr>
          <a:xfrm>
            <a:off x="365760" y="868680"/>
            <a:ext cx="11457432" cy="5852160"/>
          </a:xfrm>
          <a:prstGeom prst="rect">
            <a:avLst/>
          </a:prstGeom>
          <a:noFill/>
          <a:ln/>
        </p:spPr>
        <p:txBody>
          <a:bodyPr wrap="square" rtlCol="0" anchor="ctr"/>
          <a:lstStyle/>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S&amp;P 500 Index TR: The Standard &amp; Poor's 500 Total Return Index measures the stock performance of 500 large companies listed on stock exchanges in the United States, including reinvestment of dividends.</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Maximum Drawdown: The maximum observed loss from a peak to a trough of a portfolio, before a new peak is attained.</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Correlation: A statistical measure that expresses the extent to which two securities move in relation to each other. Correlations range from -1 to +1.</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VIX: The CBOE Volatility Index, a real-time market index representing the market's expectations for volatility over the coming 30 days.</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Beta: A measure of the volatility or systematic risk of a security or portfolio compared to the market as a whole.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Potomac Fund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BULL BEAR STRATEGY</dc:title>
  <dc:subject>Investment Strategy Presentation</dc:subject>
  <dc:creator>Potomac Fund Management</dc:creator>
  <cp:lastModifiedBy>Potomac Fund Management</cp:lastModifiedBy>
  <cp:revision>1</cp:revision>
  <dcterms:created xsi:type="dcterms:W3CDTF">2026-02-21T14:58:02Z</dcterms:created>
  <dcterms:modified xsi:type="dcterms:W3CDTF">2026-02-21T14:58:02Z</dcterms:modified>
</cp:coreProperties>
</file>