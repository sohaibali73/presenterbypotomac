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4eeff17-8d54-2e52-dc81-3035e49ff8e4}">
          <p14:sldIdLst/>
        </p14:section>
        <p14:section name="Default-1" id="{42030945-2196-e913-dee0-30c3491bdc02}">
          <p14:sldIdLst>
            <p14:sldId id="256"/>
          </p14:sldIdLst>
        </p14:section>
        <p14:section name="PROCESS" id="{b72e3c5d-bf09-0d63-30c9-3318f0edaf9d}">
          <p14:sldIdLst/>
        </p14:section>
        <p14:section name="Default-2" id="{35a3753c-4ad5-bb88-6895-df83c0cc4110}">
          <p14:sldIdLst>
            <p14:sldId id="257"/>
            <p14:sldId id="258"/>
            <p14:sldId id="259"/>
            <p14:sldId id="260"/>
            <p14:sldId id="261"/>
            <p14:sldId id="262"/>
            <p14:sldId id="263"/>
            <p14:sldId id="264"/>
            <p14:sldId id="265"/>
            <p14:sldId id="266"/>
            <p14:sldId id="267"/>
          </p14:sldIdLst>
        </p14:section>
        <p14:section name="Closing" id="{ebb2ca30-857b-f93c-7813-cbd7ca736e96}">
          <p14:sldIdLst/>
        </p14:section>
        <p14:section name="Default-3" id="{551caecc-275a-ff43-542c-66bff05e9d81}">
          <p14:sldIdLst>
            <p14:sldId id="268"/>
          </p14:sldIdLst>
        </p14:section>
        <p14:section name="Appendix" id="{25a881c4-d47c-1294-c9c7-0510eeeb4cc8}">
          <p14:sldIdLst/>
        </p14:section>
        <p14:section name="Default-4" id="{10f8be93-b321-0a27-7cc6-d84da9fc626b}">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3-1.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PUT CALL RATIO</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PROCESS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MARKET SENTIMENT: THREE PILLARS OF OPTIONS ANALYSIS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USING OPTIONS VOLUME TO GAUGE INSTITUTIONAL AND RETAIL TRADER POSITIONING</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VOLUME ANALYSIS</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(Total Put vs Call Volume Ratios)</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SENTIMENT EXTREMES</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(Contrarian Signals at Key Levels)</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MOMENTUM CONFIRMATION</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(Trend Validation Through Options Flow)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PUT CALL VOLUME ANALYSIS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SENTIMENT EXTREMES AND MARKET REVERSALS</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OPTIONS MOMENTUM CONFIRMATION</a:t>
            </a:r>
            <a:endParaRPr lang="en-US" sz="2800" dirty="0"/>
          </a:p>
        </p:txBody>
      </p:sp>
      <p:sp>
        <p:nvSpPr>
          <p:cNvPr id="5" name="Shape 2"/>
          <p:cNvSpPr/>
          <p:nvPr/>
        </p:nvSpPr>
        <p:spPr>
          <a:xfrm>
            <a:off x="365760" y="1188720"/>
            <a:ext cx="1828800" cy="54864"/>
          </a:xfrm>
          <a:prstGeom prst="rect">
            <a:avLst/>
          </a:prstGeom>
          <a:solidFill>
            <a:srgbClr val="FEC00F"/>
          </a:solidFill>
          <a:ln/>
        </p:spPr>
      </p:sp>
      <p:sp>
        <p:nvSpPr>
          <p:cNvPr id="6" name="Shape 3"/>
          <p:cNvSpPr/>
          <p:nvPr/>
        </p:nvSpPr>
        <p:spPr>
          <a:xfrm>
            <a:off x="365760" y="1371600"/>
            <a:ext cx="11457432" cy="4754880"/>
          </a:xfrm>
          <a:prstGeom prst="rect">
            <a:avLst/>
          </a:prstGeom>
          <a:solidFill>
            <a:srgbClr val="C6C6C6"/>
          </a:solidFill>
          <a:ln w="12700">
            <a:solidFill>
              <a:srgbClr val="737373"/>
            </a:solidFill>
            <a:prstDash val="solid"/>
          </a:ln>
        </p:spPr>
      </p:sp>
      <p:sp>
        <p:nvSpPr>
          <p:cNvPr id="7" name="Text 4"/>
          <p:cNvSpPr/>
          <p:nvPr/>
        </p:nvSpPr>
        <p:spPr>
          <a:xfrm>
            <a:off x="365760" y="1371600"/>
            <a:ext cx="11457432" cy="4754880"/>
          </a:xfrm>
          <a:prstGeom prst="rect">
            <a:avLst/>
          </a:prstGeom>
          <a:noFill/>
          <a:ln/>
        </p:spPr>
        <p:txBody>
          <a:bodyPr wrap="square" rtlCol="0" anchor="ctr"/>
          <a:lstStyle/>
          <a:p>
            <a:pPr algn="ctr" indent="0" marL="0">
              <a:buNone/>
            </a:pPr>
            <a:r>
              <a:rPr lang="en-US" sz="2400" dirty="0">
                <a:solidFill>
                  <a:srgbClr val="737373"/>
                </a:solidFill>
                <a:latin typeface="Rajdhani" pitchFamily="34" charset="0"/>
                <a:ea typeface="Rajdhani" pitchFamily="34" charset="-122"/>
                <a:cs typeface="Rajdhani" pitchFamily="34" charset="-120"/>
              </a:rPr>
              <a:t>[ CHART ]</a:t>
            </a:r>
            <a:endParaRPr lang="en-US" sz="2400" dirty="0"/>
          </a:p>
        </p:txBody>
      </p:sp>
      <p:sp>
        <p:nvSpPr>
          <p:cNvPr id="8" name="Text 5"/>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For illustrative purposes only.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PUT CALL RATIO GENERATES CONTRARIAN SIGNALS AT MARKET EXTREMES</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RAW DATA</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Daily put volume divided by call volume across major exchanges and option types.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SIGNAL PROCESSING</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Moving averages and threshold levels to identify extreme sentiment readings.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MARKET SIGNAL</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High ratios suggest oversold conditions; low ratios indicate overbought markets.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PROCESS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COMBINING MULTIPLE PUT CALL INDICATORS FOR ROBUST SIGNALS</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EQUITY PCR</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Individual stock options: High retail participation, emotional extremes</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INDEX PCR</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SPX/SPY options: Institutional hedging, portfolio protection signals</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TOTAL PCR</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All options combined: Comprehensive market sentiment picture</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COMPOSITE SIGNAL</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Multi-timeframe analysis provides higher probability entry and exit points.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PUT CALL RATIO</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PUT CALL RATIO FRAMEWORK</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EQUITY PCR &gt; 0.70</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Retail panic selling, extreme fear in individual names</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INDEX PCR &gt; 1.50</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Heavy institutional hedging, protection buying surge</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EQUITY PCR &lt; 0.40</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Retail complacency, excessive call buying in stocks</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INDEX PCR &lt; 0.80</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Low hedging activity, institutional complacency signals</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CONTRARIAN SENTIMENT INDICATOR</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High PCR = Bearish Extreme = Bullish Signal. Low PCR = Bullish Extreme = Bearish Signal.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PUT CALL RATIO</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PUT CALL RATIO SIGNALS HAVE HISTORICALLY MARKED MARKET TURNING POINTS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HISTORICAL SIGNAL ACCURACY</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SIGNAL TYPE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THRESHOLD</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SUCCESS RATE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AVG RETURN (30D)</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High Equity PCR (Bullish)</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&gt; 0.70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73%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High Index PCR (Bullish)</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&gt; 1.50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Low Equity PCR (Bearish)</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&lt; 0.40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Low Index PCR (Bearish)</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&lt; 0.80</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-2.7%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Source: CBOE, analysis period 2010-2023. For illustrative purposes only.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PUT CALL RATIO</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PUT CALL SIGNALS WORK BEST AT MAJOR MARKET INFLECTION POINTS</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3819144"/>
                <a:gridCol w="3819144"/>
                <a:gridCol w="3819144"/>
              </a:tblGrid>
              <a:tr h="411480">
                <a:tc gridSpan="3">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SIGNAL CHARACTERISTICS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METRIC</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VALUE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Average Signal Duration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2-5 Trading Days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Best Timeframe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Swing Trading (5-30 Days)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Market Environment</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High Volatility Periods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False Signal Rate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~30-35%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Historical analysis based on CBOE data. Past performance does not guarantee future results.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PUT CALL RATIO</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ADVISORS USING PUT CALL RATIO?</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MARKET TIMING</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Identifying short-term oversold/overbought conditions for tactical allocation adjustments.</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RISK MANAGEMENT</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Using extreme readings as early warning signals for potential market reversals.</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OPTIONS STRATEGY ENTRY</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Timing covered call writing and protective put purchases based on sentiment extremes.</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VOLATILITY TRADING</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Anticipating VIX spikes and mean reversion opportunities through options flow analysis.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Put Call Ratio (PCR): The ratio of put option volume to call option volume, used as a contrarian sentiment indicator. High ratios suggest bearish sentiment (potentially bullish for markets), while low ratios indicate bullish sentiment (potentially bearish for markets).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Equity Put Call Ratio: Put call ratio calculated using only individual stock options, reflecting retail investor sentiment and emotional extremes in stock-specific trading.</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Index Put Call Ratio: Put call ratio calculated using index options (SPX, SPY, etc.), reflecting institutional hedging activity and portfolio protection strategies.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Contrarian Indicator: A technical analysis tool that suggests taking the opposite position to prevailing market sentiment, based on the theory that extreme sentiment often marks market turning points.</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VIX: The Chicago Board Options Exchange Volatility Index, measuring implied volatility of S&amp;P 500 options and often called the 'fear gauge' of the stock market.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PUT CALL RATIO</dc:title>
  <dc:subject>Investment Strategy Presentation</dc:subject>
  <dc:creator>Potomac Fund Management</dc:creator>
  <cp:lastModifiedBy>Potomac Fund Management</cp:lastModifiedBy>
  <cp:revision>1</cp:revision>
  <dcterms:created xsi:type="dcterms:W3CDTF">2026-02-21T15:31:14Z</dcterms:created>
  <dcterms:modified xsi:type="dcterms:W3CDTF">2026-02-21T15:31:14Z</dcterms:modified>
</cp:coreProperties>
</file>