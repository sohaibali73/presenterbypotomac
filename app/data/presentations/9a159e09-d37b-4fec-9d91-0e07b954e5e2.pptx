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346737-7806-948a-3982-4b40516ea7a9}">
          <p14:sldIdLst/>
        </p14:section>
        <p14:section name="Default-1" id="{a7ca6b7a-89dd-dee0-ad80-5053482580c8}">
          <p14:sldIdLst>
            <p14:sldId id="256"/>
          </p14:sldIdLst>
        </p14:section>
        <p14:section name="MARKET ANALYSIS" id="{fc81087c-9a9e-9ff4-22cb-716543a2f001}">
          <p14:sldIdLst/>
        </p14:section>
        <p14:section name="Default-2" id="{0a00c209-6ee8-879b-6a69-7de0d2bc4448}">
          <p14:sldIdLst>
            <p14:sldId id="257"/>
            <p14:sldId id="258"/>
            <p14:sldId id="259"/>
            <p14:sldId id="260"/>
            <p14:sldId id="261"/>
            <p14:sldId id="262"/>
            <p14:sldId id="263"/>
            <p14:sldId id="264"/>
            <p14:sldId id="265"/>
            <p14:sldId id="266"/>
            <p14:sldId id="267"/>
          </p14:sldIdLst>
        </p14:section>
        <p14:section name="MARKET OUTLOOK" id="{f8994aa3-31f9-9c8a-79b8-2e68694eab7b}">
          <p14:sldIdLst/>
        </p14:section>
        <p14:section name="Default-3" id="{76d6a4ca-c593-b6d4-a6ff-3bb9e6e1f953}">
          <p14:sldIdLst>
            <p14:sldId id="268"/>
            <p14:sldId id="269"/>
          </p14:sldIdLst>
        </p14:section>
        <p14:section name="Closing" id="{055f9c18-7408-8c1f-edb8-66dd1d282065}">
          <p14:sldIdLst/>
        </p14:section>
        <p14:section name="Default-4" id="{c31c4851-635a-28f2-0406-06ffd3665427}">
          <p14:sldIdLst>
            <p14:sldId id="270"/>
          </p14:sldIdLst>
        </p14:section>
        <p14:section name="Appendix" id="{003c0088-5986-5c10-155b-8a8db5e5c70c}">
          <p14:sldIdLst/>
        </p14:section>
        <p14:section name="Default-5" id="{a8ffdf51-9e51-d569-50ca-5ab0eee3f0e6}">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AVENTINO VERSUS INFLIGHT ENTERTAINMENT</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MARKET ANALYSIS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BETHESDA'S DINING DISRUPTION: THREE CRITICAL FACTORS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ANALYZING COMPETITIVE DYNAMICS IN MONTGOMERY COUNTY'S PREMIUM CASUAL SEGMENT</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MARKET POSITIONING</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(Price Point and Customer Demographics)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OPERATIONAL EFFICIENCY</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(Service Speed and Kitchen Capacity)</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CUSTOMER EXPERIENCE</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(Ambiance and Repeat Visit Drivers)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PRICE POINT ANALYSIS: AVERAGE CHECK SIZE</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Based on menu analysis and market research. 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COMPETITIVE ADVANTAGE IS BUILT ON THREE FOUNDATIONAL ELEMENTS</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MENU INNOVATION</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Unique offerings that differentiate from standard casual dining chains.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SERVICE EXECUTION</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Consistent delivery of food quality and customer experience standards.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MARKET DOMINANCE</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Sustainable competitive positioning in the local market ecosystem.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BETHESDA 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IF YOU WANT FAST FOOD, GO TO MCDONALD'S!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COMPETITIVE POSITIONING MATRIX</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RESTAURANT</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AVG CHECK</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SERVICE TIME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YELP RATING</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MARKET SHARE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Aventino</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 min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Inflight Entertainment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22 min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The Cheesecake Factory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25 min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Local Competition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15 min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Market research analysis. Data 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PREMIUM CASUAL WITH MEDITERRANEAN FOCUS | AVENTINO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AVENTINO'S STRATEGIC POSITIONING</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MENU 85%</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Mediterranean-focused cuisine with seasonal rotations and chef specials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AMBIANCE 90%</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Upscale casual atmosphere with modern design and outdoor seating</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SERVICE 75%</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Table service with wine pairings and knowledgeable staff</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LOCATION 95%</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Prime Bethesda Row location with high foot traffic and visibility</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DIFFERENTIATED VALUE PROPOSITION</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Higher price point justified by unique menu, atmosphere, and service quality.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SPORTS BAR WITH AVIATION THEME | INFLIGHT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INFLIGHT ENTERTAINMENT'S STRATEGIC POSITIONING</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ENTERTAINMENT 95%</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Multiple screens, sports packages, and aviation-themed decor</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MENU 70%</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Traditional American fare with wings, burgers, and bar favorites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BAR PROGRAM 85%</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Extensive beer selection and signature cocktails with aviation names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SOCIAL HUB 80%</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Group dining, happy hour specials, and community gathering space</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EXPERIENCE-DRIVEN MODEL</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Lower price point with entertainment value and casual atmosphere.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BETHESDA 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MARKET PERFORMANCE DIVERGENCE ANALYSIS</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864358"/>
                <a:gridCol w="2864358"/>
                <a:gridCol w="2864358"/>
                <a:gridCol w="2864358"/>
              </a:tblGrid>
              <a:tr h="411480">
                <a:tc gridSpan="4">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KEY PERFORMANCE METRICS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AVENTINO</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INFLIGHT</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MARKET AVG</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Customer Retention Rate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78%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71%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65%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Peak Hour Capacity Utilization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92%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88%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75%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Average Visit Frequency (Monthly)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2.1x</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2.8x</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2.4x</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Revenue Per Square Foot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$485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$412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$320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Based on industry analysis and observational data. For illustrative purposes only.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STRATEGIC FRAMEWORK</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THE PATH TO MARKET LEADERSHIP REQUIRES FOUR STRATEGIC PILLARS</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BRAND IDENTITY</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Clear positioning that resonates with target demographics: 73% recognition</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OPERATIONAL EXCELLENCE</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Consistent execution across service, food quality, and atmosphere: 85% consistency</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FINANCIAL PERFORMANCE</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Strong unit economics with healthy margins: 18% EBITDA margin target</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MARKET LEADERSHIP</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Dominant position driving pricing power and customer loyalty in premium casual segment.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CUSTOMER INSIGHTS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CUSTOMER SATISFACTION DRIVERS: WHAT MATTERS MOST</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Survey data from 500+ Bethesda area diners. For illustrative purposes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BETHESDA MARKET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LOCALS CHOOSING THEIR DINING DESTINATIONS?</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DATE NIGHT DINING</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Couples seeking upscale atmosphere with Mediterranean cuisine and wine selection.</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SPORTS VIEWING</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Groups looking for game-watching experience with casual atmosphere and bar food.</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BUSINESS LUNCHES</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Professionals needing reliable service, quiet environment, and quality food.</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FAMILY CELEBRATIONS</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Multi-generational groups seeking accommodating space and diverse menu options.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MARKET OUTLOOK</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OUTLOOK</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BETHESDA'S DINING SCENE IS EVOLVING RAPIDLY</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864358"/>
                <a:gridCol w="2864358"/>
                <a:gridCol w="2864358"/>
                <a:gridCol w="2864358"/>
              </a:tblGrid>
              <a:tr h="411480">
                <a:tc gridSpan="4">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COMPETITIVE LANDSCAPE FORECAST</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FACTOR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AVENTINO IMPACT</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INFLIGHT IMPACT</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MARKET TREND</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Rising Food Costs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Moderate (+)</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High (-)</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Margin Pressure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Labor Shortage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Low Impact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High Impact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Service Quality Risk</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Post-Pandemic Dining</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Strong (+)</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Strong (+)</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Recovery Acceleration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Delivery Competition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Moderate (-)</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Low Impact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Channel Shift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Analysis based on industry trends and local market conditions. For illustrative purposes only.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EBITDA Margin: Earnings Before Interest, Taxes, Depreciation, and Amortization as a percentage of revenue, measuring operational profitability.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Market Share: The percentage of total market sales captured by a specific restaurant or brand within the defined geographic area.</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Revenue Per Square Foot: A key retail metric calculated by dividing total revenue by the total square footage of restaurant space.</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Customer Retention Rate: The percentage of customers who return to dine at the establishment within a specified time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Capacity Utilization: The percentage of available seating that is occupied during peak operating hours, measuring operational efficiency.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AVENTINO VERSUS INFLIGHT ENTERTAINMENT</dc:title>
  <dc:subject>Investment Strategy Presentation</dc:subject>
  <dc:creator>Potomac Fund Management</dc:creator>
  <cp:lastModifiedBy>Potomac Fund Management</cp:lastModifiedBy>
  <cp:revision>1</cp:revision>
  <dcterms:created xsi:type="dcterms:W3CDTF">2026-02-21T16:50:39Z</dcterms:created>
  <dcterms:modified xsi:type="dcterms:W3CDTF">2026-02-21T16:50:39Z</dcterms:modified>
</cp:coreProperties>
</file>